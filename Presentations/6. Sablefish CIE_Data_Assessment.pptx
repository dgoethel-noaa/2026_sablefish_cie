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 bookmarkIdSeed="5">
  <p:sldMasterIdLst>
    <p:sldMasterId id="2147483658" r:id="rId1"/>
  </p:sldMasterIdLst>
  <p:notesMasterIdLst>
    <p:notesMasterId r:id="rId29"/>
  </p:notesMasterIdLst>
  <p:sldIdLst>
    <p:sldId id="256" r:id="rId2"/>
    <p:sldId id="371" r:id="rId3"/>
    <p:sldId id="370" r:id="rId4"/>
    <p:sldId id="299" r:id="rId5"/>
    <p:sldId id="302" r:id="rId6"/>
    <p:sldId id="301" r:id="rId7"/>
    <p:sldId id="298" r:id="rId8"/>
    <p:sldId id="388" r:id="rId9"/>
    <p:sldId id="381" r:id="rId10"/>
    <p:sldId id="382" r:id="rId11"/>
    <p:sldId id="389" r:id="rId12"/>
    <p:sldId id="300" r:id="rId13"/>
    <p:sldId id="493" r:id="rId14"/>
    <p:sldId id="372" r:id="rId15"/>
    <p:sldId id="390" r:id="rId16"/>
    <p:sldId id="391" r:id="rId17"/>
    <p:sldId id="492" r:id="rId18"/>
    <p:sldId id="392" r:id="rId19"/>
    <p:sldId id="393" r:id="rId20"/>
    <p:sldId id="394" r:id="rId21"/>
    <p:sldId id="374" r:id="rId22"/>
    <p:sldId id="491" r:id="rId23"/>
    <p:sldId id="376" r:id="rId24"/>
    <p:sldId id="386" r:id="rId25"/>
    <p:sldId id="395" r:id="rId26"/>
    <p:sldId id="294" r:id="rId27"/>
    <p:sldId id="495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AA9E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91" name="Google Shape;9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2442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65C8B11-C720-3E2C-13CD-707047414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7AA04500-8C5E-452A-CFD1-A4EEEEFA84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5AC7E2BE-7D6A-6E73-EBD7-C0C7BF916F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685D7AD1-E688-0CC9-9329-66E8B1D04E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4112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2253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3568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6909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8861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A25BFA2-4033-6C66-5194-B027990AE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9C4AF251-59D8-A73F-8AB6-CDB6B12412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451795EB-1E17-B83B-1775-2DC074F42F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F0C61572-5EA9-F3BE-7169-380F8D8298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38702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724BCBF-DC23-BD66-A721-EAE8A5470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8F7FE66F-7F23-2D00-F78A-243779CCCC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C29E3736-E07A-99EC-AF52-B4E8117C9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6BED6491-D203-3F3C-58D5-40DD259C01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86047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FF0859B-A79C-74C2-330C-EDE5B6BB7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3429B553-A763-BB57-3CC4-93BF04F2C9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BE7E1BD2-B6E6-E6E1-EA0C-56E6ACE836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FCCA72CD-7159-58BF-6DDA-0134951642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7647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61250BC-7C92-BFF6-7CBF-84BC4A7A6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7D1FAC23-FF8C-098F-54E9-D72C3A64CC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B5794F45-B440-CA5D-C532-1EE8D3CE09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1C4C877F-5842-4ADD-A1EB-7D9DA7C68A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93450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31695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ED08A6C-4722-CA28-2902-7541EC44C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ED376597-C226-CF38-9F01-2221F7E99A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79E66CA9-F646-8641-7EE4-E50178751E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522EFF0E-92CC-3DB5-FE66-ADF8270238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934113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C971D12-88F1-15FB-D07F-458376371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88AFB06B-6351-03C7-35B5-B3829036E8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12755932-C1BE-B4E7-DEE0-2845B8FDEA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2D76AE81-37EE-2515-1872-AA36DB4A2A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91775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622427F-9D28-9D3C-2DA2-B64E2DD88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3502EFF9-6444-8213-5330-022CDB217E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49565F34-9EC8-20BD-F5CC-41A356193E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82676B7A-DFE5-5A4D-9CEE-F269A0F0AFD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24177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DDA2AC7-2EE5-9371-24AF-D050E4DFF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AAA6A4EE-A4C8-CB0F-1EDA-2579FFDD02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9B850201-DB02-64F7-18B1-032F8317CA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622714C1-2657-FE53-AE9C-976162498D7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65115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1B2490D-A210-9034-8ED9-4F32C9BC7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937C5A89-6781-B785-5E5D-89376EF441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8B6F1F13-8644-87D2-D950-7E52482C63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F4330329-7A12-BFFA-D729-E95D20066E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901779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6A79475-C610-AC89-0509-244D5D3C1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72849FAF-B2CB-6E7F-12B2-8C6F2E4639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FD619FE7-4E67-F1FC-7BC4-26D8F3742D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CE177B82-8DBD-9CB7-F6B1-FC2335D548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81277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D1B4833-54EB-7C40-283C-2AB74C249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DF56CC01-3CF0-07E3-CA9F-966E33EB09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A99B875D-186A-5E78-26DA-426A896C2D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A6306811-B635-5A96-57BE-DD9DA04A1A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53771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AC99F32-68F4-D49B-0E6F-68D4D8992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2840B0AC-ADB3-F0CA-FD12-E1D0A1C490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E9EE3648-B823-AD8D-85A8-58BF816B8A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516B6F57-9A0B-FFAC-197A-9C20C064A0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03339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F6004AE-0E9B-7D9A-BDE7-1F213EC4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A353B612-1814-FDFD-8611-09D7B412BE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32A8C017-0B88-368B-24D0-2584900784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88277330-930D-FC28-4540-AB9761E3F4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55516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9DDF5BE-C656-51B0-9822-D16B7EAC9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432F9EE8-C5B9-83FF-755E-4F29B54442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25AB307C-CA3F-8A66-61E2-B4EE3EB696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0C80AC52-31D8-9B45-A048-BEB8FC3F4C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29242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603A8D6-DB85-7A5E-9831-2499C0F2E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3DB7A595-D2D2-D0E4-3506-A72B05BB1B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271FE93C-92CA-9FE2-55A2-E172416DF5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88AFF93B-28F9-C691-DBCB-2BB27CB740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21281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EE7156C-927B-40A9-F983-5AE222AF8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345BBFF7-64BB-92CD-DFB6-CEC3D3333A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0B19B95D-8138-6123-2F5A-E69D769CB1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DA28B2D2-ADE2-922B-A4CE-CE03EF4D90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66899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E10BF90-086B-0F09-70EC-91F733510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45B66490-B78A-8932-C98E-A6336E8E1A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F4B2FD7A-9CFE-32D1-F136-4B9C4FFA52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B22CFE9B-B294-C3B2-9083-698BED580E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76959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5e58772ac3_4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4" name="Google Shape;444;g15e58772ac3_4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F68B7D8-ABEF-39AC-CFBE-56314B812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c41c6b8da_3_219:notes">
            <a:extLst>
              <a:ext uri="{FF2B5EF4-FFF2-40B4-BE49-F238E27FC236}">
                <a16:creationId xmlns:a16="http://schemas.microsoft.com/office/drawing/2014/main" id="{DC433555-AA18-7691-44ED-353C0B2172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c41c6b8da_3_219:notes">
            <a:extLst>
              <a:ext uri="{FF2B5EF4-FFF2-40B4-BE49-F238E27FC236}">
                <a16:creationId xmlns:a16="http://schemas.microsoft.com/office/drawing/2014/main" id="{62B95181-2D7A-D0D8-E74B-F898459742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5c41c6b8da_3_219:notes">
            <a:extLst>
              <a:ext uri="{FF2B5EF4-FFF2-40B4-BE49-F238E27FC236}">
                <a16:creationId xmlns:a16="http://schemas.microsoft.com/office/drawing/2014/main" id="{FF5E0822-2799-4B67-9453-CED80CF7961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3992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656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656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56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4607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2D58A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 lang="en-US" dirty="0"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10174778" y="5956137"/>
            <a:ext cx="13999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Google Shape;23;p2"/>
          <p:cNvSpPr>
            <a:spLocks noGrp="1"/>
          </p:cNvSpPr>
          <p:nvPr>
            <p:ph type="pic" idx="2"/>
          </p:nvPr>
        </p:nvSpPr>
        <p:spPr>
          <a:xfrm>
            <a:off x="446534" y="5681499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ill Sans"/>
              <a:buNone/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Wingdings" panose="05000000000000000000" pitchFamily="2" charset="2"/>
              <a:buChar char="§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Wingdings" panose="05000000000000000000" pitchFamily="2" charset="2"/>
              <a:buChar char="§"/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Wingdings" panose="05000000000000000000" pitchFamily="2" charset="2"/>
              <a:buChar char="§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Wingdings" panose="05000000000000000000" pitchFamily="2" charset="2"/>
              <a:buChar char="§"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dirty="0"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 lang="en-US" dirty="0"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 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7605952" y="5956137"/>
            <a:ext cx="237763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2D58A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 lang="en-US" dirty="0"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10133216" y="5956137"/>
            <a:ext cx="14775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5346" y="5956136"/>
            <a:ext cx="413332" cy="3481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2288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0558298" y="5951811"/>
            <a:ext cx="1470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Gill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Google Shape;13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4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6" name="Google Shape;16;p1"/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86740" y="5978817"/>
            <a:ext cx="413332" cy="34811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6534" y="6791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9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400" b="0" i="0" u="none" strike="noStrike" cap="none">
          <a:solidFill>
            <a:schemeClr val="bg1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88392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emf"/><Relationship Id="rId4" Type="http://schemas.openxmlformats.org/officeDocument/2006/relationships/image" Target="../media/image19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if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if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tiff"/><Relationship Id="rId4" Type="http://schemas.openxmlformats.org/officeDocument/2006/relationships/image" Target="../media/image31.tif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tif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tif"/><Relationship Id="rId4" Type="http://schemas.openxmlformats.org/officeDocument/2006/relationships/image" Target="../media/image34.t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tiff"/><Relationship Id="rId3" Type="http://schemas.openxmlformats.org/officeDocument/2006/relationships/image" Target="../media/image39.tiff"/><Relationship Id="rId7" Type="http://schemas.openxmlformats.org/officeDocument/2006/relationships/image" Target="../media/image43.tif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tiff"/><Relationship Id="rId5" Type="http://schemas.openxmlformats.org/officeDocument/2006/relationships/image" Target="../media/image41.tiff"/><Relationship Id="rId10" Type="http://schemas.openxmlformats.org/officeDocument/2006/relationships/image" Target="../media/image46.tiff"/><Relationship Id="rId4" Type="http://schemas.openxmlformats.org/officeDocument/2006/relationships/image" Target="../media/image40.tiff"/><Relationship Id="rId9" Type="http://schemas.openxmlformats.org/officeDocument/2006/relationships/image" Target="../media/image45.tif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tif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emf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jpeg"/><Relationship Id="rId4" Type="http://schemas.openxmlformats.org/officeDocument/2006/relationships/image" Target="../media/image51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7" Type="http://schemas.openxmlformats.org/officeDocument/2006/relationships/image" Target="../media/image58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jpeg"/><Relationship Id="rId5" Type="http://schemas.openxmlformats.org/officeDocument/2006/relationships/image" Target="../media/image56.jpeg"/><Relationship Id="rId4" Type="http://schemas.openxmlformats.org/officeDocument/2006/relationships/image" Target="../media/image55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12405" y="3622990"/>
            <a:ext cx="3509818" cy="2632363"/>
          </a:xfrm>
          <a:prstGeom prst="rect">
            <a:avLst/>
          </a:prstGeom>
        </p:spPr>
      </p:pic>
      <p:sp>
        <p:nvSpPr>
          <p:cNvPr id="94" name="Google Shape;94;p12"/>
          <p:cNvSpPr txBox="1">
            <a:spLocks noGrp="1"/>
          </p:cNvSpPr>
          <p:nvPr>
            <p:ph type="ctrTitle"/>
          </p:nvPr>
        </p:nvSpPr>
        <p:spPr>
          <a:xfrm>
            <a:off x="572386" y="602647"/>
            <a:ext cx="8024962" cy="1325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ts val="4000"/>
              <a:buFont typeface="Gill Sans"/>
              <a:buNone/>
            </a:pPr>
            <a:r>
              <a:rPr lang="en-US" sz="3100" b="1" dirty="0">
                <a:latin typeface="Arial"/>
                <a:ea typeface="Arial"/>
                <a:cs typeface="Arial"/>
                <a:sym typeface="Arial"/>
              </a:rPr>
              <a:t>Sablefish Assessment: Available Data</a:t>
            </a:r>
            <a:endParaRPr sz="3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ts val="4000"/>
              <a:buFont typeface="Gill Sans"/>
              <a:buNone/>
            </a:pPr>
            <a:r>
              <a:rPr lang="en-US" sz="2700" dirty="0">
                <a:latin typeface="Arial"/>
                <a:ea typeface="Arial"/>
                <a:cs typeface="Arial"/>
                <a:sym typeface="Arial"/>
              </a:rPr>
              <a:t>2026 CIE Review</a:t>
            </a:r>
            <a:endParaRPr sz="27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2"/>
          <p:cNvSpPr txBox="1">
            <a:spLocks noGrp="1"/>
          </p:cNvSpPr>
          <p:nvPr>
            <p:ph type="subTitle" idx="1"/>
          </p:nvPr>
        </p:nvSpPr>
        <p:spPr>
          <a:xfrm>
            <a:off x="447261" y="1749464"/>
            <a:ext cx="7599459" cy="1325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Daniel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Goethel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 and Matt Cheng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effectLst/>
              </a:rPr>
              <a:t>Contributors: Kevin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effectLst/>
              </a:rPr>
              <a:t>Siwicke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and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effectLst/>
              </a:rPr>
              <a:t> Katy Echave</a:t>
            </a:r>
          </a:p>
        </p:txBody>
      </p:sp>
      <p:pic>
        <p:nvPicPr>
          <p:cNvPr id="96" name="Google Shape;96;p12"/>
          <p:cNvPicPr preferRelativeResize="0"/>
          <p:nvPr/>
        </p:nvPicPr>
        <p:blipFill rotWithShape="1">
          <a:blip r:embed="rId4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19136" y="932441"/>
            <a:ext cx="3733985" cy="3144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2"/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05691" y="5513990"/>
            <a:ext cx="1556418" cy="54319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2"/>
          <p:cNvSpPr txBox="1"/>
          <p:nvPr/>
        </p:nvSpPr>
        <p:spPr>
          <a:xfrm>
            <a:off x="2329361" y="3103632"/>
            <a:ext cx="245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D8D8D8"/>
                </a:solidFill>
                <a:latin typeface="Gill Sans"/>
                <a:ea typeface="Gill Sans"/>
                <a:cs typeface="Gill Sans"/>
                <a:sym typeface="Gill Sans"/>
              </a:rPr>
              <a:t>June 2026</a:t>
            </a:r>
            <a:endParaRPr dirty="0"/>
          </a:p>
        </p:txBody>
      </p:sp>
      <p:pic>
        <p:nvPicPr>
          <p:cNvPr id="9" name="Picture 2" descr="USS Sablefish SS-303 Patch | Flying Tigers Surplus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2386" y="3611512"/>
            <a:ext cx="2643870" cy="263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71709" y="3622990"/>
            <a:ext cx="3502805" cy="26271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Google Shape;106;p1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230D923-5B34-43AA-9365-6642888C1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560" y="2329654"/>
            <a:ext cx="6368034" cy="339852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97C9435-178B-1344-E77A-831E27C0F540}"/>
              </a:ext>
            </a:extLst>
          </p:cNvPr>
          <p:cNvSpPr/>
          <p:nvPr/>
        </p:nvSpPr>
        <p:spPr>
          <a:xfrm>
            <a:off x="3173506" y="2868708"/>
            <a:ext cx="5477435" cy="2330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EA76F90E-8E7E-3CD1-C099-9D3519262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02B4A684-6150-D280-D36E-4B1463F3C885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CCD4F83A-C350-B7E4-4D79-71E30115BE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>
              <a:buSzPts val="3600"/>
            </a:pPr>
            <a:r>
              <a:rPr lang="en-US" sz="3600" dirty="0"/>
              <a:t>Issues to Consider: Data Inputs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13">
            <a:extLst>
              <a:ext uri="{FF2B5EF4-FFF2-40B4-BE49-F238E27FC236}">
                <a16:creationId xmlns:a16="http://schemas.microsoft.com/office/drawing/2014/main" id="{65680642-29C9-5672-47EE-42AB983A0C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3" y="1892856"/>
            <a:ext cx="7505066" cy="480377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>
                <a:ea typeface="Arial"/>
              </a:rPr>
              <a:t>What is the best approach for constructing a single region</a:t>
            </a: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NOAA Longline Survey?</a:t>
            </a:r>
          </a:p>
          <a:p>
            <a:pPr lvl="1"/>
            <a:r>
              <a:rPr lang="en-US" dirty="0"/>
              <a:t>Is the ‘carryover’ extrapolation method appropriate?</a:t>
            </a:r>
          </a:p>
          <a:p>
            <a:r>
              <a:rPr lang="en-US" dirty="0"/>
              <a:t>Are all data truly representative of the Alaska-wide stock?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Does integrating CPUE or GOA trawl survey improve model</a:t>
            </a:r>
            <a:r>
              <a:rPr lang="en-US" dirty="0"/>
              <a:t> performance?</a:t>
            </a:r>
          </a:p>
          <a:p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When do length composition data improve the model?</a:t>
            </a:r>
          </a:p>
          <a:p>
            <a:pPr lvl="1"/>
            <a:r>
              <a:rPr lang="en-US" dirty="0"/>
              <a:t>If age compositions exist from a given data source, should length compositions be removed?</a:t>
            </a:r>
          </a:p>
          <a:p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Are regional </a:t>
            </a:r>
            <a:r>
              <a:rPr lang="en-US" dirty="0">
                <a:ea typeface="Arial"/>
              </a:rPr>
              <a:t>age composition sample sizes sufficient for use in the fleets-as-areas (FAA) model?</a:t>
            </a:r>
            <a:endParaRPr lang="en-US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lvl="1"/>
            <a:endParaRPr lang="en-US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lvl="1">
              <a:spcBef>
                <a:spcPts val="1000"/>
              </a:spcBef>
              <a:spcAft>
                <a:spcPts val="1000"/>
              </a:spcAft>
            </a:pPr>
            <a:endParaRPr lang="en-US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BDBE28-6563-C202-B4BD-80749A677F4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3905" y="4679576"/>
            <a:ext cx="1261219" cy="12696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F034CE-4B73-FD1B-160D-26807A5F902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93607" y="4679576"/>
            <a:ext cx="2086335" cy="12696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B07595-11C4-4E27-576C-97AE940AEC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4741" y="2011773"/>
            <a:ext cx="3684494" cy="245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117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Summary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81192" y="1841317"/>
            <a:ext cx="11029615" cy="3840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data for 2026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bold</a:t>
            </a:r>
          </a:p>
          <a:p>
            <a:r>
              <a:rPr lang="en-US" dirty="0"/>
              <a:t>Whale depredation by area held constant at 2022 levels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removed since 2025 (Model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25.12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en-US" b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29567" y="619125"/>
            <a:ext cx="2820603" cy="1566357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45C4C7E-C91D-419B-A7B0-3C58A10F9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971734"/>
              </p:ext>
            </p:extLst>
          </p:nvPr>
        </p:nvGraphicFramePr>
        <p:xfrm>
          <a:off x="441829" y="3364350"/>
          <a:ext cx="10345888" cy="3200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17748">
                  <a:extLst>
                    <a:ext uri="{9D8B030D-6E8A-4147-A177-3AD203B41FA5}">
                      <a16:colId xmlns:a16="http://schemas.microsoft.com/office/drawing/2014/main" val="2937042213"/>
                    </a:ext>
                  </a:extLst>
                </a:gridCol>
                <a:gridCol w="4014070">
                  <a:extLst>
                    <a:ext uri="{9D8B030D-6E8A-4147-A177-3AD203B41FA5}">
                      <a16:colId xmlns:a16="http://schemas.microsoft.com/office/drawing/2014/main" val="1411371665"/>
                    </a:ext>
                  </a:extLst>
                </a:gridCol>
                <a:gridCol w="4014070">
                  <a:extLst>
                    <a:ext uri="{9D8B030D-6E8A-4147-A177-3AD203B41FA5}">
                      <a16:colId xmlns:a16="http://schemas.microsoft.com/office/drawing/2014/main" val="2073172263"/>
                    </a:ext>
                  </a:extLst>
                </a:gridCol>
              </a:tblGrid>
              <a:tr h="20426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Source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Data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Years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9905096"/>
                  </a:ext>
                </a:extLst>
              </a:tr>
              <a:tr h="20426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Fixed Gear Fisheries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Catch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1960 – </a:t>
                      </a:r>
                      <a:r>
                        <a:rPr lang="en-US" sz="1400" b="1" dirty="0">
                          <a:effectLst/>
                        </a:rPr>
                        <a:t>2025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99129089"/>
                  </a:ext>
                </a:extLst>
              </a:tr>
              <a:tr h="20426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Trawl Fisheries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Catch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1960 – </a:t>
                      </a:r>
                      <a:r>
                        <a:rPr lang="en-US" sz="1400" b="1" dirty="0">
                          <a:effectLst/>
                        </a:rPr>
                        <a:t>2025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11315976"/>
                  </a:ext>
                </a:extLst>
              </a:tr>
              <a:tr h="20426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Non-Commercial Catch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Catch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1977 – </a:t>
                      </a:r>
                      <a:r>
                        <a:rPr lang="en-US" sz="1400" b="1" dirty="0">
                          <a:effectLst/>
                        </a:rPr>
                        <a:t>2025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1087169"/>
                  </a:ext>
                </a:extLst>
              </a:tr>
              <a:tr h="4085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strike="sngStrike" dirty="0">
                          <a:effectLst/>
                        </a:rPr>
                        <a:t>Japanese Longline Fishery</a:t>
                      </a:r>
                      <a:endParaRPr lang="en-US" sz="1800" b="1" strike="sngStrike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strike="sngStrike" dirty="0">
                          <a:effectLst/>
                        </a:rPr>
                        <a:t>Catch-per-Unit-Effort (CPUE)</a:t>
                      </a:r>
                      <a:endParaRPr lang="en-US" sz="1800" b="1" strike="sngStrike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strike="sngStrike" dirty="0">
                          <a:effectLst/>
                        </a:rPr>
                        <a:t>1964 – 1981</a:t>
                      </a:r>
                      <a:endParaRPr lang="en-US" sz="1800" b="1" strike="sngStrike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14504291"/>
                  </a:ext>
                </a:extLst>
              </a:tr>
              <a:tr h="204263">
                <a:tc rowSpan="3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U.S. Fixed Gear Fisheries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strike="sngStrike" dirty="0">
                          <a:effectLst/>
                        </a:rPr>
                        <a:t>CPUE</a:t>
                      </a:r>
                      <a:endParaRPr lang="en-US" sz="1800" b="1" strike="sngStrike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strike="sngStrike" dirty="0">
                          <a:effectLst/>
                        </a:rPr>
                        <a:t>1995 – 2022</a:t>
                      </a:r>
                      <a:endParaRPr lang="en-US" sz="1800" b="1" strike="sngStrike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5848621"/>
                  </a:ext>
                </a:extLst>
              </a:tr>
              <a:tr h="2042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strike="sngStrike" dirty="0">
                          <a:effectLst/>
                        </a:rPr>
                        <a:t>Length</a:t>
                      </a:r>
                      <a:endParaRPr lang="en-US" sz="1800" b="1" strike="sngStrike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strike="sngStrike" dirty="0">
                          <a:effectLst/>
                        </a:rPr>
                        <a:t>1990 – 1998</a:t>
                      </a:r>
                      <a:endParaRPr lang="en-US" sz="1800" b="1" strike="sngStrike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5815719"/>
                  </a:ext>
                </a:extLst>
              </a:tr>
              <a:tr h="2042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Age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1999 – </a:t>
                      </a:r>
                      <a:r>
                        <a:rPr lang="en-US" sz="1400" b="1" dirty="0">
                          <a:effectLst/>
                        </a:rPr>
                        <a:t>2024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77178668"/>
                  </a:ext>
                </a:extLst>
              </a:tr>
              <a:tr h="20426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U.S. Trawl Fisheries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Length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1990,1991,1999, 2005 – </a:t>
                      </a:r>
                      <a:r>
                        <a:rPr lang="en-US" sz="1400" b="1" dirty="0">
                          <a:effectLst/>
                        </a:rPr>
                        <a:t>2024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74044480"/>
                  </a:ext>
                </a:extLst>
              </a:tr>
              <a:tr h="204263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Japan-U.S. Cooperative Longline Survey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RPNs, Length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1979 - 1994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10169377"/>
                  </a:ext>
                </a:extLst>
              </a:tr>
              <a:tr h="2042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Age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1981, 1985, 1987, 1989, 1991, 1993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88289061"/>
                  </a:ext>
                </a:extLst>
              </a:tr>
              <a:tr h="106680">
                <a:tc rowSpan="3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NOAA Domestic Longline Survey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RPNs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1990 – 2023, </a:t>
                      </a:r>
                      <a:r>
                        <a:rPr lang="en-US" sz="1400" b="1" dirty="0">
                          <a:effectLst/>
                        </a:rPr>
                        <a:t>2025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4820873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strike="sngStrike" dirty="0">
                          <a:effectLst/>
                        </a:rPr>
                        <a:t>Length</a:t>
                      </a:r>
                      <a:endParaRPr lang="en-US" sz="1800" b="1" strike="sngStrike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strike="sngStrike" dirty="0">
                          <a:effectLst/>
                        </a:rPr>
                        <a:t>1990 – 1995</a:t>
                      </a:r>
                      <a:endParaRPr lang="en-US" sz="1800" b="1" strike="sngStrike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36847057"/>
                  </a:ext>
                </a:extLst>
              </a:tr>
              <a:tr h="2042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Age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1996 – </a:t>
                      </a:r>
                      <a:r>
                        <a:rPr lang="en-US" sz="1400" b="0" dirty="0">
                          <a:effectLst/>
                        </a:rPr>
                        <a:t>2023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91806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6601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Biological Inputs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81192" y="2017059"/>
            <a:ext cx="5204629" cy="4545106"/>
          </a:xfrm>
        </p:spPr>
        <p:txBody>
          <a:bodyPr>
            <a:normAutofit/>
          </a:bodyPr>
          <a:lstStyle/>
          <a:p>
            <a:r>
              <a:rPr lang="en-US" dirty="0"/>
              <a:t>Updated size-age transition matrix and weight-at-age in 2026 with NOAA LLS age-length-weight pairs through 2023</a:t>
            </a:r>
          </a:p>
          <a:p>
            <a:r>
              <a:rPr lang="en-US" dirty="0"/>
              <a:t>Ageing error matrix based on known age otoliths</a:t>
            </a:r>
          </a:p>
          <a:p>
            <a:r>
              <a:rPr lang="en-US" dirty="0"/>
              <a:t>Maturity-at-age based on histological samples</a:t>
            </a:r>
          </a:p>
          <a:p>
            <a:r>
              <a:rPr lang="en-US" dirty="0"/>
              <a:t>Natural mortality prior </a:t>
            </a:r>
            <a:r>
              <a:rPr lang="en-US" i="1" dirty="0"/>
              <a:t>~N</a:t>
            </a:r>
            <a:r>
              <a:rPr lang="en-US" dirty="0"/>
              <a:t>(ln(0.085), 0.1</a:t>
            </a:r>
            <a:r>
              <a:rPr lang="en-US" baseline="30000" dirty="0"/>
              <a:t>2</a:t>
            </a:r>
            <a:r>
              <a:rPr lang="en-US" dirty="0"/>
              <a:t>) based on longevity and tagging estimates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0F660F-03D6-5DF9-5D06-66C554CFEBE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5822" y="2017059"/>
            <a:ext cx="6262743" cy="447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396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70757" y="3672218"/>
            <a:ext cx="4622928" cy="2889329"/>
          </a:xfrm>
          <a:prstGeom prst="rect">
            <a:avLst/>
          </a:prstGeom>
        </p:spPr>
      </p:pic>
      <p:sp>
        <p:nvSpPr>
          <p:cNvPr id="105" name="Google Shape;105;p13"/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Whale Depredation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81192" y="1892856"/>
            <a:ext cx="11029499" cy="1800662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Fishery whale depredation no longer updated annually (full update in 2022)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depredation due to rapid transition to pot gear (no assumed depredation)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Totals ~ 131 mt annually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Sperm whale depredation effect on longline survey is low and the area RPNs are adjusted using a fixed scalar of 1.18 for </a:t>
            </a:r>
            <a:r>
              <a:rPr lang="en-US" i="1" dirty="0"/>
              <a:t>a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ffected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stations (relatively small number of stations)</a:t>
            </a:r>
          </a:p>
          <a:p>
            <a:pPr lvl="1"/>
            <a:r>
              <a:rPr lang="en-US" dirty="0"/>
              <a:t>Killer whale depredated stations are removed from the RPNs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9574" y="3779708"/>
            <a:ext cx="4622926" cy="2889329"/>
          </a:xfrm>
          <a:prstGeom prst="rect">
            <a:avLst/>
          </a:prstGeom>
        </p:spPr>
      </p:pic>
      <p:sp>
        <p:nvSpPr>
          <p:cNvPr id="106" name="Google Shape;106;p1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814CC-4CA5-4CF2-AB10-5ECD68434436}"/>
              </a:ext>
            </a:extLst>
          </p:cNvPr>
          <p:cNvSpPr txBox="1"/>
          <p:nvPr/>
        </p:nvSpPr>
        <p:spPr>
          <a:xfrm>
            <a:off x="6478587" y="6538232"/>
            <a:ext cx="41514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*Note figure does not include non-surveyed area extrapolations</a:t>
            </a:r>
          </a:p>
        </p:txBody>
      </p:sp>
    </p:spTree>
    <p:extLst>
      <p:ext uri="{BB962C8B-B14F-4D97-AF65-F5344CB8AC3E}">
        <p14:creationId xmlns:p14="http://schemas.microsoft.com/office/powerpoint/2010/main" val="3859397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Catch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40887" y="1892856"/>
            <a:ext cx="5958525" cy="4714132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Catch is aggregated to two fleets (fixed gear and trawl gear) for the assessment </a:t>
            </a:r>
          </a:p>
          <a:p>
            <a:r>
              <a:rPr lang="en-US" dirty="0"/>
              <a:t>Catch is summed across regions and gear types within fleets</a:t>
            </a:r>
          </a:p>
          <a:p>
            <a:r>
              <a:rPr lang="en-US" dirty="0"/>
              <a:t>Combines Japanese and domestic fleets</a:t>
            </a:r>
          </a:p>
          <a:p>
            <a:r>
              <a:rPr lang="en-US" dirty="0"/>
              <a:t>Fixed gear fleet includes hook-and-line and pot gear</a:t>
            </a:r>
          </a:p>
          <a:p>
            <a:pPr lvl="1"/>
            <a:r>
              <a:rPr lang="en-US" dirty="0"/>
              <a:t>Increased from ~15% in 2017 to ~85% pot gear in 2025 </a:t>
            </a:r>
          </a:p>
          <a:p>
            <a:pPr lvl="1"/>
            <a:r>
              <a:rPr lang="en-US" dirty="0"/>
              <a:t>Additional catch added from:</a:t>
            </a:r>
          </a:p>
          <a:p>
            <a:pPr lvl="2"/>
            <a:r>
              <a:rPr lang="en-US" dirty="0"/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on-commercial catch (~200 -- 500 mt annually), primarily from LLS</a:t>
            </a:r>
          </a:p>
          <a:p>
            <a:pPr lvl="2"/>
            <a:r>
              <a:rPr lang="en-US" dirty="0"/>
              <a:t>Whale depredation (~131 mt annually)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Trawl fleet is 10 – 30% of domestic total catch and includes: </a:t>
            </a:r>
          </a:p>
          <a:p>
            <a:pPr lvl="1"/>
            <a:r>
              <a:rPr lang="en-US" dirty="0"/>
              <a:t>Pelagic gear -- primarily eastern Bering Sea (EBS) shelf pollock fleet </a:t>
            </a:r>
          </a:p>
          <a:p>
            <a:pPr lvl="1"/>
            <a:r>
              <a:rPr lang="en-US" dirty="0"/>
              <a:t>Bottom trawl gear – in AI+GOA where occasionally have set specific sablefish targeting (trip ‘top-off’)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9993646" y="609600"/>
            <a:ext cx="1764913" cy="1811205"/>
            <a:chOff x="8815526" y="1296140"/>
            <a:chExt cx="2707690" cy="2778710"/>
          </a:xfrm>
        </p:grpSpPr>
        <p:pic>
          <p:nvPicPr>
            <p:cNvPr id="2050" name="Picture 2" descr="https://lh6.googleusercontent.com/TwfL3R6fkfyWxsOeI9kdSEV2Rq__zGljZ3H0jnVeL05l2K5SP5YJhB_uxlXJLKXHkPli-DoNwRjsYiqlBvB3Ktyoid_A-8hmj8CgL-sKpcAvzd9tHEVXyVk4dSBiaKU7hT76x7wSlrx5eVgYmUxqkM8n-2hS4Lp1UlmtfVfXCzHRTQpvEPh2NXinnsKmvtKY"/>
            <p:cNvPicPr>
              <a:picLocks noChangeAspect="1" noChangeArrowheads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8815526" y="1296140"/>
              <a:ext cx="2707690" cy="27787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7"/>
            <p:cNvSpPr/>
            <p:nvPr/>
          </p:nvSpPr>
          <p:spPr>
            <a:xfrm rot="20873318">
              <a:off x="10589660" y="3242376"/>
              <a:ext cx="529461" cy="355106"/>
            </a:xfrm>
            <a:prstGeom prst="rect">
              <a:avLst/>
            </a:prstGeom>
            <a:gradFill flip="none" rotWithShape="1">
              <a:gsLst>
                <a:gs pos="0">
                  <a:schemeClr val="bg2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bg2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bg2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29B26A7-5B16-BF38-0C7A-03A46BC95CF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6564" y="2565240"/>
            <a:ext cx="5425436" cy="33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588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0BB02B79-6011-2AD6-D6B9-CE188A1E0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6B527A2F-9140-112E-1804-58D7FEF9F67A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50627016-32CA-A44A-AB5F-4A9DBFA44C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9CA54DFC-B86F-16DE-10D3-A130108A60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Gear Fishery Age Compositions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D1C71-B735-931D-B7BD-E081AB168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888" y="1963270"/>
            <a:ext cx="5689584" cy="469391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Random otolith collection by observers (~2,000 – 5,000 total specimens) since 1999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~1,200 otoliths aged per year by AFSC</a:t>
            </a:r>
          </a:p>
          <a:p>
            <a:pPr lvl="1"/>
            <a:r>
              <a:rPr lang="en-US" dirty="0"/>
              <a:t>Available on a one-year lag to the assessment</a:t>
            </a:r>
          </a:p>
          <a:p>
            <a:r>
              <a:rPr lang="en-US" dirty="0"/>
              <a:t>Post collection a random sampling protocol (e.g., across size, sex, and haul) is implemented, which selects otoliths for aging from all otoliths collected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for ~200 per each of </a:t>
            </a:r>
            <a:r>
              <a:rPr lang="en-US" dirty="0"/>
              <a:t>six management regions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reduction</a:t>
            </a:r>
            <a:r>
              <a:rPr lang="en-US" dirty="0"/>
              <a:t>s in recent years due to Electronic Monitoring and changes in observer coverage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55E6D1-966B-8245-97A3-5254CA5FB1F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30472" y="1892856"/>
            <a:ext cx="5831541" cy="476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66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B772CC01-43DA-1B46-7ED6-D88E6F8CE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3B129D2C-028F-F6BA-A453-255B580C0BC7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DE7A0F31-C5BB-A527-2180-9FC487EC57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A77EEC0A-89C8-E7B0-5A6F-06444A9071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Gear Fishery Age Compositions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2C63F1-ED83-23E8-2C03-11787B41A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886" y="1806374"/>
            <a:ext cx="6792243" cy="2935955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 Alaska-wide catch-weighted (in numbers)age compositions produced (mean across regions)</a:t>
            </a:r>
          </a:p>
          <a:p>
            <a:pPr lvl="1"/>
            <a:r>
              <a:rPr lang="en-US" dirty="0"/>
              <a:t>Use catch in numbers to better represent recruitment</a:t>
            </a:r>
          </a:p>
          <a:p>
            <a:r>
              <a:rPr lang="en-US" dirty="0"/>
              <a:t>Produce representative compositions from across Alaska without overweighting regions with low catch</a:t>
            </a:r>
          </a:p>
          <a:p>
            <a:pPr lvl="1"/>
            <a:r>
              <a:rPr lang="en-US" b="1" dirty="0"/>
              <a:t>Emphasizes signals from GOA (high catch, high sample sizes)</a:t>
            </a:r>
          </a:p>
          <a:p>
            <a:r>
              <a:rPr lang="en-US" dirty="0"/>
              <a:t>…but the AI plus group is an enigma….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67EF47-62D3-72CF-3A77-F0EA37BB0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421" y="2049222"/>
            <a:ext cx="4660860" cy="46608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2787BF-89B3-AF0B-06B4-A4368C30754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65909" y="4742329"/>
            <a:ext cx="5300416" cy="204395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3C438C-FBA5-242F-632B-C7E6D52336C5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 flipV="1">
            <a:off x="3793569" y="4623599"/>
            <a:ext cx="5996282" cy="667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0FD59E3-3D0A-DFEF-CFF4-30E9F921232E}"/>
              </a:ext>
            </a:extLst>
          </p:cNvPr>
          <p:cNvSpPr/>
          <p:nvPr/>
        </p:nvSpPr>
        <p:spPr>
          <a:xfrm>
            <a:off x="3576915" y="4845423"/>
            <a:ext cx="216654" cy="89198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C4C71EA-D4B8-FF88-1FB6-E0AA36A73EB5}"/>
              </a:ext>
            </a:extLst>
          </p:cNvPr>
          <p:cNvSpPr/>
          <p:nvPr/>
        </p:nvSpPr>
        <p:spPr>
          <a:xfrm>
            <a:off x="9789851" y="4418164"/>
            <a:ext cx="153899" cy="41086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C38D69-77BA-DE50-D96C-8271B7D7E074}"/>
              </a:ext>
            </a:extLst>
          </p:cNvPr>
          <p:cNvSpPr/>
          <p:nvPr/>
        </p:nvSpPr>
        <p:spPr>
          <a:xfrm>
            <a:off x="1434353" y="6696635"/>
            <a:ext cx="1757082" cy="1613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657632-948C-70C9-6A4A-FADD649C8C6B}"/>
              </a:ext>
            </a:extLst>
          </p:cNvPr>
          <p:cNvSpPr txBox="1"/>
          <p:nvPr/>
        </p:nvSpPr>
        <p:spPr>
          <a:xfrm>
            <a:off x="26109" y="5302622"/>
            <a:ext cx="892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AI Age Comps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09C825-6A79-3C39-8D52-EDC9CC0AD42D}"/>
              </a:ext>
            </a:extLst>
          </p:cNvPr>
          <p:cNvSpPr txBox="1"/>
          <p:nvPr/>
        </p:nvSpPr>
        <p:spPr>
          <a:xfrm>
            <a:off x="7736541" y="1910786"/>
            <a:ext cx="438374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Alaska-wide Female Age Comps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EBD54A-1B39-A6E7-BC49-BEC995F75B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3428" y="5078281"/>
            <a:ext cx="1234440" cy="74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73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139BC3DF-BE1E-84B4-45AE-2D0EC70BB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FB76721B-F893-F86B-4080-869C04C8BF0B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A824679C-3B80-84FA-0FBC-3A43381FF31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AC6B07DA-86D3-0FDA-2DE5-4DB885CE0A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Gear Fishery Length Compositions (Not Used)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649C3A-93E7-5217-BCAD-83936DAF0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887" y="2124635"/>
            <a:ext cx="6218501" cy="443753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Observer collected length samples available since 1990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~12,000 – 30,000 per year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</a:t>
            </a:r>
            <a:r>
              <a:rPr lang="en-US" dirty="0"/>
              <a:t>e on one year lag for assessment</a:t>
            </a:r>
          </a:p>
          <a:p>
            <a:r>
              <a:rPr lang="en-US" dirty="0"/>
              <a:t>Annual Alaska-wide catch-weighted length compositions produced</a:t>
            </a:r>
          </a:p>
          <a:p>
            <a:r>
              <a:rPr lang="en-US" dirty="0"/>
              <a:t>Not currently used since already fitting age compositions</a:t>
            </a:r>
          </a:p>
          <a:p>
            <a:pPr lvl="1"/>
            <a:r>
              <a:rPr lang="en-US" dirty="0"/>
              <a:t>Increased potential for process error in fitting lengths in an age-structured assessment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F7C15D-855D-3BB0-8EBF-B49EF747056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412" y="2052918"/>
            <a:ext cx="4625788" cy="462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822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F3333B51-C50C-859B-2D28-BCABBC76A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A5419776-EC83-B6F3-4F0C-2F894BD8B677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8D431C93-8C69-2FC0-69E4-10907EBCD1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B58BE734-FF4C-5463-E781-E533CAE67B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Trawl Fishery Length Compositions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D1DC88-06D3-EAAC-529E-DDE0801E3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887" y="2052918"/>
            <a:ext cx="6729489" cy="450924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Observer collected length samples available since 1990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~500 – 6,000 per year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</a:t>
            </a:r>
            <a:r>
              <a:rPr lang="en-US" dirty="0"/>
              <a:t>e on one year lag for assessment</a:t>
            </a:r>
          </a:p>
          <a:p>
            <a:r>
              <a:rPr lang="en-US" dirty="0"/>
              <a:t>Annual Alaska-wide catch-weighted length compositions produced</a:t>
            </a:r>
          </a:p>
          <a:p>
            <a:r>
              <a:rPr lang="en-US" dirty="0"/>
              <a:t>Often bi-modal due to the aggregation across gears that have distinct interactions with sablefish</a:t>
            </a:r>
          </a:p>
          <a:p>
            <a:pPr lvl="1"/>
            <a:r>
              <a:rPr lang="en-US" dirty="0"/>
              <a:t>Pelagic trawl primarily interacts with juvenile sablefish</a:t>
            </a:r>
          </a:p>
          <a:p>
            <a:r>
              <a:rPr lang="en-US" dirty="0"/>
              <a:t>No age data available from trawl fleets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7F14F2-D662-5F24-C422-36D992C188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94412" y="2052918"/>
            <a:ext cx="4625788" cy="462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068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Indices of Abundance/Biomass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81192" y="1892856"/>
            <a:ext cx="11177433" cy="396594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indices available to inform sablefish population trends:</a:t>
            </a:r>
          </a:p>
          <a:p>
            <a:pPr lvl="1"/>
            <a:r>
              <a:rPr lang="en-US" dirty="0"/>
              <a:t>NOAA Longline Survey – sablefish directed survey sampling across Alaska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NOAA Gulf of Alas</a:t>
            </a:r>
            <a:r>
              <a:rPr lang="en-US" dirty="0"/>
              <a:t>ka Trawl Survey – multispecies survey sampling juvenile sablefish in the GOA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Gear Fishery CPUE – standardized CPUE index </a:t>
            </a:r>
            <a:r>
              <a:rPr lang="en-US" dirty="0"/>
              <a:t>from observer and logbook data, primarily in GOA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48753" y="3621982"/>
            <a:ext cx="4988162" cy="311760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36915" y="3737827"/>
            <a:ext cx="133464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 Survey: </a:t>
            </a:r>
            <a:b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Slight Increase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CPUE Index: No Update</a:t>
            </a:r>
          </a:p>
          <a:p>
            <a:endParaRPr lang="en-US" b="1" dirty="0">
              <a:solidFill>
                <a:srgbClr val="AC2D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Trawl Survey: 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Slight Increase</a:t>
            </a:r>
          </a:p>
        </p:txBody>
      </p:sp>
    </p:spTree>
    <p:extLst>
      <p:ext uri="{BB962C8B-B14F-4D97-AF65-F5344CB8AC3E}">
        <p14:creationId xmlns:p14="http://schemas.microsoft.com/office/powerpoint/2010/main" val="3959409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42A506AD-22E8-98BF-753A-62DC4F47B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3881B225-B508-B650-1BB2-3AE6420956FB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8759D6B1-5E61-73C6-DBEC-D03F1E6FE2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NOAA Longline Survey Index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C79C46-989C-ACF5-6FCB-F4C9E723C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3" y="1892856"/>
            <a:ext cx="6357490" cy="470516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Extrapolated relative population numbers (RPNs) are required to ensure consistent AK-wide scaling</a:t>
            </a:r>
          </a:p>
          <a:p>
            <a:pPr lvl="1"/>
            <a:r>
              <a:rPr lang="en-US" dirty="0"/>
              <a:t>Prior to 2025 change in GOA used to extrapolate BS or AI from previous year (</a:t>
            </a:r>
            <a:r>
              <a:rPr lang="en-US" b="1" dirty="0"/>
              <a:t>No Longer Feasible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2025 </a:t>
            </a:r>
            <a:r>
              <a:rPr lang="en-US" dirty="0"/>
              <a:t>‘carryover’ approach maintains the previous area-specific RPN for any unsampled area</a:t>
            </a:r>
          </a:p>
          <a:p>
            <a:pPr lvl="2"/>
            <a:r>
              <a:rPr lang="en-US" dirty="0"/>
              <a:t>Extrapolating ~50% of the RPNs under new survey design, given recent sablefish distribution and catch rates in BS+AI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to 2026 utilized extrapolations for western AI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stations based on Japanese LLS data and outdated area sizes </a:t>
            </a:r>
          </a:p>
          <a:p>
            <a:pPr lvl="1"/>
            <a:r>
              <a:rPr lang="en-US" dirty="0"/>
              <a:t>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emoved in 2026 resulting in ~2 – 10% index reduction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9F054E-C99D-5736-5580-AE3606BD986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1763" y="2599764"/>
            <a:ext cx="5020237" cy="313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835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E58F597C-4253-99D6-5AA9-684CF4964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3A828488-B3A2-EE57-63EA-CFC7D25D8778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4ADFA253-A707-0AF5-6E12-F0F45443BF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NOAA Longline Survey Index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E9E66B-4679-28C0-C3FE-35B3B5C4E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1839066"/>
            <a:ext cx="11325300" cy="4534838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9460E3-2523-6D5B-4EEA-F5700D8B7ED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49" y="2173935"/>
            <a:ext cx="10079925" cy="41999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346772-5ECC-29A2-443F-D8FFF654ED8B}"/>
              </a:ext>
            </a:extLst>
          </p:cNvPr>
          <p:cNvSpPr txBox="1"/>
          <p:nvPr/>
        </p:nvSpPr>
        <p:spPr>
          <a:xfrm>
            <a:off x="9038592" y="2639577"/>
            <a:ext cx="3351843" cy="24622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GOA Extrapolation (include </a:t>
            </a:r>
            <a:r>
              <a:rPr lang="en-US" dirty="0" err="1">
                <a:solidFill>
                  <a:srgbClr val="00B050"/>
                </a:solidFill>
              </a:rPr>
              <a:t>wAI</a:t>
            </a:r>
            <a:r>
              <a:rPr lang="en-US" dirty="0">
                <a:solidFill>
                  <a:srgbClr val="00B050"/>
                </a:solidFill>
              </a:rPr>
              <a:t>)</a:t>
            </a:r>
          </a:p>
          <a:p>
            <a:endParaRPr lang="en-US" dirty="0">
              <a:solidFill>
                <a:srgbClr val="00B050"/>
              </a:solidFill>
            </a:endParaRPr>
          </a:p>
          <a:p>
            <a:endParaRPr lang="en-US" dirty="0"/>
          </a:p>
          <a:p>
            <a:r>
              <a:rPr lang="en-US" dirty="0">
                <a:solidFill>
                  <a:srgbClr val="FF5050"/>
                </a:solidFill>
              </a:rPr>
              <a:t>Carryover Extrapolation (exclude </a:t>
            </a:r>
            <a:r>
              <a:rPr lang="en-US" dirty="0" err="1">
                <a:solidFill>
                  <a:srgbClr val="FF5050"/>
                </a:solidFill>
              </a:rPr>
              <a:t>wAI</a:t>
            </a:r>
            <a:r>
              <a:rPr lang="en-US" dirty="0">
                <a:solidFill>
                  <a:srgbClr val="FF5050"/>
                </a:solidFill>
              </a:rPr>
              <a:t>)</a:t>
            </a:r>
          </a:p>
          <a:p>
            <a:endParaRPr lang="en-US" dirty="0">
              <a:solidFill>
                <a:srgbClr val="FF5050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No Extrapolation (exclude </a:t>
            </a:r>
            <a:r>
              <a:rPr lang="en-US" dirty="0" err="1">
                <a:solidFill>
                  <a:srgbClr val="0070C0"/>
                </a:solidFill>
              </a:rPr>
              <a:t>wAI</a:t>
            </a:r>
            <a:r>
              <a:rPr lang="en-US" dirty="0">
                <a:solidFill>
                  <a:srgbClr val="0070C0"/>
                </a:solidFill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979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282C91B2-50F9-E161-369F-EC2220EED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95939E8D-D45E-C5E6-764F-BC451E5F76D7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ED9F2F3F-A843-20C6-431D-4E1EA9C87B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8345FE4C-AD3D-6D85-3CF6-A93E09392F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NOAA Longline Survey Age Compositions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9CE60C-C991-92F1-66C1-E51A03CAA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5029" y="2008094"/>
            <a:ext cx="6326077" cy="4648921"/>
          </a:xfrm>
        </p:spPr>
        <p:txBody>
          <a:bodyPr>
            <a:normAutofit/>
          </a:bodyPr>
          <a:lstStyle/>
          <a:p>
            <a:r>
              <a:rPr lang="en-US" dirty="0"/>
              <a:t>Random otolith collection by scientists (~1,500 – 4,000 total specimens) since 1996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~1,200 otoliths aged per year, but only ~900 from stations used in the index</a:t>
            </a:r>
          </a:p>
          <a:p>
            <a:pPr lvl="1"/>
            <a:r>
              <a:rPr lang="en-US" dirty="0"/>
              <a:t>Available on a one-year lag to the assessment</a:t>
            </a:r>
          </a:p>
          <a:p>
            <a:r>
              <a:rPr lang="en-US" dirty="0"/>
              <a:t>Random sampling:</a:t>
            </a:r>
          </a:p>
          <a:p>
            <a:pPr lvl="1"/>
            <a:r>
              <a:rPr lang="en-US" dirty="0"/>
              <a:t>Before 2025 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imed for ~200 each from EG/CG/WG and 300 from BS or AI</a:t>
            </a:r>
            <a:endParaRPr lang="en-US" dirty="0"/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2025 aim for ~300 each from EG/CG/WG in odd years and 600 each from BS/AI in even years</a:t>
            </a:r>
          </a:p>
          <a:p>
            <a:r>
              <a:rPr lang="en-US" dirty="0"/>
              <a:t>Annual Alaska-wide RPN-weighted age compositions produced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1ED1D9-E11D-0D45-66F0-C76DBC4D7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7271" y="1913384"/>
            <a:ext cx="4796117" cy="479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48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582A5965-0D44-2475-3CD5-7572C279A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D927E603-F1D7-754B-DB20-54D659B176DD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418FC8F2-0FF2-32A2-AF1E-A8A39B87B2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60E5E6EE-1B86-2F1C-220B-10C1CAAB30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NOAA Longline Survey Length Compositions (Not Used)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553E4E-061C-8B75-D305-F0B8DF74E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887" y="2384612"/>
            <a:ext cx="6218501" cy="417755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Observer collected length samples available since 1990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~40,000 – 90,000 per year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</a:t>
            </a:r>
            <a:r>
              <a:rPr lang="en-US" dirty="0"/>
              <a:t>e in-year for assessment</a:t>
            </a:r>
          </a:p>
          <a:p>
            <a:r>
              <a:rPr lang="en-US" dirty="0"/>
              <a:t>Annual Alaska-wide RPN-weighted length compositions produced</a:t>
            </a:r>
          </a:p>
          <a:p>
            <a:r>
              <a:rPr lang="en-US" dirty="0"/>
              <a:t>Not currently used in assessment since already fitting age compositions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F95393-788A-6E05-3FF9-4E0FCC0AAD0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94412" y="2052918"/>
            <a:ext cx="4625788" cy="462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645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8297FB7E-4B28-D7CA-EC2A-591BEDACC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A2BD427E-C78A-D844-DFC7-2945CB7B1929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861797CD-C830-E0A3-93D6-BFC3F2E145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NOAA Longline Survey Index – Alternatives?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A72404-B569-859F-3D6F-A6E4A0960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1892856"/>
            <a:ext cx="6088548" cy="4563036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Model-based methods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Unlikely to be effective if certain areas have never been sampled simultaneously or if extrapolating over large areas</a:t>
            </a:r>
          </a:p>
          <a:p>
            <a:pPr lvl="1"/>
            <a:r>
              <a:rPr lang="en-US" dirty="0"/>
              <a:t>Added difficulty interpolating given nature of data (fixed stations/longline gear)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Ad-hoc imputation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 in missing values with historical values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 biases if historical values are not reflective of current conditions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</a:t>
            </a:r>
            <a:r>
              <a:rPr lang="en-US" dirty="0"/>
              <a:t>l indices and compositions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 data at the ~scale at which they were collected</a:t>
            </a:r>
          </a:p>
          <a:p>
            <a:pPr lvl="1"/>
            <a:r>
              <a:rPr lang="en-US" dirty="0"/>
              <a:t>Data sparsity issues for lesser sampled regions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4C0154-6E12-4BDB-7216-3727EEE7F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973" y="2223768"/>
            <a:ext cx="5334183" cy="33486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B930E0-2C92-EEA9-BF51-171087A91E4C}"/>
              </a:ext>
            </a:extLst>
          </p:cNvPr>
          <p:cNvSpPr txBox="1"/>
          <p:nvPr/>
        </p:nvSpPr>
        <p:spPr>
          <a:xfrm>
            <a:off x="10027774" y="5572449"/>
            <a:ext cx="1450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Xu et al 2019</a:t>
            </a:r>
          </a:p>
        </p:txBody>
      </p:sp>
    </p:spTree>
    <p:extLst>
      <p:ext uri="{BB962C8B-B14F-4D97-AF65-F5344CB8AC3E}">
        <p14:creationId xmlns:p14="http://schemas.microsoft.com/office/powerpoint/2010/main" val="524403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B9152F21-9B22-1FC9-22C5-D3AE9BBDE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F5C4F04D-C5BC-4AFD-8CDE-2D5D0D0E5F64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F2D1156D-4899-DC35-1B64-D25D552654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NOAA Longline Survey Regional Indices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E46A63-3111-9048-E31D-2F3199377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1839066"/>
            <a:ext cx="11413584" cy="45348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fleets-as-areas (FAA) model, disaggregated indices (BS, AI, GOA) were produced</a:t>
            </a:r>
          </a:p>
          <a:p>
            <a:pPr lvl="1"/>
            <a:r>
              <a:rPr lang="en-US" dirty="0"/>
              <a:t>GOA aggregated across associated regions (EG/CG/WG)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extrapolation necessary (unsampled regions treated as missing data; no placeholder)</a:t>
            </a:r>
          </a:p>
          <a:p>
            <a:r>
              <a:rPr lang="en-US" dirty="0"/>
              <a:t>Dropped western AI extrapolated stations (matching single region index)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1931E5-7042-82D0-2ED5-AEB6ACC81247}"/>
              </a:ext>
            </a:extLst>
          </p:cNvPr>
          <p:cNvSpPr txBox="1"/>
          <p:nvPr/>
        </p:nvSpPr>
        <p:spPr>
          <a:xfrm>
            <a:off x="7504451" y="4066789"/>
            <a:ext cx="3810441" cy="160043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Bering Sea (BS)</a:t>
            </a:r>
          </a:p>
          <a:p>
            <a:endParaRPr lang="en-US" dirty="0"/>
          </a:p>
          <a:p>
            <a:r>
              <a:rPr lang="en-US" dirty="0">
                <a:solidFill>
                  <a:srgbClr val="FF5050"/>
                </a:solidFill>
              </a:rPr>
              <a:t>Aleutian Islands (AI)</a:t>
            </a:r>
          </a:p>
          <a:p>
            <a:endParaRPr lang="en-US" dirty="0">
              <a:solidFill>
                <a:srgbClr val="FF5050"/>
              </a:solidFill>
            </a:endParaRP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Gulf of Alaska (GOA)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4CD10D-99FF-F991-A195-4F895AC73FC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0386"/>
          <a:stretch>
            <a:fillRect/>
          </a:stretch>
        </p:blipFill>
        <p:spPr>
          <a:xfrm>
            <a:off x="2394620" y="3996050"/>
            <a:ext cx="5109831" cy="28619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B2B976-850F-3C03-BFB7-96B97B2C4F75}"/>
              </a:ext>
            </a:extLst>
          </p:cNvPr>
          <p:cNvSpPr txBox="1"/>
          <p:nvPr/>
        </p:nvSpPr>
        <p:spPr>
          <a:xfrm>
            <a:off x="3407606" y="3715817"/>
            <a:ext cx="7251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RPNs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57EFBC-B9DD-70E9-9BC2-B5126AF8A8F2}"/>
              </a:ext>
            </a:extLst>
          </p:cNvPr>
          <p:cNvSpPr txBox="1"/>
          <p:nvPr/>
        </p:nvSpPr>
        <p:spPr>
          <a:xfrm>
            <a:off x="5145715" y="3720246"/>
            <a:ext cx="2465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Relative to Regional Mean</a:t>
            </a:r>
          </a:p>
        </p:txBody>
      </p:sp>
    </p:spTree>
    <p:extLst>
      <p:ext uri="{BB962C8B-B14F-4D97-AF65-F5344CB8AC3E}">
        <p14:creationId xmlns:p14="http://schemas.microsoft.com/office/powerpoint/2010/main" val="1173119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451D9F1E-DAB8-380D-B055-3E0E5302D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9AA9312E-E683-4D7E-C115-EE01D8F677A7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4129DBEC-65BB-6305-2BEB-F3861BCDA5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46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4023E8D9-EF1A-BF36-121C-DAA77A5130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NOAA Longline Survey Regional Age Compositions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A159C0-FC15-1A13-FA47-6342DD692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888" y="2088776"/>
            <a:ext cx="4228277" cy="4652683"/>
          </a:xfrm>
        </p:spPr>
        <p:txBody>
          <a:bodyPr>
            <a:normAutofit/>
          </a:bodyPr>
          <a:lstStyle/>
          <a:p>
            <a:r>
              <a:rPr lang="en-US" dirty="0"/>
              <a:t>For BS and AI, raw age compositions used (no weighting)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GOA, </a:t>
            </a:r>
            <a:r>
              <a:rPr lang="en-US" dirty="0"/>
              <a:t>RPN-weighted age compositions produced</a:t>
            </a:r>
          </a:p>
          <a:p>
            <a:r>
              <a:rPr lang="en-US" dirty="0"/>
              <a:t>Sample sizes in BS/AI are half of those in GOA (300 vs. 600)</a:t>
            </a:r>
          </a:p>
          <a:p>
            <a:pPr lvl="1"/>
            <a:r>
              <a:rPr lang="en-US" dirty="0"/>
              <a:t>AK-wide and GOA age compositions generally align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AAA989-DE7A-3997-C70B-D6F7ABDB91A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87118" y="4954573"/>
            <a:ext cx="4628666" cy="19034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534DAC-F879-7D1E-32DB-4CFC55D5A1A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05438" y="1892856"/>
            <a:ext cx="4094018" cy="20470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4AC748-3512-7A18-557C-BB8350876F48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66630" y="2929582"/>
            <a:ext cx="3946085" cy="20205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7FF3E5-FD12-1344-2B58-EBFB2FDFDB0D}"/>
              </a:ext>
            </a:extLst>
          </p:cNvPr>
          <p:cNvSpPr txBox="1"/>
          <p:nvPr/>
        </p:nvSpPr>
        <p:spPr>
          <a:xfrm>
            <a:off x="4769165" y="2479612"/>
            <a:ext cx="1326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F97A1A-D922-CC11-E73C-BA49DD6F11CD}"/>
              </a:ext>
            </a:extLst>
          </p:cNvPr>
          <p:cNvSpPr txBox="1"/>
          <p:nvPr/>
        </p:nvSpPr>
        <p:spPr>
          <a:xfrm>
            <a:off x="7838062" y="3724644"/>
            <a:ext cx="1326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2A5511-39BE-443D-C01F-085C45F25A3D}"/>
              </a:ext>
            </a:extLst>
          </p:cNvPr>
          <p:cNvSpPr txBox="1"/>
          <p:nvPr/>
        </p:nvSpPr>
        <p:spPr>
          <a:xfrm>
            <a:off x="5626807" y="5609122"/>
            <a:ext cx="1326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</a:t>
            </a:r>
          </a:p>
        </p:txBody>
      </p:sp>
    </p:spTree>
    <p:extLst>
      <p:ext uri="{BB962C8B-B14F-4D97-AF65-F5344CB8AC3E}">
        <p14:creationId xmlns:p14="http://schemas.microsoft.com/office/powerpoint/2010/main" val="1324132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B7C3B388-C56C-2AC1-8767-A263C8A56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ADCCE672-9CDF-4528-8BB4-000BA006C98E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C26F674F-D766-7E7C-8D97-52E6B02662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Japanese Longline Survey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DBB52-F5CF-D07D-2080-CE2082C72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1892857"/>
            <a:ext cx="5577561" cy="490239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NOAA Longline Survey essentially adopted similar methods as historical Japanese LLS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Japanese LLS RPNs available from 1979 – 1994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Length-stratified age compositions available sporadically</a:t>
            </a:r>
          </a:p>
          <a:p>
            <a:pPr lvl="1"/>
            <a:r>
              <a:rPr lang="en-US" dirty="0"/>
              <a:t>~800 – 1,700 samples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Length compositions available annually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~18,000 – 120,000 samples</a:t>
            </a:r>
          </a:p>
          <a:p>
            <a:pPr lvl="1"/>
            <a:r>
              <a:rPr lang="en-US" dirty="0"/>
              <a:t>Integrated into assessment to enable estimation of selectivity</a:t>
            </a:r>
          </a:p>
          <a:p>
            <a:r>
              <a:rPr lang="en-US" dirty="0"/>
              <a:t>AK-wide RPN-weighted age/length compositions produced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AC9A80-14FF-012B-40FC-F55618500F8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37241" y="2931458"/>
            <a:ext cx="2889146" cy="24204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8F7CAD-36F3-59B7-338B-1AEB72B4B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7162" y="808041"/>
            <a:ext cx="2992993" cy="29929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B593F6-9947-B0F7-C5EE-95D5B032D7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1744" y="3865007"/>
            <a:ext cx="2992993" cy="299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72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DC2EF6FB-7125-D4F3-0D30-E55A25431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3E39BFF9-5A22-C3D5-01C0-52435C0999A1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51CA4130-A852-5FDA-D780-0763B911DD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Trawl Survey Index and Length Compositions (Not Used)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73B53E-539E-ADF7-1B4F-0740354F7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1955996"/>
            <a:ext cx="7899419" cy="4545106"/>
          </a:xfrm>
        </p:spPr>
        <p:txBody>
          <a:bodyPr>
            <a:normAutofit/>
          </a:bodyPr>
          <a:lstStyle/>
          <a:p>
            <a:r>
              <a:rPr lang="en-US" dirty="0"/>
              <a:t>Multispecies survey of the continental shelf to 500m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stratified survey design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Triennial (1990 – 2003), biennial (2003 – Present)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1,000 – 8,000 length samples taken per survey (no otoliths aged)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Issues (Representativeness):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covers the GOA 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 and AI trawl surveys have shorter time series and more sporadic catch of sablefish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consistently surveys &lt; 500m, which is shallower than prime sablefish habitat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Primarily catches only juvenile (smaller) sablefish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Map of Gulf of Alaska with proposed sample stations marked.">
            <a:extLst>
              <a:ext uri="{FF2B5EF4-FFF2-40B4-BE49-F238E27FC236}">
                <a16:creationId xmlns:a16="http://schemas.microsoft.com/office/drawing/2014/main" id="{2FDDC8F3-3F31-D80E-8CCF-E96E87527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47311" y="1864739"/>
            <a:ext cx="3376892" cy="2608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32FB872-6FE9-E427-9595-797AD43041B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641"/>
          <a:stretch/>
        </p:blipFill>
        <p:spPr>
          <a:xfrm>
            <a:off x="1082364" y="5810586"/>
            <a:ext cx="6779683" cy="69051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4270967-C046-9DFE-9EF3-3054760536E4}"/>
              </a:ext>
            </a:extLst>
          </p:cNvPr>
          <p:cNvSpPr txBox="1"/>
          <p:nvPr/>
        </p:nvSpPr>
        <p:spPr>
          <a:xfrm>
            <a:off x="3444690" y="6311771"/>
            <a:ext cx="423806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Hanselman</a:t>
            </a:r>
            <a:r>
              <a:rPr lang="en-US" dirty="0"/>
              <a:t> et al., 2007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3924DA6-2311-2931-4AA5-311679B976ED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98291" y="4537827"/>
            <a:ext cx="3625912" cy="2266195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6B711279-3089-1212-06D3-EC69AA1DDCE8}"/>
              </a:ext>
            </a:extLst>
          </p:cNvPr>
          <p:cNvSpPr/>
          <p:nvPr/>
        </p:nvSpPr>
        <p:spPr>
          <a:xfrm>
            <a:off x="11492753" y="4616824"/>
            <a:ext cx="631450" cy="15390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693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E28B2B92-A703-B22A-8B9C-A7085F257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8E312557-F95A-A3BC-6746-5E21E02C134E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80AA4260-7394-9AFB-9EB2-C52D1D0AAD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Trawl Survey Index and Length Compositions (Not Used)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AF585E-75D9-B5CA-CEDB-A5A81DF92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398" y="1900160"/>
            <a:ext cx="5917182" cy="4764638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in 2007 as a recruitment index</a:t>
            </a:r>
          </a:p>
          <a:p>
            <a:pPr lvl="1"/>
            <a:r>
              <a:rPr lang="en-US" sz="2000" b="1" dirty="0"/>
              <a:t>Removed in 2025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selectivity is difficult to define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high influence on recent recruitment estimates in the assessment </a:t>
            </a:r>
          </a:p>
          <a:p>
            <a:pPr lvl="1"/>
            <a:r>
              <a:rPr lang="en-US" sz="2000" dirty="0"/>
              <a:t>Increases variability in recruitment signals since it is assumed to select ~100% of age-2 fish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contradicts LLS composition data leading to recruitment retrospective patterns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signals differ greatly from LLS (e.g., 2023 and 2025 declines)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A60228C-76D2-0707-2C8A-C30A0D565A8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99482" y="2349422"/>
            <a:ext cx="1368695" cy="173203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9B94792-2CC1-95A9-04D8-A5E4613DFF4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82374" y="2323867"/>
            <a:ext cx="1889760" cy="170569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CEF0C279-DC8C-2EED-9FBC-ABFD537C294C}"/>
              </a:ext>
            </a:extLst>
          </p:cNvPr>
          <p:cNvGrpSpPr/>
          <p:nvPr/>
        </p:nvGrpSpPr>
        <p:grpSpPr>
          <a:xfrm>
            <a:off x="9964372" y="2242628"/>
            <a:ext cx="1910687" cy="1764128"/>
            <a:chOff x="3422470" y="4374559"/>
            <a:chExt cx="1910687" cy="1764128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15F396A-9D58-2E7F-4F62-72718439F3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741185" y="4374559"/>
              <a:ext cx="1591972" cy="1764128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16FE47A-4212-D340-0DE5-035CBC78F3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422470" y="4688140"/>
              <a:ext cx="428470" cy="1285415"/>
            </a:xfrm>
            <a:prstGeom prst="rect">
              <a:avLst/>
            </a:prstGeom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C8D7250-F71F-3020-136F-4628EF3B711A}"/>
              </a:ext>
            </a:extLst>
          </p:cNvPr>
          <p:cNvSpPr txBox="1"/>
          <p:nvPr/>
        </p:nvSpPr>
        <p:spPr>
          <a:xfrm>
            <a:off x="8208649" y="1862202"/>
            <a:ext cx="1637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Trawl Survey Female Lengths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4AA193-C6CC-A544-5A7F-AB9486DB240B}"/>
              </a:ext>
            </a:extLst>
          </p:cNvPr>
          <p:cNvSpPr txBox="1"/>
          <p:nvPr/>
        </p:nvSpPr>
        <p:spPr>
          <a:xfrm>
            <a:off x="10260468" y="1808412"/>
            <a:ext cx="1637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Longline Survey Female Lengths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79D287D-217E-E5F8-434B-14730956C508}"/>
              </a:ext>
            </a:extLst>
          </p:cNvPr>
          <p:cNvSpPr/>
          <p:nvPr/>
        </p:nvSpPr>
        <p:spPr>
          <a:xfrm>
            <a:off x="8785719" y="2533745"/>
            <a:ext cx="818606" cy="14871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778A50-68C1-22C2-1A31-5A08FA828903}"/>
              </a:ext>
            </a:extLst>
          </p:cNvPr>
          <p:cNvSpPr/>
          <p:nvPr/>
        </p:nvSpPr>
        <p:spPr>
          <a:xfrm>
            <a:off x="10392841" y="2564917"/>
            <a:ext cx="276929" cy="14195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7BEB21-388B-1654-1E62-04BE9E502A97}"/>
              </a:ext>
            </a:extLst>
          </p:cNvPr>
          <p:cNvSpPr txBox="1"/>
          <p:nvPr/>
        </p:nvSpPr>
        <p:spPr>
          <a:xfrm>
            <a:off x="6262054" y="1826202"/>
            <a:ext cx="2048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Male Trawl Survey Selectivity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5E8D1FE-20AE-3BCA-CEA4-5C662F52C459}"/>
              </a:ext>
            </a:extLst>
          </p:cNvPr>
          <p:cNvGrpSpPr>
            <a:grpSpLocks noChangeAspect="1"/>
          </p:cNvGrpSpPr>
          <p:nvPr/>
        </p:nvGrpSpPr>
        <p:grpSpPr>
          <a:xfrm>
            <a:off x="7742547" y="4165867"/>
            <a:ext cx="3723555" cy="2680014"/>
            <a:chOff x="6977668" y="2288476"/>
            <a:chExt cx="5749876" cy="4138451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D4D8B7A-4CDF-B63C-C975-1B4043736BD8}"/>
                </a:ext>
              </a:extLst>
            </p:cNvPr>
            <p:cNvGrpSpPr/>
            <p:nvPr/>
          </p:nvGrpSpPr>
          <p:grpSpPr>
            <a:xfrm>
              <a:off x="7326084" y="2776140"/>
              <a:ext cx="2295410" cy="3650787"/>
              <a:chOff x="1744304" y="3207213"/>
              <a:chExt cx="2295410" cy="3650787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82E83C00-5A8F-D232-A799-5BC8619F583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744304" y="3411582"/>
                <a:ext cx="335981" cy="3166791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046E590C-52FF-6A58-E83C-DB07AB54B2B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2080285" y="3207213"/>
                <a:ext cx="1959429" cy="3650787"/>
              </a:xfrm>
              <a:prstGeom prst="rect">
                <a:avLst/>
              </a:prstGeom>
            </p:spPr>
          </p:pic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B9C6C56-E1F5-F298-7C81-C7FB3B1588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620774" y="2634555"/>
              <a:ext cx="2338232" cy="3792371"/>
              <a:chOff x="10706242" y="3790162"/>
              <a:chExt cx="1485757" cy="2409746"/>
            </a:xfrm>
          </p:grpSpPr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C3315F36-0281-2EE3-96BB-6811DEB1369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0929256" y="3880127"/>
                <a:ext cx="1262743" cy="2319781"/>
              </a:xfrm>
              <a:prstGeom prst="rect">
                <a:avLst/>
              </a:prstGeom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2617FA6E-825E-8D44-47D5-64BB47B0633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0706242" y="3790162"/>
                <a:ext cx="221344" cy="2409746"/>
              </a:xfrm>
              <a:prstGeom prst="rect">
                <a:avLst/>
              </a:prstGeom>
            </p:spPr>
          </p:pic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4122777-257D-3506-A70F-A1D4A4D224AF}"/>
                </a:ext>
              </a:extLst>
            </p:cNvPr>
            <p:cNvSpPr txBox="1"/>
            <p:nvPr/>
          </p:nvSpPr>
          <p:spPr>
            <a:xfrm>
              <a:off x="6977668" y="2288476"/>
              <a:ext cx="5749876" cy="5227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Recruitment Retrospective Patterns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5090819-F042-F0F8-C65E-7F6A2E19BE5D}"/>
                </a:ext>
              </a:extLst>
            </p:cNvPr>
            <p:cNvSpPr/>
            <p:nvPr/>
          </p:nvSpPr>
          <p:spPr>
            <a:xfrm>
              <a:off x="10980789" y="5068389"/>
              <a:ext cx="370735" cy="88774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80BA81C-6099-2685-0758-9DC55B4E1ECC}"/>
                </a:ext>
              </a:extLst>
            </p:cNvPr>
            <p:cNvSpPr/>
            <p:nvPr/>
          </p:nvSpPr>
          <p:spPr>
            <a:xfrm>
              <a:off x="8602160" y="4328159"/>
              <a:ext cx="419920" cy="169817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501E3B65-3303-7B6D-B075-577C60BEB461}"/>
              </a:ext>
            </a:extLst>
          </p:cNvPr>
          <p:cNvSpPr txBox="1"/>
          <p:nvPr/>
        </p:nvSpPr>
        <p:spPr>
          <a:xfrm>
            <a:off x="8161024" y="4724400"/>
            <a:ext cx="1268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w/ Trawl Survey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662E7A-DA70-269C-BF7E-BF6530E72993}"/>
              </a:ext>
            </a:extLst>
          </p:cNvPr>
          <p:cNvSpPr txBox="1"/>
          <p:nvPr/>
        </p:nvSpPr>
        <p:spPr>
          <a:xfrm>
            <a:off x="9622626" y="4724399"/>
            <a:ext cx="1369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w/o Trawl Survey</a:t>
            </a:r>
          </a:p>
        </p:txBody>
      </p:sp>
    </p:spTree>
    <p:extLst>
      <p:ext uri="{BB962C8B-B14F-4D97-AF65-F5344CB8AC3E}">
        <p14:creationId xmlns:p14="http://schemas.microsoft.com/office/powerpoint/2010/main" val="1205334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902D54C1-9161-0A7E-06EB-82867DF58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8705F496-44DB-BB2E-900E-7179D6390D04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45A12EFE-BCD9-B5DD-C762-8681D86ADF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Gear CPUE (Not Used)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A4E3BE-751D-FF25-C442-8F0E93202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3" y="1892856"/>
            <a:ext cx="7610308" cy="4746068"/>
          </a:xfrm>
        </p:spPr>
        <p:txBody>
          <a:bodyPr>
            <a:normAutofit/>
          </a:bodyPr>
          <a:lstStyle/>
          <a:p>
            <a:r>
              <a:rPr lang="en-US" dirty="0"/>
              <a:t>Nominal Japanese longline CPUE (1964 – 1981)</a:t>
            </a:r>
          </a:p>
          <a:p>
            <a:pPr lvl="1"/>
            <a:r>
              <a:rPr lang="en-US" dirty="0"/>
              <a:t>Reported in Sasaki (1985)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domestic fixed gear CPUE (1995 – 2022)</a:t>
            </a:r>
          </a:p>
          <a:p>
            <a:pPr lvl="1"/>
            <a:r>
              <a:rPr lang="en-US" dirty="0"/>
              <a:t>Records of catch and effort for sablefish targeting vessels are collected by observers and reported in logbooks, primarily in GOA </a:t>
            </a:r>
          </a:p>
          <a:p>
            <a:pPr lvl="1"/>
            <a:r>
              <a:rPr lang="en-US" dirty="0"/>
              <a:t>A combined fixed gear standardized CPUE index was developed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dirty="0"/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longer be updated (logbooks not provided to NOAA)</a:t>
            </a:r>
          </a:p>
          <a:p>
            <a:pPr lvl="1"/>
            <a:r>
              <a:rPr lang="en-US" dirty="0"/>
              <a:t>Trends mostly align with LLS RPNs, with lag (represents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mature biomass)</a:t>
            </a:r>
          </a:p>
          <a:p>
            <a:r>
              <a:rPr lang="en-US" dirty="0"/>
              <a:t>Data and assessment issues:</a:t>
            </a:r>
          </a:p>
          <a:p>
            <a:pPr lvl="1"/>
            <a:r>
              <a:rPr lang="en-US" dirty="0"/>
              <a:t>Difficulty standardizing across management regimes</a:t>
            </a:r>
          </a:p>
          <a:p>
            <a:pPr lvl="1"/>
            <a:r>
              <a:rPr lang="en-US" dirty="0"/>
              <a:t>Assume a high CV compared to LLS, so provides minimal information to assessment</a:t>
            </a:r>
          </a:p>
          <a:p>
            <a:endParaRPr lang="en-US" dirty="0"/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38CA22-2E75-28D6-5823-EA18F9D81E7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69451" y="2715947"/>
            <a:ext cx="1606547" cy="19471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0FA1F7-13C6-2195-9FDC-0D8C045D9D3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30670" y="4663052"/>
            <a:ext cx="3511917" cy="2194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2B85C3-B775-010C-D9E7-F280BEE3CB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0383" y="1892856"/>
            <a:ext cx="4281617" cy="73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351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17C7CAFB-12BD-529A-87D0-AE80E56F2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865ED953-2B80-4C33-49FC-9D505A353B43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F4F4564C-5015-C91F-98D3-450D3828A8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Mark Recapture Data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74859-D9FD-0169-7584-F6D22B9E7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1892855"/>
            <a:ext cx="8266355" cy="4749991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Tagging with conventional tags since 1970s (~413,000 releases)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 3,500 adult sablefish tagged per year on the LLS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 100 – 1,000 juvenile (age-1) sablefish tagged per year in nursery areas in the EG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collected includes location, date, length, depth, and gear</a:t>
            </a:r>
          </a:p>
          <a:p>
            <a:r>
              <a:rPr lang="en-US" dirty="0"/>
              <a:t>Recaptures (~38,500):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collected includes location, time at liberty, depth, size, and otolith (survey recaptures)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distance between release and recapture is 340 nm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Furthest recovery was 2,586 nm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Fastest traveled 116 nm in 6 days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time at liberty &gt;39 yrs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Estimating growth, ageing error (known-age studies), movement rates, catch apportionment, and movement patterns</a:t>
            </a:r>
          </a:p>
          <a:p>
            <a:pPr lvl="1"/>
            <a:r>
              <a:rPr lang="en-US" dirty="0"/>
              <a:t>Integrated directly into the spatial assessment models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L:\MISC\PICS\TRABAJAR\JIGGING\ST_JAMES_BAY_SB\2007\DSCN8615.JPG">
            <a:extLst>
              <a:ext uri="{FF2B5EF4-FFF2-40B4-BE49-F238E27FC236}">
                <a16:creationId xmlns:a16="http://schemas.microsoft.com/office/drawing/2014/main" id="{BB69542D-E155-4486-5322-D12F66C49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lum bright="-15000" contras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66"/>
          <a:stretch>
            <a:fillRect/>
          </a:stretch>
        </p:blipFill>
        <p:spPr bwMode="auto">
          <a:xfrm>
            <a:off x="8991553" y="1953627"/>
            <a:ext cx="2755861" cy="1986425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D2F322F-369B-B7E8-4A95-28B43E7ED3C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/>
          <a:srcRect l="2613" t="26765" r="41776" b="11228"/>
          <a:stretch/>
        </p:blipFill>
        <p:spPr>
          <a:xfrm>
            <a:off x="8895362" y="4184164"/>
            <a:ext cx="2948242" cy="2458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1865A7-90C2-D89B-D183-C16A3B4744E5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17190" y="626465"/>
            <a:ext cx="3130224" cy="117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518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F075422A-E425-9293-E0A4-32CBFA5C2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00A6C995-023A-7B70-CD8D-F2780703D1D1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36C915BB-3285-50AA-55A8-4F81E50F8F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Considerations for Assessment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1CE4FB-8307-CD6D-B949-34FC92C74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3" y="1892856"/>
            <a:ext cx="7755984" cy="4732062"/>
          </a:xfrm>
        </p:spPr>
        <p:txBody>
          <a:bodyPr>
            <a:normAutofit/>
          </a:bodyPr>
          <a:lstStyle/>
          <a:p>
            <a:r>
              <a:rPr lang="en-US" dirty="0"/>
              <a:t>LLS represents best scientific information available on sablefish trends, but difficult to account for survey changes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better to fit extrapolated data or disaggregated data (with lower composition sample sizes)?</a:t>
            </a:r>
          </a:p>
          <a:p>
            <a:r>
              <a:rPr lang="en-US" dirty="0"/>
              <a:t>Should alternative indices be integrated (CPUE or trawl survey), if they reflect dynamics of a subset of the population (e.g., GOA-only, juveniles or mature fish)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integrate size-age transition matrix to fit trawl fishery and Japanese LLS length compositions</a:t>
            </a:r>
          </a:p>
          <a:p>
            <a:pPr lvl="1"/>
            <a:r>
              <a:rPr lang="en-US" dirty="0"/>
              <a:t>Is there benefit (or increased process error) from fitting age and length compositions simultaneously (e.g., for LLS and fixed gear fishery)?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A1B4E5-377D-0F5C-D541-E7B590ACF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177" y="1800300"/>
            <a:ext cx="3684494" cy="24563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BCD78B-D4E6-62D7-9BEF-B796E1ECC8E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0498" y="4349185"/>
            <a:ext cx="3641173" cy="227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871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0"/>
          <p:cNvSpPr/>
          <p:nvPr/>
        </p:nvSpPr>
        <p:spPr>
          <a:xfrm>
            <a:off x="446534" y="457200"/>
            <a:ext cx="3703200" cy="9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7" name="Google Shape;447;p50"/>
          <p:cNvSpPr/>
          <p:nvPr/>
        </p:nvSpPr>
        <p:spPr>
          <a:xfrm>
            <a:off x="8042147" y="453643"/>
            <a:ext cx="3703200" cy="98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8" name="Google Shape;448;p50"/>
          <p:cNvSpPr/>
          <p:nvPr/>
        </p:nvSpPr>
        <p:spPr>
          <a:xfrm>
            <a:off x="4241830" y="457200"/>
            <a:ext cx="3703200" cy="91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55" name="Google Shape;455;p50"/>
          <p:cNvPicPr preferRelativeResize="0"/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1523" y="859287"/>
            <a:ext cx="4631279" cy="5139426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50"/>
          <p:cNvSpPr txBox="1">
            <a:spLocks noGrp="1"/>
          </p:cNvSpPr>
          <p:nvPr>
            <p:ph type="title"/>
          </p:nvPr>
        </p:nvSpPr>
        <p:spPr>
          <a:xfrm>
            <a:off x="3746322" y="782202"/>
            <a:ext cx="5526900" cy="27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ill Sans"/>
              <a:buNone/>
            </a:pPr>
            <a:r>
              <a:rPr lang="en-US" sz="60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  <a:endParaRPr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85712" y="2715232"/>
            <a:ext cx="1627328" cy="24127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85712" y="859287"/>
            <a:ext cx="1627328" cy="17961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6479" y="3281388"/>
            <a:ext cx="1667674" cy="17447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FBCE48-C775-4227-8A72-EDF4197FDDB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6479" y="859287"/>
            <a:ext cx="1660811" cy="22236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7BE1B7E5-FAF0-3A3C-679B-869D4BBDC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991120B8-B22A-00DC-918D-9E48F061B0C7}"/>
              </a:ext>
            </a:extLst>
          </p:cNvPr>
          <p:cNvSpPr/>
          <p:nvPr/>
        </p:nvSpPr>
        <p:spPr>
          <a:xfrm>
            <a:off x="433325" y="609600"/>
            <a:ext cx="11325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87C5ECD6-A4DD-9822-DBEE-7443C7DDB8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Abundance vs. Biomass Weighted Compositions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9535E-F6AF-1201-9C46-03D3EA1AF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FDB20F-59E9-1424-CA27-044F4ED2D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2295" y="1892856"/>
            <a:ext cx="5750211" cy="48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987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Dividend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7678</TotalTime>
  <Words>2002</Words>
  <Application>Microsoft Office PowerPoint</Application>
  <PresentationFormat>Widescreen</PresentationFormat>
  <Paragraphs>288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Corbel</vt:lpstr>
      <vt:lpstr>Gill Sans</vt:lpstr>
      <vt:lpstr>Times New Roman</vt:lpstr>
      <vt:lpstr>Wingdings</vt:lpstr>
      <vt:lpstr>Dividend</vt:lpstr>
      <vt:lpstr>Sablefish Assessment: Available Data 2026 CIE Review</vt:lpstr>
      <vt:lpstr>Agenda</vt:lpstr>
      <vt:lpstr>Issues to Consider: Data Inputs</vt:lpstr>
      <vt:lpstr>Data Summary</vt:lpstr>
      <vt:lpstr>Biological Inputs</vt:lpstr>
      <vt:lpstr>Whale Depredation</vt:lpstr>
      <vt:lpstr>Catch</vt:lpstr>
      <vt:lpstr>Fixed Gear Fishery Age Compositions</vt:lpstr>
      <vt:lpstr>Fixed Gear Fishery Age Compositions</vt:lpstr>
      <vt:lpstr>Fixed Gear Fishery Length Compositions (Not Used)</vt:lpstr>
      <vt:lpstr>Trawl Fishery Length Compositions</vt:lpstr>
      <vt:lpstr>Indices of Abundance/Biomass</vt:lpstr>
      <vt:lpstr>NOAA Longline Survey Index</vt:lpstr>
      <vt:lpstr>NOAA Longline Survey Index</vt:lpstr>
      <vt:lpstr>NOAA Longline Survey Age Compositions</vt:lpstr>
      <vt:lpstr>NOAA Longline Survey Length Compositions (Not Used)</vt:lpstr>
      <vt:lpstr>NOAA Longline Survey Index – Alternatives?</vt:lpstr>
      <vt:lpstr>NOAA Longline Survey Regional Indices</vt:lpstr>
      <vt:lpstr>NOAA Longline Survey Regional Age Compositions</vt:lpstr>
      <vt:lpstr>Japanese Longline Survey</vt:lpstr>
      <vt:lpstr>Trawl Survey Index and Length Compositions (Not Used)</vt:lpstr>
      <vt:lpstr>Trawl Survey Index and Length Compositions (Not Used)</vt:lpstr>
      <vt:lpstr>Fixed Gear CPUE (Not Used)</vt:lpstr>
      <vt:lpstr>Mark Recapture Data</vt:lpstr>
      <vt:lpstr>Key Considerations for Assessment</vt:lpstr>
      <vt:lpstr>QUESTIONS?</vt:lpstr>
      <vt:lpstr>Abundance vs. Biomass Weighted Compositions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Sablefish</dc:title>
  <dc:creator>Daniel.Goethel</dc:creator>
  <cp:lastModifiedBy>Daniel.Goethel</cp:lastModifiedBy>
  <cp:revision>269</cp:revision>
  <dcterms:modified xsi:type="dcterms:W3CDTF">2026-06-16T00:03:55Z</dcterms:modified>
</cp:coreProperties>
</file>