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tiff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 bookmarkIdSeed="5">
  <p:sldMasterIdLst>
    <p:sldMasterId id="2147483658" r:id="rId1"/>
  </p:sldMasterIdLst>
  <p:notesMasterIdLst>
    <p:notesMasterId r:id="rId24"/>
  </p:notesMasterIdLst>
  <p:sldIdLst>
    <p:sldId id="256" r:id="rId2"/>
    <p:sldId id="324" r:id="rId3"/>
    <p:sldId id="371" r:id="rId4"/>
    <p:sldId id="394" r:id="rId5"/>
    <p:sldId id="395" r:id="rId6"/>
    <p:sldId id="295" r:id="rId7"/>
    <p:sldId id="398" r:id="rId8"/>
    <p:sldId id="396" r:id="rId9"/>
    <p:sldId id="397" r:id="rId10"/>
    <p:sldId id="393" r:id="rId11"/>
    <p:sldId id="299" r:id="rId12"/>
    <p:sldId id="400" r:id="rId13"/>
    <p:sldId id="303" r:id="rId14"/>
    <p:sldId id="401" r:id="rId15"/>
    <p:sldId id="399" r:id="rId16"/>
    <p:sldId id="402" r:id="rId17"/>
    <p:sldId id="406" r:id="rId18"/>
    <p:sldId id="404" r:id="rId19"/>
    <p:sldId id="403" r:id="rId20"/>
    <p:sldId id="408" r:id="rId21"/>
    <p:sldId id="407" r:id="rId22"/>
    <p:sldId id="294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AA9E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91" name="Google Shape;9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2442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CE3D802-E2EC-DDC0-BE2C-523527A30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288EC860-B54C-0D33-9D93-CF9CB97657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E36C126F-E617-E537-20FE-22AFB40ACF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F72CC066-2994-7E6A-C521-30F085F133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80242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F0058D76-856B-828A-D413-96CBFE4D3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2AA50DA5-B1C8-6F12-AABA-13652BA989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9217C4BC-FB00-2F04-F6B5-BC492A9B42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0F1FB95A-2B39-1652-DD26-3D5AE031E4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1062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2029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D56DFF9-8D40-BCA7-B008-F048FE988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C4CA6965-3D93-49A8-FCBA-583F562DAA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5DAF6060-E4A1-F780-1B31-02594F28B3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4FEC6232-EEAB-C906-B2B2-C3D14A0E19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57148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4C148EA-A99C-9C69-4073-E1E22F767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DC423F29-4C98-23CC-6C39-930FD834D8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EA2BD4C4-358E-6E2B-4A96-19E7A269DD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D306EC22-F309-B8E8-D05E-88295B1738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7187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6D65FDC0-FCB8-5868-78C1-99D817473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22E23CC4-FD88-3D38-D52E-C8F3F36E33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90351077-740D-DEBF-3374-59F23410E5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4ED29633-292F-0137-9F24-11F7FE8C3A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71679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C5D144C-053F-BA95-D70E-695DF137A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6CE6FCEB-0FBB-715F-0D9D-129D146420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A73AB14E-4299-5E6E-349A-2742046916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F8B62E48-096B-24EB-D0D7-C3A0357938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70439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22536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93FF1BE-5460-9FDC-887F-258686239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E5B99900-C8BC-BFCA-04DC-66BD962835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5CF217AB-8244-629A-328D-2EAB838A89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33D9DC7F-3271-F954-8D11-08C87F2F134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03897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335231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F9C2980-484C-5766-427B-78D94B5C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FECDDFAA-94D6-25B5-3DF1-AF212787B3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132B89B5-8768-DE86-19ED-F9D123375F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9F75C0DC-D3C2-71B0-DDFE-4D985DC540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462229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7173572-229B-7387-7E3B-269F141AF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79684FDC-6DA5-B240-507A-BBD166F9A8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B9A34703-21CB-A7F6-D37B-F7AB9FB15E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4E09774D-22B8-47C5-70BC-6B47394A94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403232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F7E2106-0598-E0D4-5236-9F3122139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1A331A2E-CB85-2B39-CB24-A01BA70E0C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A0D88FDE-9834-89C9-BB0C-F66ECB145A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6C640285-09C1-8172-4DEB-FD60B67C2A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594674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778EB8D-A95D-14D2-29AC-F86BD688B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5E2E0993-877D-0785-5EBF-DA3DC4D2CF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ECE06CBC-7E1F-0D16-4E8E-DB0410829C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81934CB2-150D-7F2A-E7DD-59D5ECA53F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97251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7E33A7F-6356-3AE6-C3AF-4A5DA44CC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F1E20024-5E3A-D111-2CC5-373B0A972A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26468E22-BFE9-E639-25E1-5C0E2AE36B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C0D78A36-7EA9-2B6E-2700-7E1AD69EABC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833062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74AE4BC-A9AD-CE6D-FA58-CF1E32016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7D86CFA2-D9F2-D94A-5B9F-EDF6982DC9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3076658E-555F-C123-A3D4-AA11DED09C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7DA8601C-840E-2E23-0C33-22A95F8138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10524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4FAAA68-DD10-0248-D0AA-916801B01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AB349E41-5F48-AB67-49FA-358C6023BA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96BC3B79-3E62-D7C8-82B5-6D461D56E5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65BE769D-80BB-5FFC-F971-84DB9CD904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53072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D7BF8EC-9C57-C984-DBE4-C764C75F7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A8795DE0-DD82-8975-EA01-6C89C0FEA6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35321FFE-9145-1806-AA12-B290344D73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EABAAC11-98BC-8A98-0FD6-A6999024DC3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932868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15e58772ac3_4_1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4" name="Google Shape;444;g15e58772ac3_4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84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656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656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656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4607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2D58A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 lang="en-US" dirty="0"/>
          </a:p>
        </p:txBody>
      </p:sp>
      <p:sp>
        <p:nvSpPr>
          <p:cNvPr id="22" name="Google Shape;22;p2"/>
          <p:cNvSpPr txBox="1">
            <a:spLocks noGrp="1"/>
          </p:cNvSpPr>
          <p:nvPr>
            <p:ph type="sldNum" idx="12"/>
          </p:nvPr>
        </p:nvSpPr>
        <p:spPr>
          <a:xfrm>
            <a:off x="10174778" y="5956137"/>
            <a:ext cx="13999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Google Shape;23;p2"/>
          <p:cNvSpPr>
            <a:spLocks noGrp="1"/>
          </p:cNvSpPr>
          <p:nvPr>
            <p:ph type="pic" idx="2"/>
          </p:nvPr>
        </p:nvSpPr>
        <p:spPr>
          <a:xfrm>
            <a:off x="446534" y="5681499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Section 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7605952" y="5956137"/>
            <a:ext cx="237763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2D58A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 lang="en-US" dirty="0"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10133216" y="5956137"/>
            <a:ext cx="14775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5346" y="5956136"/>
            <a:ext cx="413332" cy="348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Title and Conte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" name="Google Shape;40;p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ill Sans"/>
              <a:buNone/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Wingdings" panose="05000000000000000000" pitchFamily="2" charset="2"/>
              <a:buChar char="§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Wingdings" panose="05000000000000000000" pitchFamily="2" charset="2"/>
              <a:buChar char="§"/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Wingdings" panose="05000000000000000000" pitchFamily="2" charset="2"/>
              <a:buChar char="§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Wingdings" panose="05000000000000000000" pitchFamily="2" charset="2"/>
              <a:buChar char="§"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dirty="0"/>
          </a:p>
        </p:txBody>
      </p:sp>
      <p:sp>
        <p:nvSpPr>
          <p:cNvPr id="42" name="Google Shape;42;p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 lang="en-US" dirty="0"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10558298" y="5951811"/>
            <a:ext cx="1470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Gill Sans"/>
              </a:defRPr>
            </a:lvl1pPr>
            <a:lvl2pPr marL="0" marR="0" lvl="1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Google Shape;13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14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6" name="Google Shape;16;p1"/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86740" y="5978817"/>
            <a:ext cx="413332" cy="34811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6534" y="6791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400" b="0" i="0" u="none" strike="noStrike" cap="none">
          <a:solidFill>
            <a:schemeClr val="bg1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88392" marR="0" lvl="0" indent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sEia9amaiMQWjvaZTwWO9kiUSfTxQE2C/view?usp=drive_link" TargetMode="External"/><Relationship Id="rId3" Type="http://schemas.openxmlformats.org/officeDocument/2006/relationships/hyperlink" Target="https://drive.google.com/drive/folders/1McLweTG3S1V4XLKnwH-NG0NQF063ktet?usp=drive_link" TargetMode="External"/><Relationship Id="rId7" Type="http://schemas.openxmlformats.org/officeDocument/2006/relationships/hyperlink" Target="https://drive.google.com/file/d/1Dybq6aPieHo00DRFyhTrbHuDmJFOU7-f/view?usp=drive_link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rive.google.com/file/d/1CPtVN73IzRbvjc4CoOoir5nq02bsLND0/view?usp=drive_link" TargetMode="External"/><Relationship Id="rId5" Type="http://schemas.openxmlformats.org/officeDocument/2006/relationships/hyperlink" Target="https://drive.google.com/file/d/1ybWQ6SSQJN-SGUks7QRq6mgFWdr-xpEX/view?usp=drive_link" TargetMode="External"/><Relationship Id="rId4" Type="http://schemas.openxmlformats.org/officeDocument/2006/relationships/hyperlink" Target="https://drive.google.com/file/d/1gqZJMDWLl5HTc_cITPUVrDGEMHHWfzI6/view?usp=drive_link" TargetMode="External"/><Relationship Id="rId9" Type="http://schemas.openxmlformats.org/officeDocument/2006/relationships/hyperlink" Target="https://drive.google.com/file/d/1I_Am92l0MgT-YvuuRj36__bZstgAe4sx/view?usp=drive_link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hengmatt.github.io/SPoRC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hengmatt.github.io/SPoRC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emf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dgoethel-noaa/2025_Sablefish_SAFE/tree/main/Sept%20PT%20Model%20Runs/25_1_SPoRC_Cont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tif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7" Type="http://schemas.openxmlformats.org/officeDocument/2006/relationships/image" Target="../media/image4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jpeg"/><Relationship Id="rId5" Type="http://schemas.openxmlformats.org/officeDocument/2006/relationships/image" Target="../media/image41.jpeg"/><Relationship Id="rId4" Type="http://schemas.openxmlformats.org/officeDocument/2006/relationships/image" Target="../media/image4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12405" y="3622990"/>
            <a:ext cx="3509818" cy="2632363"/>
          </a:xfrm>
          <a:prstGeom prst="rect">
            <a:avLst/>
          </a:prstGeom>
        </p:spPr>
      </p:pic>
      <p:sp>
        <p:nvSpPr>
          <p:cNvPr id="94" name="Google Shape;94;p12"/>
          <p:cNvSpPr txBox="1">
            <a:spLocks noGrp="1"/>
          </p:cNvSpPr>
          <p:nvPr>
            <p:ph type="ctrTitle"/>
          </p:nvPr>
        </p:nvSpPr>
        <p:spPr>
          <a:xfrm>
            <a:off x="572386" y="504032"/>
            <a:ext cx="8347496" cy="155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ts val="4000"/>
              <a:buFont typeface="Gill Sans"/>
              <a:buNone/>
            </a:pPr>
            <a:r>
              <a:rPr lang="en-US" sz="3100" b="1" dirty="0">
                <a:latin typeface="Arial"/>
                <a:ea typeface="Arial"/>
                <a:cs typeface="Arial"/>
                <a:sym typeface="Arial"/>
              </a:rPr>
              <a:t>Sablefish Assessment General Methodology</a:t>
            </a:r>
            <a:endParaRPr sz="31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ts val="4000"/>
              <a:buFont typeface="Gill Sans"/>
              <a:buNone/>
            </a:pPr>
            <a:r>
              <a:rPr lang="en-US" sz="2700" dirty="0">
                <a:latin typeface="Arial"/>
                <a:ea typeface="Arial"/>
                <a:cs typeface="Arial"/>
                <a:sym typeface="Arial"/>
              </a:rPr>
              <a:t>2026 CIE Review</a:t>
            </a:r>
            <a:endParaRPr sz="27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2"/>
          <p:cNvSpPr txBox="1">
            <a:spLocks noGrp="1"/>
          </p:cNvSpPr>
          <p:nvPr>
            <p:ph type="subTitle" idx="1"/>
          </p:nvPr>
        </p:nvSpPr>
        <p:spPr>
          <a:xfrm>
            <a:off x="447261" y="2223247"/>
            <a:ext cx="7599459" cy="74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Daniel Goethel and Matt Cheng</a:t>
            </a:r>
          </a:p>
        </p:txBody>
      </p:sp>
      <p:pic>
        <p:nvPicPr>
          <p:cNvPr id="96" name="Google Shape;96;p12"/>
          <p:cNvPicPr preferRelativeResize="0"/>
          <p:nvPr/>
        </p:nvPicPr>
        <p:blipFill rotWithShape="1">
          <a:blip r:embed="rId4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19136" y="932441"/>
            <a:ext cx="3733985" cy="3144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2"/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05691" y="5513990"/>
            <a:ext cx="1556418" cy="54319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2"/>
          <p:cNvSpPr txBox="1"/>
          <p:nvPr/>
        </p:nvSpPr>
        <p:spPr>
          <a:xfrm>
            <a:off x="2329361" y="3103632"/>
            <a:ext cx="245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June 2026</a:t>
            </a:r>
            <a:endParaRPr b="1" dirty="0">
              <a:solidFill>
                <a:schemeClr val="bg1"/>
              </a:solidFill>
            </a:endParaRPr>
          </a:p>
        </p:txBody>
      </p:sp>
      <p:pic>
        <p:nvPicPr>
          <p:cNvPr id="9" name="Picture 2" descr="USS Sablefish SS-303 Patch | Flying Tigers Surplus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2386" y="3611512"/>
            <a:ext cx="2643870" cy="263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71709" y="3622990"/>
            <a:ext cx="3502805" cy="26271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2230D923-5B34-43AA-9365-6642888C1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560" y="2329654"/>
            <a:ext cx="6368034" cy="3398520"/>
          </a:xfrm>
          <a:prstGeom prst="rect">
            <a:avLst/>
          </a:prstGeom>
        </p:spPr>
      </p:pic>
      <p:sp>
        <p:nvSpPr>
          <p:cNvPr id="105" name="Google Shape;105;p13"/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Google Shape;106;p1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97C9435-178B-1344-E77A-831E27C0F540}"/>
              </a:ext>
            </a:extLst>
          </p:cNvPr>
          <p:cNvSpPr/>
          <p:nvPr/>
        </p:nvSpPr>
        <p:spPr>
          <a:xfrm>
            <a:off x="3182471" y="3092826"/>
            <a:ext cx="5477435" cy="2330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374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56BF5499-7FD6-5E45-F4D3-740B60C65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844132BD-75DA-BCF0-7851-977792915B7C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4DEC0854-9471-39EB-7FDA-3985A54A94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of Operations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Google Shape;106;p13">
            <a:extLst>
              <a:ext uri="{FF2B5EF4-FFF2-40B4-BE49-F238E27FC236}">
                <a16:creationId xmlns:a16="http://schemas.microsoft.com/office/drawing/2014/main" id="{F4F1E975-B796-0CCF-39A1-A91DD10A7E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08;p13">
            <a:extLst>
              <a:ext uri="{FF2B5EF4-FFF2-40B4-BE49-F238E27FC236}">
                <a16:creationId xmlns:a16="http://schemas.microsoft.com/office/drawing/2014/main" id="{F455DF11-52A1-AAE5-A02D-9065DBD2C8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892855"/>
            <a:ext cx="4893354" cy="47948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Now</a:t>
            </a:r>
            <a:r>
              <a:rPr lang="en-US" dirty="0"/>
              <a:t>: Background on general assessment framework common to all model types </a:t>
            </a:r>
            <a:br>
              <a:rPr lang="en-US" dirty="0"/>
            </a:br>
            <a:r>
              <a:rPr lang="en-US" dirty="0"/>
              <a:t>(</a:t>
            </a:r>
            <a:r>
              <a:rPr lang="en-US" b="1" dirty="0"/>
              <a:t>2026 SAFE, Appendix 3A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Age structured SCAA</a:t>
            </a:r>
          </a:p>
          <a:p>
            <a:pPr lvl="1"/>
            <a:r>
              <a:rPr lang="en-US" dirty="0" err="1"/>
              <a:t>SPoRC</a:t>
            </a:r>
            <a:r>
              <a:rPr lang="en-US" dirty="0"/>
              <a:t> assessment platform</a:t>
            </a:r>
          </a:p>
          <a:p>
            <a:pPr lvl="1"/>
            <a:r>
              <a:rPr lang="en-US" dirty="0"/>
              <a:t>Key assumptions/structure</a:t>
            </a:r>
          </a:p>
          <a:p>
            <a:r>
              <a:rPr lang="en-US" b="1" dirty="0">
                <a:solidFill>
                  <a:srgbClr val="00B050"/>
                </a:solidFill>
              </a:rPr>
              <a:t>Tomorrow Morning</a:t>
            </a:r>
            <a:r>
              <a:rPr lang="en-US" dirty="0"/>
              <a:t>: Summary of closed loop simulations used to identify robust model structures (</a:t>
            </a:r>
            <a:r>
              <a:rPr lang="en-US" b="1" dirty="0"/>
              <a:t>Appendix 3E</a:t>
            </a:r>
            <a:r>
              <a:rPr lang="en-US" dirty="0"/>
              <a:t>)</a:t>
            </a:r>
          </a:p>
          <a:p>
            <a:r>
              <a:rPr lang="en-US" b="1" dirty="0">
                <a:solidFill>
                  <a:srgbClr val="FFC000"/>
                </a:solidFill>
              </a:rPr>
              <a:t>Tomorrow Afternoon</a:t>
            </a:r>
            <a:r>
              <a:rPr lang="en-US" dirty="0"/>
              <a:t>: Model development (</a:t>
            </a:r>
            <a:r>
              <a:rPr lang="en-US" b="1" dirty="0"/>
              <a:t>Appendices 3B, 3C</a:t>
            </a:r>
            <a:r>
              <a:rPr lang="en-US" dirty="0"/>
              <a:t>) and final model results </a:t>
            </a:r>
            <a:br>
              <a:rPr lang="en-US" dirty="0"/>
            </a:br>
            <a:r>
              <a:rPr lang="en-US" dirty="0"/>
              <a:t>(</a:t>
            </a:r>
            <a:r>
              <a:rPr lang="en-US" b="1" dirty="0"/>
              <a:t>2026 SAFE, Appendix 3C</a:t>
            </a:r>
            <a:r>
              <a:rPr lang="en-US" dirty="0"/>
              <a:t>)</a:t>
            </a:r>
          </a:p>
          <a:p>
            <a:r>
              <a:rPr lang="en-US" b="1" dirty="0">
                <a:solidFill>
                  <a:srgbClr val="0070C0"/>
                </a:solidFill>
              </a:rPr>
              <a:t>Wednesday</a:t>
            </a:r>
            <a:r>
              <a:rPr lang="en-US" dirty="0"/>
              <a:t>: Spatial model development, results, and ongoing work </a:t>
            </a:r>
            <a:br>
              <a:rPr lang="en-US" dirty="0"/>
            </a:br>
            <a:r>
              <a:rPr lang="en-US" dirty="0"/>
              <a:t>(</a:t>
            </a:r>
            <a:r>
              <a:rPr lang="en-US" b="1" dirty="0"/>
              <a:t>Appendix 3D</a:t>
            </a:r>
            <a:r>
              <a:rPr lang="en-US" dirty="0"/>
              <a:t>)</a:t>
            </a:r>
          </a:p>
          <a:p>
            <a:pPr lvl="1"/>
            <a:endParaRPr lang="en-US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lvl="1">
              <a:spcBef>
                <a:spcPts val="1000"/>
              </a:spcBef>
              <a:spcAft>
                <a:spcPts val="1000"/>
              </a:spcAft>
            </a:pPr>
            <a:endParaRPr lang="en-US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3" name="Google Shape;108;p13">
            <a:extLst>
              <a:ext uri="{FF2B5EF4-FFF2-40B4-BE49-F238E27FC236}">
                <a16:creationId xmlns:a16="http://schemas.microsoft.com/office/drawing/2014/main" id="{7C0B4B22-B696-A912-69C4-5EC3D96E61D3}"/>
              </a:ext>
            </a:extLst>
          </p:cNvPr>
          <p:cNvSpPr txBox="1">
            <a:spLocks/>
          </p:cNvSpPr>
          <p:nvPr/>
        </p:nvSpPr>
        <p:spPr>
          <a:xfrm>
            <a:off x="5421985" y="1771290"/>
            <a:ext cx="5924258" cy="4542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Wingdings" panose="05000000000000000000" pitchFamily="2" charset="2"/>
              <a:buChar char="§"/>
              <a:defRPr sz="2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marL="914400" marR="0" lvl="1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Wingdings" panose="05000000000000000000" pitchFamily="2" charset="2"/>
              <a:buChar char="§"/>
              <a:defRPr sz="18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defRPr>
            </a:lvl2pPr>
            <a:lvl3pPr marL="1371600" marR="0" lvl="2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Wingdings" panose="05000000000000000000" pitchFamily="2" charset="2"/>
              <a:buChar char="§"/>
              <a:def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defRPr>
            </a:lvl3pPr>
            <a:lvl4pPr marL="1828800" marR="0" lvl="3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Wingdings" panose="05000000000000000000" pitchFamily="2" charset="2"/>
              <a:buChar char="§"/>
              <a:defRPr sz="12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defRPr>
            </a:lvl4pPr>
            <a:lvl5pPr marL="2286000" marR="0" lvl="4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56"/>
              <a:buFont typeface="Arial"/>
              <a:buChar char="◼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56"/>
              <a:buFont typeface="Arial"/>
              <a:buChar char="◼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56"/>
              <a:buFont typeface="Arial"/>
              <a:buChar char="◼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56"/>
              <a:buFont typeface="Arial"/>
              <a:buChar char="◼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3756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656"/>
              <a:buFont typeface="Arial"/>
              <a:buChar char="◼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3444" indent="0" algn="ctr">
              <a:buNone/>
            </a:pPr>
            <a:r>
              <a:rPr lang="en-US" b="1" dirty="0"/>
              <a:t>Documents For Review (available </a:t>
            </a:r>
            <a:r>
              <a:rPr lang="en-US" b="1" u="sng" dirty="0">
                <a:hlinkClick r:id="rId3"/>
              </a:rPr>
              <a:t>here</a:t>
            </a:r>
            <a:r>
              <a:rPr lang="en-US" b="1" dirty="0"/>
              <a:t>)</a:t>
            </a:r>
            <a:endParaRPr lang="en-US" dirty="0"/>
          </a:p>
          <a:p>
            <a:pPr lvl="0"/>
            <a:r>
              <a:rPr lang="en-US" b="1" dirty="0"/>
              <a:t>2026 Assessment of the Sablefish Stock in Alaska: 2026 Center for Independent Experts (CIE) Review Document (</a:t>
            </a:r>
            <a:r>
              <a:rPr lang="en-US" b="1" u="sng" dirty="0">
                <a:hlinkClick r:id="rId4"/>
              </a:rPr>
              <a:t>here</a:t>
            </a:r>
            <a:r>
              <a:rPr lang="en-US" b="1" dirty="0"/>
              <a:t>)</a:t>
            </a:r>
          </a:p>
          <a:p>
            <a:pPr lvl="0"/>
            <a:r>
              <a:rPr lang="en-US" dirty="0"/>
              <a:t>Appendix 3A. The Spatial Population over Regional Components (</a:t>
            </a:r>
            <a:r>
              <a:rPr lang="en-US" dirty="0" err="1"/>
              <a:t>SPoRC</a:t>
            </a:r>
            <a:r>
              <a:rPr lang="en-US" dirty="0"/>
              <a:t>) Model: Technical Description of the Assessment Model for Sablefish (</a:t>
            </a:r>
            <a:r>
              <a:rPr lang="en-US" u="sng" dirty="0">
                <a:hlinkClick r:id="rId5"/>
              </a:rPr>
              <a:t>here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Appendix 3B. Model Building and Bridging Exercise for the Sablefish Single Region Models (Bridging from Model </a:t>
            </a:r>
            <a:r>
              <a:rPr lang="en-US" i="1" dirty="0"/>
              <a:t>25.12</a:t>
            </a:r>
            <a:r>
              <a:rPr lang="en-US" dirty="0"/>
              <a:t> to </a:t>
            </a:r>
            <a:r>
              <a:rPr lang="en-US" i="1" dirty="0"/>
              <a:t>26.1_1Reg</a:t>
            </a:r>
            <a:r>
              <a:rPr lang="en-US" dirty="0"/>
              <a:t>) (</a:t>
            </a:r>
            <a:r>
              <a:rPr lang="en-US" u="sng" dirty="0">
                <a:hlinkClick r:id="rId6"/>
              </a:rPr>
              <a:t>here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Appendix 3C. Development of a Fleets-as-Areas (FAA) Stock Assessment Model for Alaska Sablefish (</a:t>
            </a:r>
            <a:r>
              <a:rPr lang="en-US" i="1" dirty="0"/>
              <a:t>Model 26.2_FAA</a:t>
            </a:r>
            <a:r>
              <a:rPr lang="en-US" dirty="0"/>
              <a:t>) (</a:t>
            </a:r>
            <a:r>
              <a:rPr lang="en-US" u="sng" dirty="0">
                <a:hlinkClick r:id="rId7"/>
              </a:rPr>
              <a:t>here</a:t>
            </a:r>
            <a:r>
              <a:rPr lang="en-US" dirty="0"/>
              <a:t>)</a:t>
            </a:r>
          </a:p>
          <a:p>
            <a:pPr lvl="0"/>
            <a:r>
              <a:rPr lang="en-US" b="1" dirty="0"/>
              <a:t>Appendix 3D. Results of Spatial Stock Assessment Models for Alaska Sablefish (</a:t>
            </a:r>
            <a:r>
              <a:rPr lang="en-US" b="1" u="sng" dirty="0">
                <a:hlinkClick r:id="rId8"/>
              </a:rPr>
              <a:t>here</a:t>
            </a:r>
            <a:r>
              <a:rPr lang="en-US" b="1" dirty="0"/>
              <a:t>)</a:t>
            </a:r>
          </a:p>
          <a:p>
            <a:pPr lvl="0"/>
            <a:r>
              <a:rPr lang="en-US" b="1" dirty="0"/>
              <a:t>Appendix 3E. Evaluating Alternative Assessment Structures for Alaska Sablefish Under Survey Design Changes via Closed-Loop Simulation (</a:t>
            </a:r>
            <a:r>
              <a:rPr lang="en-US" b="1" u="sng" dirty="0">
                <a:hlinkClick r:id="rId9"/>
              </a:rPr>
              <a:t>here</a:t>
            </a:r>
            <a:r>
              <a:rPr lang="en-US" b="1" dirty="0"/>
              <a:t>)</a:t>
            </a:r>
          </a:p>
          <a:p>
            <a:pPr lvl="1"/>
            <a:endParaRPr lang="en-US" dirty="0"/>
          </a:p>
          <a:p>
            <a:pPr lvl="1">
              <a:spcBef>
                <a:spcPts val="1000"/>
              </a:spcBef>
              <a:spcAft>
                <a:spcPts val="1000"/>
              </a:spcAft>
            </a:pP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72CB9E-D2E7-1FE0-B089-9A60EED9456A}"/>
              </a:ext>
            </a:extLst>
          </p:cNvPr>
          <p:cNvSpPr/>
          <p:nvPr/>
        </p:nvSpPr>
        <p:spPr>
          <a:xfrm>
            <a:off x="5889807" y="2088770"/>
            <a:ext cx="6133272" cy="134022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7D61CB-5DB9-A393-8414-32A0FC87C19F}"/>
              </a:ext>
            </a:extLst>
          </p:cNvPr>
          <p:cNvSpPr/>
          <p:nvPr/>
        </p:nvSpPr>
        <p:spPr>
          <a:xfrm>
            <a:off x="5889807" y="4782810"/>
            <a:ext cx="6133272" cy="44819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9BFE05-52E7-FCC5-B938-E2BA3D175F3E}"/>
              </a:ext>
            </a:extLst>
          </p:cNvPr>
          <p:cNvSpPr txBox="1"/>
          <p:nvPr/>
        </p:nvSpPr>
        <p:spPr>
          <a:xfrm>
            <a:off x="11225220" y="4831150"/>
            <a:ext cx="7978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Day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F8580E-A14C-02B5-C5F0-707CB9163F97}"/>
              </a:ext>
            </a:extLst>
          </p:cNvPr>
          <p:cNvSpPr txBox="1"/>
          <p:nvPr/>
        </p:nvSpPr>
        <p:spPr>
          <a:xfrm>
            <a:off x="11259666" y="5421809"/>
            <a:ext cx="7978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Day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04F812-8533-EFF0-33B9-0A7929E7F8FC}"/>
              </a:ext>
            </a:extLst>
          </p:cNvPr>
          <p:cNvSpPr txBox="1"/>
          <p:nvPr/>
        </p:nvSpPr>
        <p:spPr>
          <a:xfrm>
            <a:off x="11225220" y="2154110"/>
            <a:ext cx="7978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Days 1-2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E857D4-5916-C704-D155-1190A8E0F603}"/>
              </a:ext>
            </a:extLst>
          </p:cNvPr>
          <p:cNvSpPr/>
          <p:nvPr/>
        </p:nvSpPr>
        <p:spPr>
          <a:xfrm>
            <a:off x="5889807" y="5271154"/>
            <a:ext cx="6133272" cy="66347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F4B2D5-39A7-E3AE-3FD0-15C097167646}"/>
              </a:ext>
            </a:extLst>
          </p:cNvPr>
          <p:cNvSpPr/>
          <p:nvPr/>
        </p:nvSpPr>
        <p:spPr>
          <a:xfrm>
            <a:off x="5886928" y="3452406"/>
            <a:ext cx="6133272" cy="130537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BE2F0E-F64F-E024-ED90-76278628A26B}"/>
              </a:ext>
            </a:extLst>
          </p:cNvPr>
          <p:cNvSpPr txBox="1"/>
          <p:nvPr/>
        </p:nvSpPr>
        <p:spPr>
          <a:xfrm>
            <a:off x="11259665" y="3966972"/>
            <a:ext cx="7978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Day 2</a:t>
            </a:r>
          </a:p>
        </p:txBody>
      </p:sp>
    </p:spTree>
    <p:extLst>
      <p:ext uri="{BB962C8B-B14F-4D97-AF65-F5344CB8AC3E}">
        <p14:creationId xmlns:p14="http://schemas.microsoft.com/office/powerpoint/2010/main" val="1301883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ED938C9F-5BB3-6805-89C9-B681DE7F1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BE1F5991-5B77-8000-D385-9092B8EE473B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C9965E06-17DC-F8B2-1082-585CC57E30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/>
              <a:t>Assessment Biological and Fishery Considerations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338854-E7AF-A7C8-09F3-0ED36E1DF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3" y="2259105"/>
            <a:ext cx="8392478" cy="4455459"/>
          </a:xfrm>
        </p:spPr>
        <p:txBody>
          <a:bodyPr>
            <a:normAutofit/>
          </a:bodyPr>
          <a:lstStyle/>
          <a:p>
            <a:r>
              <a:rPr lang="en-US" dirty="0"/>
              <a:t>Long-lived (low </a:t>
            </a:r>
            <a:r>
              <a:rPr lang="en-US" i="1" dirty="0"/>
              <a:t>M</a:t>
            </a:r>
            <a:r>
              <a:rPr lang="en-US" dirty="0"/>
              <a:t>) and difficult to age (aging error matrix)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distributed (AK-wide assessment) but no population structure (single population)</a:t>
            </a:r>
          </a:p>
          <a:p>
            <a:r>
              <a:rPr lang="en-US" dirty="0"/>
              <a:t>High mobility with ontogenetic migrations (differential availability to fishery/surveys across regions)</a:t>
            </a:r>
          </a:p>
          <a:p>
            <a:r>
              <a:rPr lang="en-US" dirty="0"/>
              <a:t>Spasmodic and cyclic recruitment (lack of a well-defined SRR)</a:t>
            </a:r>
          </a:p>
          <a:p>
            <a:r>
              <a:rPr lang="en-US" dirty="0"/>
              <a:t>Sexually dimorphic (sex-specific growth/selectivity)</a:t>
            </a:r>
          </a:p>
          <a:p>
            <a:r>
              <a:rPr lang="en-US" dirty="0"/>
              <a:t>Multiple fisheries with different interactions with sablefish (multiple fleets with different selectivity)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72177C7-C1EB-718A-2DF5-C21A9CA32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30366" y="3818961"/>
            <a:ext cx="2907927" cy="2904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718DBEA-3585-CDFA-FE34-3FF6BAD71036}"/>
              </a:ext>
            </a:extLst>
          </p:cNvPr>
          <p:cNvSpPr txBox="1"/>
          <p:nvPr/>
        </p:nvSpPr>
        <p:spPr>
          <a:xfrm>
            <a:off x="10416988" y="6406788"/>
            <a:ext cx="6723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ALFA</a:t>
            </a:r>
          </a:p>
        </p:txBody>
      </p:sp>
      <p:pic>
        <p:nvPicPr>
          <p:cNvPr id="1032" name="Picture 8" descr="Swarmed by Sablefish | NA128">
            <a:extLst>
              <a:ext uri="{FF2B5EF4-FFF2-40B4-BE49-F238E27FC236}">
                <a16:creationId xmlns:a16="http://schemas.microsoft.com/office/drawing/2014/main" id="{C6436156-1D3C-4186-A17A-1F341B09D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30366" y="2029208"/>
            <a:ext cx="2902336" cy="1632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5714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Data and Modeling Considerations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Google Shape;108;p13"/>
          <p:cNvSpPr txBox="1">
            <a:spLocks noGrp="1"/>
          </p:cNvSpPr>
          <p:nvPr>
            <p:ph type="body" idx="1"/>
          </p:nvPr>
        </p:nvSpPr>
        <p:spPr>
          <a:xfrm>
            <a:off x="581192" y="2330823"/>
            <a:ext cx="8293867" cy="433891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>
                <a:ea typeface="Arial"/>
              </a:rPr>
              <a:t>How best to handle recent changes in NOAA Longline Survey (LLS) design?</a:t>
            </a:r>
          </a:p>
          <a:p>
            <a:r>
              <a:rPr lang="en-US" dirty="0"/>
              <a:t>Should a fleets-as-areas (FAA) model be used to avoid extrapolating LLS indices? (</a:t>
            </a:r>
            <a:r>
              <a:rPr lang="en-US" dirty="0" err="1"/>
              <a:t>ToR</a:t>
            </a:r>
            <a:r>
              <a:rPr lang="en-US" dirty="0"/>
              <a:t> 1+2)</a:t>
            </a:r>
          </a:p>
          <a:p>
            <a:r>
              <a:rPr lang="en-US" dirty="0"/>
              <a:t>Are best practices for modeling sex- and fleet-structure being used in the assessment?</a:t>
            </a:r>
          </a:p>
          <a:p>
            <a:r>
              <a:rPr lang="en-US" dirty="0"/>
              <a:t>Which data should be included in the assessment (e.g., indices, length compositions)?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59FD7D-E71A-4ECB-9C29-AC6B9E843E8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19191" y="2235883"/>
            <a:ext cx="2673686" cy="20537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9305BB-AEFE-4C02-964D-5455EBDF9DE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19629" y="4621895"/>
            <a:ext cx="2672809" cy="16265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6" name="Google Shape;106;p1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/>
              <a:t>The </a:t>
            </a:r>
            <a:r>
              <a:rPr lang="en-US" sz="3600" dirty="0" err="1"/>
              <a:t>SPoRC</a:t>
            </a:r>
            <a:r>
              <a:rPr lang="en-US" sz="3600" dirty="0"/>
              <a:t> Assessment Package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Google Shape;108;p13"/>
          <p:cNvSpPr txBox="1">
            <a:spLocks noGrp="1"/>
          </p:cNvSpPr>
          <p:nvPr>
            <p:ph type="body" idx="1"/>
          </p:nvPr>
        </p:nvSpPr>
        <p:spPr>
          <a:xfrm>
            <a:off x="445949" y="1892855"/>
            <a:ext cx="7129227" cy="33156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Stochastic (S) Population (P) over (o) Regional (R) Components (C)</a:t>
            </a:r>
          </a:p>
          <a:p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Stock assessment platform written in R and R-TMB</a:t>
            </a:r>
          </a:p>
          <a:p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Generalized statistical catch-at-age model with spatial, sex, and fleet-structure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Supports random effects (Laplace Approximation) and Bayesian inference (</a:t>
            </a:r>
            <a:r>
              <a:rPr lang="en-US" dirty="0" err="1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rstan</a:t>
            </a: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)</a:t>
            </a:r>
          </a:p>
          <a:p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Includes comprehensive stock assessment model diagnostics and simulation tools</a:t>
            </a:r>
          </a:p>
          <a:p>
            <a:r>
              <a:rPr lang="en-US" dirty="0">
                <a:ea typeface="Arial"/>
              </a:rPr>
              <a:t>Thoroughly documented!</a:t>
            </a:r>
            <a:endParaRPr lang="en-US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lvl="1"/>
            <a:endParaRPr lang="en-US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B95434-A718-857D-3148-CB751816ADEF}"/>
              </a:ext>
            </a:extLst>
          </p:cNvPr>
          <p:cNvSpPr txBox="1"/>
          <p:nvPr/>
        </p:nvSpPr>
        <p:spPr>
          <a:xfrm>
            <a:off x="7824502" y="5306279"/>
            <a:ext cx="4367498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hlinkClick r:id="rId3"/>
              </a:rPr>
              <a:t>https://chengmatt.github.io/SPoRC/</a:t>
            </a:r>
            <a:endParaRPr lang="en-US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721A6E0-1D39-A4BC-E609-D7F6BDCF6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5718" y="5088359"/>
            <a:ext cx="5082987" cy="1769641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E6024E-1670-2294-85B0-2BE6D221DD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5176" y="2326554"/>
            <a:ext cx="4552227" cy="28708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80AF61-60DE-DAB2-9919-AAD801B3845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25952" y="3345601"/>
            <a:ext cx="1435751" cy="1656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661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311B84CC-4461-A7B3-B359-AD471DA9F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FADE4F38-E801-C6E5-DA85-B12515526C23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6" name="Google Shape;106;p13">
            <a:extLst>
              <a:ext uri="{FF2B5EF4-FFF2-40B4-BE49-F238E27FC236}">
                <a16:creationId xmlns:a16="http://schemas.microsoft.com/office/drawing/2014/main" id="{688843F7-306C-5596-6E22-F33513F8E2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A3C405FC-51F1-BE1C-AB46-4DFBA750B0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/>
              <a:t>The </a:t>
            </a:r>
            <a:r>
              <a:rPr lang="en-US" sz="3600" dirty="0" err="1"/>
              <a:t>SPoRC</a:t>
            </a:r>
            <a:r>
              <a:rPr lang="en-US" sz="3600" dirty="0"/>
              <a:t> Assessment Package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Google Shape;108;p13">
            <a:extLst>
              <a:ext uri="{FF2B5EF4-FFF2-40B4-BE49-F238E27FC236}">
                <a16:creationId xmlns:a16="http://schemas.microsoft.com/office/drawing/2014/main" id="{74F51647-E50D-2E85-4B9C-049A7FC71E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5949" y="2079812"/>
            <a:ext cx="7129227" cy="43389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r>
              <a:rPr lang="en-US" dirty="0"/>
              <a:t>Motivated by the needs of Alaska sablefish</a:t>
            </a:r>
          </a:p>
          <a:p>
            <a:r>
              <a:rPr lang="en-US" dirty="0"/>
              <a:t>Previous models were implemented using custom ADMB code</a:t>
            </a:r>
          </a:p>
          <a:p>
            <a:pPr lvl="1"/>
            <a:r>
              <a:rPr lang="en-US" dirty="0"/>
              <a:t>Difficult to update yearly and keep pace with research and fishery dynamics</a:t>
            </a:r>
          </a:p>
          <a:p>
            <a:r>
              <a:rPr lang="en-US" dirty="0"/>
              <a:t>Needed a next-generation model that:</a:t>
            </a:r>
          </a:p>
          <a:p>
            <a:pPr lvl="1"/>
            <a:r>
              <a:rPr lang="en-US" dirty="0"/>
              <a:t>Incorporated sex-structure, fleet-structure, and spatial dynamics</a:t>
            </a:r>
          </a:p>
          <a:p>
            <a:pPr lvl="1"/>
            <a:r>
              <a:rPr lang="en-US" dirty="0"/>
              <a:t>Readily transitioned between single-region and multi-region applications</a:t>
            </a:r>
          </a:p>
          <a:p>
            <a:pPr lvl="1"/>
            <a:r>
              <a:rPr lang="en-US" dirty="0"/>
              <a:t>Efficiently estimated random effects</a:t>
            </a:r>
          </a:p>
          <a:p>
            <a:pPr lvl="1"/>
            <a:r>
              <a:rPr lang="en-US" dirty="0"/>
              <a:t>Was modular, flexible, and ‘easy’ to contribute to</a:t>
            </a:r>
          </a:p>
          <a:p>
            <a:pPr lvl="1"/>
            <a:r>
              <a:rPr lang="en-US" dirty="0"/>
              <a:t>Had a fully functional assessment wrapper – catch projections, diagnostics, residual analysis, plotting functions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7FC810-8CBB-D0B8-DC78-334FB93789DA}"/>
              </a:ext>
            </a:extLst>
          </p:cNvPr>
          <p:cNvSpPr txBox="1"/>
          <p:nvPr/>
        </p:nvSpPr>
        <p:spPr>
          <a:xfrm>
            <a:off x="7712063" y="4930314"/>
            <a:ext cx="4367498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hlinkClick r:id="rId3"/>
              </a:rPr>
              <a:t>https://chengmatt.github.io/SPoRC/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28A619-FD3E-F65D-A582-BFAEB2855B9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1940" y="694043"/>
            <a:ext cx="878752" cy="1013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23921C-C2DF-0DD4-53F0-C38D954A71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8482" y="2451606"/>
            <a:ext cx="4608958" cy="225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841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574DAEE0-7F27-1F80-7807-B04EACA52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1EE71CBA-DEF8-6930-31B6-C8DDB27A75BD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6" name="Google Shape;106;p13">
            <a:extLst>
              <a:ext uri="{FF2B5EF4-FFF2-40B4-BE49-F238E27FC236}">
                <a16:creationId xmlns:a16="http://schemas.microsoft.com/office/drawing/2014/main" id="{202DF752-5CA0-B10F-EBD5-8B986A2A6EB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68E5C0CB-B95B-3132-C778-AA0BA89E46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SPoRC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Bridging From ADMB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Google Shape;108;p13">
            <a:extLst>
              <a:ext uri="{FF2B5EF4-FFF2-40B4-BE49-F238E27FC236}">
                <a16:creationId xmlns:a16="http://schemas.microsoft.com/office/drawing/2014/main" id="{5105EA4A-3491-17BC-DC9C-E69EA43AD8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33326" y="2277035"/>
            <a:ext cx="6838177" cy="40792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The bespoke ADMB was perfectly emulated in </a:t>
            </a:r>
            <a:r>
              <a:rPr lang="en-US" dirty="0" err="1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SPoRC</a:t>
            </a: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(R-TMB)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Relative differences within &lt; 0.001% for likelihood values, time-series estimates, selectivity, and key estimates (including reference points and management advice)</a:t>
            </a:r>
          </a:p>
          <a:p>
            <a:r>
              <a:rPr lang="en-US" dirty="0"/>
              <a:t>Reviewed and approved by NPFMC Plan Team and Statistical and Scientific Committee</a:t>
            </a:r>
          </a:p>
          <a:p>
            <a:r>
              <a:rPr lang="en-US" dirty="0"/>
              <a:t>Adopted for the basis of operational assessment in 2025</a:t>
            </a:r>
          </a:p>
          <a:p>
            <a:pPr lvl="1"/>
            <a:endParaRPr lang="en-US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lvl="1"/>
            <a:endParaRPr lang="en-US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7A7E19-2D4F-60B9-F33D-0F70CF604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811" y="2113782"/>
            <a:ext cx="4697389" cy="37579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E4B3041-81FC-C447-8F06-33E7479A87ED}"/>
              </a:ext>
            </a:extLst>
          </p:cNvPr>
          <p:cNvSpPr txBox="1"/>
          <p:nvPr/>
        </p:nvSpPr>
        <p:spPr>
          <a:xfrm>
            <a:off x="9442146" y="5107758"/>
            <a:ext cx="23164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25.1 Results GitHub </a:t>
            </a:r>
            <a:r>
              <a:rPr lang="en-US" dirty="0">
                <a:hlinkClick r:id="rId4"/>
              </a:rPr>
              <a:t>Link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111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320CDA71-12B5-0445-B314-DE63151DF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B73B21F4-DC73-912A-9781-140FABB5D021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6" name="Google Shape;106;p13">
            <a:extLst>
              <a:ext uri="{FF2B5EF4-FFF2-40B4-BE49-F238E27FC236}">
                <a16:creationId xmlns:a16="http://schemas.microsoft.com/office/drawing/2014/main" id="{8965B64E-1AB8-A4DC-2E29-4A2197C82E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95E194F6-FF56-0A1B-2DBB-1BA3A60CA6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Integration and Observation Processes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FB9C50-4D21-085F-FDE6-5BDB6E1D6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157" y="1873045"/>
            <a:ext cx="7374673" cy="4984955"/>
          </a:xfrm>
          <a:prstGeom prst="rect">
            <a:avLst/>
          </a:prstGeom>
        </p:spPr>
      </p:pic>
      <p:pic>
        <p:nvPicPr>
          <p:cNvPr id="12" name="Graphic 11" descr="Checkbox Checked with solid fill">
            <a:extLst>
              <a:ext uri="{FF2B5EF4-FFF2-40B4-BE49-F238E27FC236}">
                <a16:creationId xmlns:a16="http://schemas.microsoft.com/office/drawing/2014/main" id="{B9855167-7943-B99E-149E-46A1A31C8D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31330" y="2023819"/>
            <a:ext cx="504228" cy="504228"/>
          </a:xfrm>
          <a:prstGeom prst="rect">
            <a:avLst/>
          </a:prstGeom>
        </p:spPr>
      </p:pic>
      <p:pic>
        <p:nvPicPr>
          <p:cNvPr id="14" name="Graphic 13" descr="Checkbox Checked with solid fill">
            <a:extLst>
              <a:ext uri="{FF2B5EF4-FFF2-40B4-BE49-F238E27FC236}">
                <a16:creationId xmlns:a16="http://schemas.microsoft.com/office/drawing/2014/main" id="{9E78382E-7238-D067-51CB-F327D740BB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31330" y="2582863"/>
            <a:ext cx="504228" cy="504228"/>
          </a:xfrm>
          <a:prstGeom prst="rect">
            <a:avLst/>
          </a:prstGeom>
        </p:spPr>
      </p:pic>
      <p:pic>
        <p:nvPicPr>
          <p:cNvPr id="16" name="Graphic 15" descr="Checkbox Checked with solid fill">
            <a:extLst>
              <a:ext uri="{FF2B5EF4-FFF2-40B4-BE49-F238E27FC236}">
                <a16:creationId xmlns:a16="http://schemas.microsoft.com/office/drawing/2014/main" id="{D1ADEA5F-19B1-D5F7-7FB2-21C151BC64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31330" y="3087091"/>
            <a:ext cx="504228" cy="504228"/>
          </a:xfrm>
          <a:prstGeom prst="rect">
            <a:avLst/>
          </a:prstGeom>
        </p:spPr>
      </p:pic>
      <p:pic>
        <p:nvPicPr>
          <p:cNvPr id="18" name="Graphic 17" descr="Checkbox Checked with solid fill">
            <a:extLst>
              <a:ext uri="{FF2B5EF4-FFF2-40B4-BE49-F238E27FC236}">
                <a16:creationId xmlns:a16="http://schemas.microsoft.com/office/drawing/2014/main" id="{522E6AD4-FFD1-6E35-BE80-14EC22D9B3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31330" y="4329954"/>
            <a:ext cx="504228" cy="504228"/>
          </a:xfrm>
          <a:prstGeom prst="rect">
            <a:avLst/>
          </a:prstGeom>
        </p:spPr>
      </p:pic>
      <p:pic>
        <p:nvPicPr>
          <p:cNvPr id="20" name="Graphic 19" descr="Checkbox Checked with solid fill">
            <a:extLst>
              <a:ext uri="{FF2B5EF4-FFF2-40B4-BE49-F238E27FC236}">
                <a16:creationId xmlns:a16="http://schemas.microsoft.com/office/drawing/2014/main" id="{AC457D3F-6F80-49B5-9B63-84D27C9F53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31330" y="5215254"/>
            <a:ext cx="504228" cy="504228"/>
          </a:xfrm>
          <a:prstGeom prst="rect">
            <a:avLst/>
          </a:prstGeom>
        </p:spPr>
      </p:pic>
      <p:pic>
        <p:nvPicPr>
          <p:cNvPr id="22" name="Graphic 21" descr="Checkbox Checked with solid fill">
            <a:extLst>
              <a:ext uri="{FF2B5EF4-FFF2-40B4-BE49-F238E27FC236}">
                <a16:creationId xmlns:a16="http://schemas.microsoft.com/office/drawing/2014/main" id="{73ABAD68-4AB1-777E-CA22-54A439DD20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31330" y="5623220"/>
            <a:ext cx="504228" cy="504228"/>
          </a:xfrm>
          <a:prstGeom prst="rect">
            <a:avLst/>
          </a:prstGeom>
        </p:spPr>
      </p:pic>
      <p:pic>
        <p:nvPicPr>
          <p:cNvPr id="24" name="Graphic 23" descr="Checkbox Checked with solid fill">
            <a:extLst>
              <a:ext uri="{FF2B5EF4-FFF2-40B4-BE49-F238E27FC236}">
                <a16:creationId xmlns:a16="http://schemas.microsoft.com/office/drawing/2014/main" id="{A7E925F3-1614-4F7D-BC29-0832EADD12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31330" y="6200193"/>
            <a:ext cx="504228" cy="504228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8B299BF5-A09A-1835-44E5-D84F4E9D4C82}"/>
              </a:ext>
            </a:extLst>
          </p:cNvPr>
          <p:cNvSpPr/>
          <p:nvPr/>
        </p:nvSpPr>
        <p:spPr>
          <a:xfrm>
            <a:off x="4025153" y="3155576"/>
            <a:ext cx="1900518" cy="33169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E1EA4B7-3FC7-9D0E-88C9-B0B5B05EAA34}"/>
              </a:ext>
            </a:extLst>
          </p:cNvPr>
          <p:cNvSpPr/>
          <p:nvPr/>
        </p:nvSpPr>
        <p:spPr>
          <a:xfrm>
            <a:off x="5307106" y="3334871"/>
            <a:ext cx="528918" cy="941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872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00F5001B-F911-12CC-D501-A782EEA96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6B713AA9-6812-BE8E-DB8F-86C3811B93D6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6" name="Google Shape;106;p13">
            <a:extLst>
              <a:ext uri="{FF2B5EF4-FFF2-40B4-BE49-F238E27FC236}">
                <a16:creationId xmlns:a16="http://schemas.microsoft.com/office/drawing/2014/main" id="{2D16C741-9F0D-A2E7-535F-E6CE151236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A7ED1F0D-000C-E32D-CF91-0FF49AB2B6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and Fleet Structure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Google Shape;108;p13">
            <a:extLst>
              <a:ext uri="{FF2B5EF4-FFF2-40B4-BE49-F238E27FC236}">
                <a16:creationId xmlns:a16="http://schemas.microsoft.com/office/drawing/2014/main" id="{66FC0EAC-D420-3DE2-7EB4-2F931CD346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33327" y="1901196"/>
            <a:ext cx="6596124" cy="471475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Two primary models developed that differed only in fleet structure (implicit spatial structure):</a:t>
            </a:r>
          </a:p>
          <a:p>
            <a:pPr lvl="1" indent="-333375"/>
            <a:r>
              <a:rPr lang="en-US" i="1" dirty="0"/>
              <a:t>26.1_1Reg</a:t>
            </a:r>
            <a:r>
              <a:rPr lang="en-US" dirty="0"/>
              <a:t> – Single region panmictic model with no regional fleet structure</a:t>
            </a:r>
          </a:p>
          <a:p>
            <a:pPr lvl="2" indent="-333375"/>
            <a:r>
              <a:rPr lang="en-US" dirty="0"/>
              <a:t>All data aggregated to a single region</a:t>
            </a:r>
          </a:p>
          <a:p>
            <a:pPr lvl="2" indent="-333375"/>
            <a:r>
              <a:rPr lang="en-US" dirty="0"/>
              <a:t>Matches structure of assessment currently used for management advice (</a:t>
            </a:r>
            <a:r>
              <a:rPr lang="en-US" i="1" dirty="0"/>
              <a:t>25.12</a:t>
            </a:r>
            <a:r>
              <a:rPr lang="en-US" dirty="0"/>
              <a:t>)</a:t>
            </a:r>
          </a:p>
          <a:p>
            <a:pPr lvl="1" indent="-333375"/>
            <a:r>
              <a:rPr lang="en-US" i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26.2_FAA </a:t>
            </a: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– Single region Fleets-</a:t>
            </a:r>
            <a:r>
              <a:rPr lang="en-US" dirty="0"/>
              <a:t>as-Areas (FAA) model that implicitly accounts for regional heterogeneity/ availability/movement implicitly through NOAA Longline Survey fleet structure</a:t>
            </a:r>
          </a:p>
          <a:p>
            <a:pPr lvl="2" indent="-333375"/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All data aggregated to a single region </a:t>
            </a:r>
            <a:r>
              <a:rPr lang="en-US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except</a:t>
            </a: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NOAA Longline Survey indices and age compositions </a:t>
            </a:r>
          </a:p>
          <a:p>
            <a:pPr lvl="2" indent="-333375"/>
            <a:r>
              <a:rPr lang="en-US" dirty="0"/>
              <a:t>D</a:t>
            </a: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isaggregated by region – BS, AI, and GOA</a:t>
            </a:r>
          </a:p>
          <a:p>
            <a:pPr indent="-333375"/>
            <a:r>
              <a:rPr lang="en-US" dirty="0">
                <a:ea typeface="Arial"/>
              </a:rPr>
              <a:t>Rest of presentation describes general framework as applies to both models</a:t>
            </a:r>
            <a:endParaRPr lang="en-US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40D6111-B897-9594-95AB-E49EBE065C3B}"/>
              </a:ext>
            </a:extLst>
          </p:cNvPr>
          <p:cNvGrpSpPr/>
          <p:nvPr/>
        </p:nvGrpSpPr>
        <p:grpSpPr>
          <a:xfrm>
            <a:off x="7221069" y="3845641"/>
            <a:ext cx="4799131" cy="2770313"/>
            <a:chOff x="7341103" y="2181422"/>
            <a:chExt cx="4799131" cy="277031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6A9BE62-2FAF-4F55-EF3D-457FCBEA8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341103" y="2181422"/>
              <a:ext cx="4799131" cy="2770313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98AAC3E-7869-EF46-80B1-08B3C07E88E6}"/>
                </a:ext>
              </a:extLst>
            </p:cNvPr>
            <p:cNvSpPr/>
            <p:nvPr/>
          </p:nvSpPr>
          <p:spPr>
            <a:xfrm rot="20751309">
              <a:off x="9245878" y="3748099"/>
              <a:ext cx="2714302" cy="82797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Gulf of Alask (GOA)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BD3045C-332B-515A-D88F-4013F6E050F9}"/>
                </a:ext>
              </a:extLst>
            </p:cNvPr>
            <p:cNvSpPr/>
            <p:nvPr/>
          </p:nvSpPr>
          <p:spPr>
            <a:xfrm>
              <a:off x="7897907" y="3047875"/>
              <a:ext cx="4122294" cy="1770509"/>
            </a:xfrm>
            <a:prstGeom prst="ellipse">
              <a:avLst/>
            </a:prstGeom>
            <a:solidFill>
              <a:schemeClr val="lt1">
                <a:alpha val="49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 anchorCtr="0"/>
            <a:lstStyle/>
            <a:p>
              <a:pPr algn="ctr"/>
              <a:r>
                <a:rPr lang="en-US" b="1" dirty="0">
                  <a:solidFill>
                    <a:schemeClr val="accent6"/>
                  </a:solidFill>
                </a:rPr>
                <a:t>AK Sablefish Population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D0FBC2C7-B8E4-8CB3-1E69-FE2F9B7CBE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1069" y="1901196"/>
            <a:ext cx="2141034" cy="184354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ECFB997-0FFC-0220-42CE-5DBD7D1F00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8605" y="1897508"/>
            <a:ext cx="3003395" cy="185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007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6" name="Google Shape;106;p1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Summary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81077" y="1865401"/>
            <a:ext cx="11169093" cy="358405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data for 2026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bold</a:t>
            </a:r>
          </a:p>
          <a:p>
            <a:r>
              <a:rPr lang="en-US" dirty="0"/>
              <a:t>Whale depredation by area held constant at 2022 levels</a:t>
            </a:r>
          </a:p>
          <a:p>
            <a:r>
              <a:rPr lang="en-US" dirty="0"/>
              <a:t>AI and BS Regional NOAA Longline Surveys started in 1996 and 1997, respectively</a:t>
            </a:r>
          </a:p>
          <a:p>
            <a:r>
              <a:rPr lang="en-US" dirty="0"/>
              <a:t>Francis reweighting applied (Method TA1.8; accounting for correlations among bins)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29567" y="619125"/>
            <a:ext cx="2820603" cy="1566357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45C4C7E-C91D-419B-A7B0-3C58A10F9F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3642905"/>
              </p:ext>
            </p:extLst>
          </p:nvPr>
        </p:nvGraphicFramePr>
        <p:xfrm>
          <a:off x="1324651" y="3945696"/>
          <a:ext cx="9122794" cy="2438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72370">
                  <a:extLst>
                    <a:ext uri="{9D8B030D-6E8A-4147-A177-3AD203B41FA5}">
                      <a16:colId xmlns:a16="http://schemas.microsoft.com/office/drawing/2014/main" val="2937042213"/>
                    </a:ext>
                  </a:extLst>
                </a:gridCol>
                <a:gridCol w="1093694">
                  <a:extLst>
                    <a:ext uri="{9D8B030D-6E8A-4147-A177-3AD203B41FA5}">
                      <a16:colId xmlns:a16="http://schemas.microsoft.com/office/drawing/2014/main" val="1411371665"/>
                    </a:ext>
                  </a:extLst>
                </a:gridCol>
                <a:gridCol w="3164541">
                  <a:extLst>
                    <a:ext uri="{9D8B030D-6E8A-4147-A177-3AD203B41FA5}">
                      <a16:colId xmlns:a16="http://schemas.microsoft.com/office/drawing/2014/main" val="2073172263"/>
                    </a:ext>
                  </a:extLst>
                </a:gridCol>
                <a:gridCol w="2492189">
                  <a:extLst>
                    <a:ext uri="{9D8B030D-6E8A-4147-A177-3AD203B41FA5}">
                      <a16:colId xmlns:a16="http://schemas.microsoft.com/office/drawing/2014/main" val="1236209027"/>
                    </a:ext>
                  </a:extLst>
                </a:gridCol>
              </a:tblGrid>
              <a:tr h="20426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Source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Data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Years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Probability Distribution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9905096"/>
                  </a:ext>
                </a:extLst>
              </a:tr>
              <a:tr h="20426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j-lt"/>
                        </a:rPr>
                        <a:t>Fixed Gear Fisheries</a:t>
                      </a:r>
                      <a:endParaRPr lang="en-US" sz="14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j-lt"/>
                        </a:rPr>
                        <a:t>Catch</a:t>
                      </a:r>
                      <a:endParaRPr lang="en-US" sz="14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1960 – </a:t>
                      </a:r>
                      <a:r>
                        <a:rPr lang="en-US" sz="1400" b="1" dirty="0">
                          <a:effectLst/>
                          <a:latin typeface="+mj-lt"/>
                        </a:rPr>
                        <a:t>2025</a:t>
                      </a:r>
                      <a:endParaRPr lang="en-US" sz="1400" b="1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Lognormal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99129089"/>
                  </a:ext>
                </a:extLst>
              </a:tr>
              <a:tr h="20426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j-lt"/>
                        </a:rPr>
                        <a:t>Trawl Fisheries</a:t>
                      </a:r>
                      <a:endParaRPr lang="en-US" sz="14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j-lt"/>
                        </a:rPr>
                        <a:t>Catch</a:t>
                      </a:r>
                      <a:endParaRPr lang="en-US" sz="14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1960 – </a:t>
                      </a:r>
                      <a:r>
                        <a:rPr lang="en-US" sz="1400" b="1" dirty="0">
                          <a:effectLst/>
                          <a:latin typeface="+mj-lt"/>
                        </a:rPr>
                        <a:t>2025</a:t>
                      </a:r>
                      <a:endParaRPr lang="en-US" sz="1400" b="1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+mn-cs"/>
                          <a:sym typeface="Arial"/>
                        </a:rPr>
                        <a:t>Lognormal</a:t>
                      </a:r>
                      <a:endParaRPr lang="en-US" sz="1400" b="1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11315976"/>
                  </a:ext>
                </a:extLst>
              </a:tr>
              <a:tr h="20426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j-lt"/>
                        </a:rPr>
                        <a:t>Non-Commercial Catch</a:t>
                      </a:r>
                      <a:endParaRPr lang="en-US" sz="14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j-lt"/>
                        </a:rPr>
                        <a:t>Catch</a:t>
                      </a:r>
                      <a:endParaRPr lang="en-US" sz="14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1977 – </a:t>
                      </a:r>
                      <a:r>
                        <a:rPr lang="en-US" sz="1400" b="1" dirty="0">
                          <a:effectLst/>
                          <a:latin typeface="+mj-lt"/>
                        </a:rPr>
                        <a:t>2025</a:t>
                      </a:r>
                      <a:endParaRPr lang="en-US" sz="1400" b="1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+mn-cs"/>
                          <a:sym typeface="Arial"/>
                        </a:rPr>
                        <a:t>Lognormal</a:t>
                      </a:r>
                      <a:endParaRPr lang="en-US" sz="1400" b="1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1087169"/>
                  </a:ext>
                </a:extLst>
              </a:tr>
              <a:tr h="20426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+mj-lt"/>
                        </a:rPr>
                        <a:t>U.S. Fixed Gear Fishery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Age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1999 – </a:t>
                      </a:r>
                      <a:r>
                        <a:rPr lang="en-US" sz="1400" b="1" dirty="0">
                          <a:effectLst/>
                          <a:latin typeface="+mj-lt"/>
                        </a:rPr>
                        <a:t>2024</a:t>
                      </a:r>
                      <a:endParaRPr lang="en-US" sz="1400" b="1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Multinomial (joint by sex)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77178668"/>
                  </a:ext>
                </a:extLst>
              </a:tr>
              <a:tr h="20426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j-lt"/>
                        </a:rPr>
                        <a:t>U.S. Trawl Fisheries</a:t>
                      </a:r>
                      <a:endParaRPr lang="en-US" sz="14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j-lt"/>
                        </a:rPr>
                        <a:t>Length</a:t>
                      </a:r>
                      <a:endParaRPr lang="en-US" sz="14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1990,1991,1999, 2005 – </a:t>
                      </a:r>
                      <a:r>
                        <a:rPr lang="en-US" sz="1400" b="1" dirty="0">
                          <a:effectLst/>
                          <a:latin typeface="+mj-lt"/>
                        </a:rPr>
                        <a:t>2024</a:t>
                      </a:r>
                      <a:endParaRPr lang="en-US" sz="1400" b="1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+mn-cs"/>
                          <a:sym typeface="Arial"/>
                        </a:rPr>
                        <a:t>Multinomial (joint by sex)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74044480"/>
                  </a:ext>
                </a:extLst>
              </a:tr>
              <a:tr h="213360">
                <a:tc rowSpan="3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Japanese Longline Survey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RPNs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1979 - 1994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+mn-cs"/>
                          <a:sym typeface="Arial"/>
                        </a:rPr>
                        <a:t>Lognormal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10169377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Length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  <a:sym typeface="Arial"/>
                        </a:rPr>
                        <a:t>1979 - 1994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+mn-cs"/>
                        <a:sym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+mn-cs"/>
                          <a:sym typeface="Arial"/>
                        </a:rPr>
                        <a:t>Multinomial (joint by sex)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52001601"/>
                  </a:ext>
                </a:extLst>
              </a:tr>
              <a:tr h="2042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j-lt"/>
                        </a:rPr>
                        <a:t>Age</a:t>
                      </a:r>
                      <a:endParaRPr lang="en-US" sz="14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1981, 1985, 1987, 1989, 1991, 1993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+mn-cs"/>
                          <a:sym typeface="Arial"/>
                        </a:rPr>
                        <a:t>Multinomial (joint by sex)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88289061"/>
                  </a:ext>
                </a:extLst>
              </a:tr>
              <a:tr h="106680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NOAA Longline Survey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RPNs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1990 – 2023, </a:t>
                      </a:r>
                      <a:r>
                        <a:rPr lang="en-US" sz="1400" b="1" dirty="0">
                          <a:effectLst/>
                          <a:latin typeface="+mj-lt"/>
                        </a:rPr>
                        <a:t>2025</a:t>
                      </a:r>
                      <a:endParaRPr lang="en-US" sz="1400" b="1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+mn-cs"/>
                          <a:sym typeface="Arial"/>
                        </a:rPr>
                        <a:t>Lognormal</a:t>
                      </a:r>
                      <a:endParaRPr lang="en-US" sz="1400" b="1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48208733"/>
                  </a:ext>
                </a:extLst>
              </a:tr>
              <a:tr h="2042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j-lt"/>
                        </a:rPr>
                        <a:t>Age</a:t>
                      </a:r>
                      <a:endParaRPr lang="en-US" sz="14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1996 – </a:t>
                      </a:r>
                      <a:r>
                        <a:rPr lang="en-US" sz="1400" b="0" dirty="0">
                          <a:effectLst/>
                          <a:latin typeface="+mj-lt"/>
                        </a:rPr>
                        <a:t>2023</a:t>
                      </a:r>
                      <a:endParaRPr lang="en-US" sz="1400" b="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+mn-cs"/>
                          <a:sym typeface="Arial"/>
                        </a:rPr>
                        <a:t>Multinomial (joint by sex)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91806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6601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06E97653-84B5-CF92-A202-3C37BA88C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8542F74C-35F3-9FEE-6CEC-7871C2F29BA7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6" name="Google Shape;106;p13">
            <a:extLst>
              <a:ext uri="{FF2B5EF4-FFF2-40B4-BE49-F238E27FC236}">
                <a16:creationId xmlns:a16="http://schemas.microsoft.com/office/drawing/2014/main" id="{E4EF57B8-D0D3-A240-6924-1CBDAA7FD7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CA7786BC-AF8F-99FC-A689-AD854F21B8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Summary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AD7821-C1FD-82C5-63B9-EEA90A667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1986898"/>
            <a:ext cx="11029615" cy="3584057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66FD23-B71F-8AAE-889D-C97AAC85300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29567" y="619125"/>
            <a:ext cx="2820603" cy="15663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BECDEEB-A08F-6DD6-E459-C68BAE415D7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0958" y="1899878"/>
            <a:ext cx="5784476" cy="495812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52B75AD-D1C0-202E-A4E5-EFEBC6F4CC27}"/>
              </a:ext>
            </a:extLst>
          </p:cNvPr>
          <p:cNvSpPr/>
          <p:nvPr/>
        </p:nvSpPr>
        <p:spPr>
          <a:xfrm>
            <a:off x="2848538" y="5522259"/>
            <a:ext cx="5479677" cy="45180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81B32D-541C-A168-9D4C-105E1E16DF99}"/>
              </a:ext>
            </a:extLst>
          </p:cNvPr>
          <p:cNvSpPr/>
          <p:nvPr/>
        </p:nvSpPr>
        <p:spPr>
          <a:xfrm>
            <a:off x="2848538" y="4911173"/>
            <a:ext cx="5479677" cy="45180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245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6" name="Google Shape;106;p1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Model Structure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81192" y="1892857"/>
            <a:ext cx="11325300" cy="485756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region (AK-wide)</a:t>
            </a:r>
          </a:p>
          <a:p>
            <a:r>
              <a:rPr lang="en-US" sz="2000" dirty="0"/>
              <a:t>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ex-specific (males and females) dynamics: </a:t>
            </a:r>
          </a:p>
          <a:p>
            <a:pPr lvl="1"/>
            <a:r>
              <a:rPr lang="en-US" sz="1400" dirty="0"/>
              <a:t>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rowth (size-age transition) </a:t>
            </a:r>
          </a:p>
          <a:p>
            <a:pPr lvl="1"/>
            <a:r>
              <a:rPr lang="en-US" sz="1400" dirty="0"/>
              <a:t>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electivity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Mortality (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50:50 sex ratio</a:t>
            </a:r>
          </a:p>
          <a:p>
            <a:r>
              <a:rPr lang="en-US" sz="2000" dirty="0"/>
              <a:t>Start year 1960</a:t>
            </a:r>
          </a:p>
          <a:p>
            <a:r>
              <a:rPr lang="en-US" sz="2000" dirty="0"/>
              <a:t>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 structured (SCAA), projecting forward from initial ages and recruitment at age-2 </a:t>
            </a:r>
          </a:p>
          <a:p>
            <a:r>
              <a:rPr lang="en-US" sz="2000" dirty="0"/>
              <a:t>Assume yearly deviations from average recruitment</a:t>
            </a:r>
          </a:p>
          <a:p>
            <a:r>
              <a:rPr lang="en-US" sz="2000" dirty="0"/>
              <a:t>Each fleet (fishery and survey) has independent, sex-specific selectivity (and regional LLS selectivity for the FAA model)</a:t>
            </a:r>
          </a:p>
          <a:p>
            <a:r>
              <a:rPr lang="en-US" sz="2000" dirty="0"/>
              <a:t>Fishing mortality (</a:t>
            </a:r>
            <a:r>
              <a:rPr lang="en-US" sz="2000" i="1" dirty="0"/>
              <a:t>F</a:t>
            </a:r>
            <a:r>
              <a:rPr lang="en-US" sz="2000" dirty="0"/>
              <a:t>) estimated with yearly deviations for each fleet (fixed gear and trawl)</a:t>
            </a:r>
          </a:p>
          <a:p>
            <a:r>
              <a:rPr lang="en-US" sz="2000" dirty="0"/>
              <a:t>Catchability (</a:t>
            </a:r>
            <a:r>
              <a:rPr lang="en-US" sz="2000" i="1" dirty="0"/>
              <a:t>q</a:t>
            </a:r>
            <a:r>
              <a:rPr lang="en-US" sz="2000" dirty="0"/>
              <a:t>) parameters freely estimated for each index (NOAA and Japanese LLS) and regionally for the FAA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82C15BE-5590-FAB4-9676-D80E11B7F5EF}"/>
                  </a:ext>
                </a:extLst>
              </p:cNvPr>
              <p:cNvSpPr txBox="1"/>
              <p:nvPr/>
            </p:nvSpPr>
            <p:spPr>
              <a:xfrm>
                <a:off x="6096000" y="2398407"/>
                <a:ext cx="6096000" cy="8675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kern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  <m:r>
                            <a:rPr lang="en-US" sz="1400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sz="1400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sz="1400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sz="1400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sz="1400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1400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  <m:r>
                            <a:rPr lang="en-US" sz="1400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sz="1400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sz="1400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400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400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sz="14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sz="14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sz="14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sz="14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d>
                      <m:r>
                        <a:rPr lang="en-US" sz="1400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1400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 </m:t>
                      </m:r>
                      <m:r>
                        <m:rPr>
                          <m:nor/>
                        </m:rPr>
                        <a:rPr lang="en-US" sz="14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for</m:t>
                      </m:r>
                      <m:r>
                        <m:rPr>
                          <m:nor/>
                        </m:rPr>
                        <a:rPr lang="en-US" sz="14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400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sz="1400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sz="1400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sz="1400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sz="1400" kern="100" dirty="0">
                  <a:effectLst/>
                  <a:latin typeface="Aptos"/>
                  <a:ea typeface="Aptos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  <m:r>
                            <a:rPr lang="en-US" sz="1400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sz="1400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+1,</m:t>
                          </m:r>
                          <m: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sz="1400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1400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  <m:r>
                            <a:rPr lang="en-US" sz="1400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sz="1400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sz="1400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−1,</m:t>
                          </m:r>
                          <m: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400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400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sz="14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sz="14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sz="14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−1,</m:t>
                              </m:r>
                              <m:r>
                                <a:rPr lang="en-US" sz="14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d>
                      <m:r>
                        <a:rPr lang="en-US" sz="1400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  <m:r>
                            <a:rPr lang="en-US" sz="1400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sz="1400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sz="1400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400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400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sz="14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sz="14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sz="14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sz="14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d>
                      <m:r>
                        <a:rPr lang="en-US" sz="1400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, </m:t>
                      </m:r>
                      <m:r>
                        <m:rPr>
                          <m:nor/>
                        </m:rPr>
                        <a:rPr lang="en-US" sz="14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for</m:t>
                      </m:r>
                      <m:r>
                        <m:rPr>
                          <m:nor/>
                        </m:rPr>
                        <a:rPr lang="en-US" sz="14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400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sz="1400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sz="1400" kern="100" dirty="0">
                  <a:effectLst/>
                  <a:latin typeface="Aptos"/>
                  <a:ea typeface="Aptos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82C15BE-5590-FAB4-9676-D80E11B7F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398407"/>
                <a:ext cx="6096000" cy="8675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FF1F889-AAF0-07A6-6495-06650FDDAC11}"/>
                  </a:ext>
                </a:extLst>
              </p:cNvPr>
              <p:cNvSpPr txBox="1"/>
              <p:nvPr/>
            </p:nvSpPr>
            <p:spPr>
              <a:xfrm>
                <a:off x="6024282" y="1807485"/>
                <a:ext cx="609600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=2,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b="0" i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b="0" i="1">
                                  <a:latin typeface="Cambria Math" panose="02040503050406030204" pitchFamily="18" charset="0"/>
                                </a:rPr>
                                <m:t>Rec</m:t>
                              </m:r>
                            </m:sup>
                          </m:sSubSup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Rec</m:t>
                                  </m:r>
                                </m:sub>
                                <m:sup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FF1F889-AAF0-07A6-6495-06650FDDA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4282" y="1807485"/>
                <a:ext cx="6096000" cy="5763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46F8E7B-7189-6B99-C2F4-0B5097638847}"/>
                  </a:ext>
                </a:extLst>
              </p:cNvPr>
              <p:cNvSpPr txBox="1"/>
              <p:nvPr/>
            </p:nvSpPr>
            <p:spPr>
              <a:xfrm>
                <a:off x="6096000" y="3079373"/>
                <a:ext cx="6096000" cy="6394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Natmort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b="0" i="1">
                                  <a:latin typeface="Cambria Math" panose="02040503050406030204" pitchFamily="18" charset="0"/>
                                </a:rPr>
                                <m:t>Sel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b="0" i="1">
                                  <a:latin typeface="Cambria Math" panose="02040503050406030204" pitchFamily="18" charset="0"/>
                                </a:rPr>
                                <m:t>Fsh</m:t>
                              </m:r>
                            </m:sup>
                          </m:sSubSup>
                        </m:e>
                      </m:nary>
                      <m:sSub>
                        <m:sSub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Fmort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46F8E7B-7189-6B99-C2F4-0B5097638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079373"/>
                <a:ext cx="6096000" cy="639470"/>
              </a:xfrm>
              <a:prstGeom prst="rect">
                <a:avLst/>
              </a:prstGeom>
              <a:blipFill>
                <a:blip r:embed="rId5"/>
                <a:stretch>
                  <a:fillRect t="-111429" b="-156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9DA72B9-B811-4F9C-303B-05F15FC26321}"/>
                  </a:ext>
                </a:extLst>
              </p:cNvPr>
              <p:cNvSpPr txBox="1"/>
              <p:nvPr/>
            </p:nvSpPr>
            <p:spPr>
              <a:xfrm>
                <a:off x="6338048" y="3608217"/>
                <a:ext cx="6096000" cy="4147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b="0"/>
                            <m:t>Fmort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Fsh</m:t>
                          </m:r>
                        </m:sup>
                      </m:sSubSup>
                      <m:r>
                        <m:rPr>
                          <m:nor/>
                        </m:rPr>
                        <a:rPr lang="en-US" b="0" i="1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b="0" i="1">
                                  <a:latin typeface="Cambria Math" panose="02040503050406030204" pitchFamily="18" charset="0"/>
                                </a:rPr>
                                <m:t>Fsh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9DA72B9-B811-4F9C-303B-05F15FC26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048" y="3608217"/>
                <a:ext cx="6096000" cy="4147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9652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C94163C7-24C4-0A5C-33C5-3C0E2F5BE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068C4A83-B3EC-27F9-8B91-F2FCB30ED46A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6" name="Google Shape;106;p13">
            <a:extLst>
              <a:ext uri="{FF2B5EF4-FFF2-40B4-BE49-F238E27FC236}">
                <a16:creationId xmlns:a16="http://schemas.microsoft.com/office/drawing/2014/main" id="{81FD4E57-16BA-5ADF-A7D9-2EC2A29307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2374FE24-C446-1516-0D36-1853FE14CE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Biology, Recruitment, and Initial Age Structure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468C8F-0272-226C-B23B-07345D800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1892856"/>
            <a:ext cx="6563679" cy="5009237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Biological parameters input:</a:t>
            </a:r>
          </a:p>
          <a:p>
            <a:pPr lvl="1"/>
            <a:r>
              <a:rPr lang="en-US" sz="1400" dirty="0"/>
              <a:t>Size-age transition matrices (2 blocks pre- and post-1996)</a:t>
            </a:r>
          </a:p>
          <a:p>
            <a:pPr lvl="1"/>
            <a:r>
              <a:rPr lang="en-US" sz="1400" dirty="0"/>
              <a:t>Ageing error matrix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Weight-at-age</a:t>
            </a:r>
          </a:p>
          <a:p>
            <a:pPr lvl="1"/>
            <a:r>
              <a:rPr lang="en-US" sz="1400" dirty="0"/>
              <a:t>Maturity-at-age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/>
              <a:t>Natural mortality ‘estimated’ with a prior </a:t>
            </a:r>
            <a:r>
              <a:rPr lang="en-US" sz="2000" i="1" dirty="0"/>
              <a:t>~N</a:t>
            </a:r>
            <a:r>
              <a:rPr lang="en-US" sz="2000" dirty="0"/>
              <a:t>(ln(0.085), 0.1</a:t>
            </a:r>
            <a:r>
              <a:rPr lang="en-US" sz="2000" baseline="30000" dirty="0"/>
              <a:t>2</a:t>
            </a:r>
            <a:r>
              <a:rPr lang="en-US" sz="2000" dirty="0"/>
              <a:t>)</a:t>
            </a:r>
          </a:p>
          <a:p>
            <a:r>
              <a:rPr lang="en-US" sz="2000" dirty="0"/>
              <a:t>Equilibrium age structure with cohort deviations for each initial age</a:t>
            </a:r>
          </a:p>
          <a:p>
            <a:pPr lvl="1"/>
            <a:r>
              <a:rPr lang="en-US" sz="1400" dirty="0"/>
              <a:t>Initial exponential decay assumes 10% of mean fixed gear </a:t>
            </a:r>
            <a:r>
              <a:rPr lang="en-US" sz="1400" i="1" dirty="0"/>
              <a:t>F</a:t>
            </a:r>
          </a:p>
          <a:p>
            <a:pPr lvl="1"/>
            <a:r>
              <a:rPr lang="en-US" sz="1400" dirty="0"/>
              <a:t>Age-specific deviations applied to equilibrium age structure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Recruitment occurs at age</a:t>
            </a:r>
            <a:r>
              <a:rPr lang="en-US" sz="2000" dirty="0"/>
              <a:t>-2 based on average recruitment with deviations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Lognormal bias correction integrated (Methot and Taylor, 2011)</a:t>
            </a:r>
          </a:p>
          <a:p>
            <a:pPr lvl="1"/>
            <a:r>
              <a:rPr lang="en-US" sz="1400" dirty="0"/>
              <a:t>No discernible stock-recruit relationship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el-GR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sz="1400" dirty="0"/>
              <a:t>(0.9) to allow adequate estimation of spasmodic recruitment events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EBDCED-0E11-C578-7921-507ADCD0D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346" y="2043952"/>
            <a:ext cx="4645854" cy="4638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779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A6832DF5-FA1A-CB78-C356-1BC16F657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34E42C6C-6988-2EDD-0E3C-434FA6518E7F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6" name="Google Shape;106;p13">
            <a:extLst>
              <a:ext uri="{FF2B5EF4-FFF2-40B4-BE49-F238E27FC236}">
                <a16:creationId xmlns:a16="http://schemas.microsoft.com/office/drawing/2014/main" id="{FF4F8C5B-93AF-C1B4-323D-2F9A0AA0AB6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D308FF25-1152-2EBB-9BB3-B081F61EC3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Fishing Dynamics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271F0D-AA7A-08B7-D522-998ED266E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1927692"/>
            <a:ext cx="5837537" cy="4786873"/>
          </a:xfrm>
        </p:spPr>
        <p:txBody>
          <a:bodyPr>
            <a:normAutofit/>
          </a:bodyPr>
          <a:lstStyle/>
          <a:p>
            <a:r>
              <a:rPr lang="en-US" sz="2000" dirty="0"/>
              <a:t>Two fleets: fixed gear and trawl</a:t>
            </a:r>
          </a:p>
          <a:p>
            <a:r>
              <a:rPr lang="en-US" sz="2000" dirty="0"/>
              <a:t>Fishing mortality estimated with yearly deviations for each fleet</a:t>
            </a:r>
          </a:p>
          <a:p>
            <a:r>
              <a:rPr lang="en-US" sz="2000" dirty="0"/>
              <a:t>Logistic selectivity assumed for both fleets</a:t>
            </a:r>
          </a:p>
          <a:p>
            <a:pPr lvl="1"/>
            <a:r>
              <a:rPr lang="en-US" dirty="0"/>
              <a:t>Two parameters (i.e., age at 50% selectivity, </a:t>
            </a:r>
            <a:r>
              <a:rPr lang="en-US" i="1" dirty="0"/>
              <a:t>a</a:t>
            </a:r>
            <a:r>
              <a:rPr lang="en-US" i="1" baseline="-25000" dirty="0"/>
              <a:t>50%</a:t>
            </a:r>
            <a:r>
              <a:rPr lang="en-US" dirty="0"/>
              <a:t>, and the slope of the curve, </a:t>
            </a:r>
            <a:r>
              <a:rPr lang="en-US" i="1" dirty="0"/>
              <a:t>k</a:t>
            </a:r>
            <a:r>
              <a:rPr lang="en-US" dirty="0"/>
              <a:t>) for each sex/fleet/ time block</a:t>
            </a:r>
          </a:p>
          <a:p>
            <a:pPr lvl="1"/>
            <a:r>
              <a:rPr lang="en-US" dirty="0"/>
              <a:t>Estimated with loose priors </a:t>
            </a:r>
            <a:r>
              <a:rPr lang="en-US" i="1" dirty="0"/>
              <a:t>~N</a:t>
            </a:r>
            <a:r>
              <a:rPr lang="en-US" dirty="0"/>
              <a:t>(ln(4),1.5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r>
              <a:rPr lang="en-US" sz="2000" dirty="0"/>
              <a:t>Two time blocks assumed for the fixed gear fleet (single time block for trawl)</a:t>
            </a:r>
          </a:p>
          <a:p>
            <a:pPr lvl="1"/>
            <a:r>
              <a:rPr lang="en-US" sz="1400" dirty="0"/>
              <a:t>1960 – 2015, 2016+</a:t>
            </a:r>
          </a:p>
          <a:p>
            <a:pPr lvl="1"/>
            <a:r>
              <a:rPr lang="en-US" sz="1400" dirty="0"/>
              <a:t>Corresponds to transition to pot gear (Cheng et al., 2025)</a:t>
            </a:r>
          </a:p>
          <a:p>
            <a:r>
              <a:rPr lang="en-US" sz="2000" dirty="0"/>
              <a:t>Age compositions fit for fixed gear fleet and length compositions fit for the trawl fleet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773D02-8EC8-6700-C472-F58BEDDAA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2463" y="1892856"/>
            <a:ext cx="4564131" cy="39116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3DB345-937B-ACF8-C683-DC329F0824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8298" y="5804537"/>
            <a:ext cx="4680327" cy="1003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703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3C5ADD47-FB95-22F4-C874-746AA0AF9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80202E6D-48A3-D5CF-636E-AC61A31F2F02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6" name="Google Shape;106;p13">
            <a:extLst>
              <a:ext uri="{FF2B5EF4-FFF2-40B4-BE49-F238E27FC236}">
                <a16:creationId xmlns:a16="http://schemas.microsoft.com/office/drawing/2014/main" id="{312D42E5-EA58-3DBE-226A-9029346B172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FE67F8D2-684C-3C6A-4099-090A823604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Dynamics – Single Region Model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E7F0AD-2506-4EE5-809D-F3CD8E3B6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1954303"/>
            <a:ext cx="5694102" cy="4849176"/>
          </a:xfrm>
        </p:spPr>
        <p:txBody>
          <a:bodyPr>
            <a:normAutofit/>
          </a:bodyPr>
          <a:lstStyle/>
          <a:p>
            <a:r>
              <a:rPr lang="en-US" sz="2000" dirty="0"/>
              <a:t>Two fleets: NOAA LLS and Japanese LLS</a:t>
            </a:r>
          </a:p>
          <a:p>
            <a:r>
              <a:rPr lang="en-US" sz="2000" dirty="0"/>
              <a:t>Single catchability parameter estimated for each fleet</a:t>
            </a:r>
          </a:p>
          <a:p>
            <a:r>
              <a:rPr lang="en-US" sz="2000" dirty="0"/>
              <a:t>Logistic selectivity assumed for both fleets</a:t>
            </a:r>
          </a:p>
          <a:p>
            <a:pPr lvl="1"/>
            <a:r>
              <a:rPr lang="en-US" dirty="0"/>
              <a:t>Estimated with loose priors </a:t>
            </a:r>
            <a:r>
              <a:rPr lang="en-US" i="1" dirty="0"/>
              <a:t>~N</a:t>
            </a:r>
            <a:r>
              <a:rPr lang="en-US" dirty="0"/>
              <a:t>(ln(3),1.5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r>
              <a:rPr lang="en-US" sz="2000" dirty="0"/>
              <a:t>Two time blocks assumed for the NOAA Longline Survey (single time block for Japanese LLS)</a:t>
            </a:r>
          </a:p>
          <a:p>
            <a:pPr lvl="1"/>
            <a:r>
              <a:rPr lang="en-US" sz="1400" dirty="0"/>
              <a:t>1960 – 2015, 2016+</a:t>
            </a:r>
          </a:p>
          <a:p>
            <a:pPr lvl="1"/>
            <a:r>
              <a:rPr lang="en-US" sz="1400" dirty="0"/>
              <a:t>Corresponds to apparent changes in availability to LLS of small fish (small fish in deep strata where not historically observed)</a:t>
            </a:r>
          </a:p>
          <a:p>
            <a:r>
              <a:rPr lang="en-US" sz="2000" dirty="0"/>
              <a:t>Age compositions fit for the NOAA LLS and both age and length compositions fit for the Japanese LLS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270863-CCA0-2833-4719-CD38DD449417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8051" y="1852753"/>
            <a:ext cx="5109883" cy="21291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1FBAEEB-6A73-1C66-71C6-8215491B49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173"/>
          <a:stretch>
            <a:fillRect/>
          </a:stretch>
        </p:blipFill>
        <p:spPr>
          <a:xfrm>
            <a:off x="6822141" y="4136722"/>
            <a:ext cx="4241704" cy="26667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39C9B8D-343B-E40B-901E-BD8C87886FB6}"/>
              </a:ext>
            </a:extLst>
          </p:cNvPr>
          <p:cNvSpPr txBox="1"/>
          <p:nvPr/>
        </p:nvSpPr>
        <p:spPr>
          <a:xfrm>
            <a:off x="11051811" y="5039213"/>
            <a:ext cx="9563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Heatwave Impacts?</a:t>
            </a:r>
          </a:p>
        </p:txBody>
      </p:sp>
    </p:spTree>
    <p:extLst>
      <p:ext uri="{BB962C8B-B14F-4D97-AF65-F5344CB8AC3E}">
        <p14:creationId xmlns:p14="http://schemas.microsoft.com/office/powerpoint/2010/main" val="809058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F101E88C-9C49-F72E-703C-C0F958F04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BE144A83-D2C2-5467-3976-B03E7272C591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6" name="Google Shape;106;p13">
            <a:extLst>
              <a:ext uri="{FF2B5EF4-FFF2-40B4-BE49-F238E27FC236}">
                <a16:creationId xmlns:a16="http://schemas.microsoft.com/office/drawing/2014/main" id="{7DD6D489-6FCB-50D8-7216-F29891A3BD7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21B4421F-CCC0-B4F1-31EB-77F146B249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Dynamics – FAA Model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656FEB-A616-A179-BD8C-DF20D29A7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127622"/>
            <a:ext cx="7119490" cy="4774472"/>
          </a:xfrm>
        </p:spPr>
        <p:txBody>
          <a:bodyPr>
            <a:normAutofit/>
          </a:bodyPr>
          <a:lstStyle/>
          <a:p>
            <a:r>
              <a:rPr lang="en-US" sz="2000" dirty="0"/>
              <a:t>Structured the same as the single region model, but with 3 regional NOAA LLS fleets (BS, AI, GOA)</a:t>
            </a:r>
          </a:p>
          <a:p>
            <a:r>
              <a:rPr lang="en-US" sz="2000" dirty="0"/>
              <a:t>Single catchability parameter estimated for each </a:t>
            </a:r>
            <a:r>
              <a:rPr lang="en-US" sz="2000" i="1" dirty="0"/>
              <a:t>regional</a:t>
            </a:r>
            <a:r>
              <a:rPr lang="en-US" sz="2000" dirty="0"/>
              <a:t> fleet</a:t>
            </a:r>
          </a:p>
          <a:p>
            <a:r>
              <a:rPr lang="en-US" sz="2000" dirty="0"/>
              <a:t>Logistic selectivity assumed for all fleets</a:t>
            </a:r>
          </a:p>
          <a:p>
            <a:pPr lvl="1"/>
            <a:r>
              <a:rPr lang="en-US" dirty="0"/>
              <a:t>Estimated with loose priors </a:t>
            </a:r>
            <a:r>
              <a:rPr lang="en-US" i="1" dirty="0"/>
              <a:t>~N</a:t>
            </a:r>
            <a:r>
              <a:rPr lang="en-US" dirty="0"/>
              <a:t>(ln(3),1.5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r>
              <a:rPr lang="en-US" sz="2000" dirty="0"/>
              <a:t>Two time blocks assumed for each </a:t>
            </a:r>
            <a:r>
              <a:rPr lang="en-US" sz="2000" i="1" dirty="0"/>
              <a:t>regional</a:t>
            </a:r>
            <a:r>
              <a:rPr lang="en-US" sz="2000" dirty="0"/>
              <a:t> LLS fleet</a:t>
            </a:r>
          </a:p>
          <a:p>
            <a:pPr lvl="1"/>
            <a:r>
              <a:rPr lang="en-US" sz="1400" dirty="0"/>
              <a:t>1960 – 2015, 2016+</a:t>
            </a:r>
          </a:p>
          <a:p>
            <a:r>
              <a:rPr lang="en-US" sz="2000" dirty="0"/>
              <a:t>Age compositions fit disaggregated by </a:t>
            </a:r>
            <a:r>
              <a:rPr lang="en-US" sz="2000" i="1" dirty="0"/>
              <a:t>region</a:t>
            </a:r>
            <a:r>
              <a:rPr lang="en-US" sz="2000" dirty="0"/>
              <a:t> for each </a:t>
            </a:r>
            <a:r>
              <a:rPr lang="en-US" sz="2000" i="1" dirty="0"/>
              <a:t>regional</a:t>
            </a:r>
            <a:r>
              <a:rPr lang="en-US" sz="2000" dirty="0"/>
              <a:t> NOAA LLS fleet</a:t>
            </a:r>
          </a:p>
          <a:p>
            <a:r>
              <a:rPr lang="en-US" sz="2000" dirty="0"/>
              <a:t>Total of 2 extra </a:t>
            </a:r>
            <a:r>
              <a:rPr lang="en-US" sz="2000" i="1" dirty="0"/>
              <a:t>q</a:t>
            </a:r>
            <a:r>
              <a:rPr lang="en-US" sz="2000" dirty="0"/>
              <a:t> parameters and 16 extra selectivity parameters estimated compared to single region model</a:t>
            </a:r>
          </a:p>
          <a:p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34E688-AD69-2C37-9EC7-3272DD490A85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39651" y="1892856"/>
            <a:ext cx="3838292" cy="477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53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666A220F-3DE4-29AE-D02B-AA5B3F9D8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FDC09B91-688B-CBE6-86BA-0DFBB288BD2B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6" name="Google Shape;106;p13">
            <a:extLst>
              <a:ext uri="{FF2B5EF4-FFF2-40B4-BE49-F238E27FC236}">
                <a16:creationId xmlns:a16="http://schemas.microsoft.com/office/drawing/2014/main" id="{60DB1007-0B67-725B-8978-13B593E28AC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C8852527-D5E9-ADE5-E300-73A3A4D75D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 Models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B1CCC-08C2-6C0D-27CB-D6727B3FB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151529"/>
            <a:ext cx="5272761" cy="4750564"/>
          </a:xfrm>
        </p:spPr>
        <p:txBody>
          <a:bodyPr>
            <a:normAutofit/>
          </a:bodyPr>
          <a:lstStyle/>
          <a:p>
            <a:r>
              <a:rPr lang="en-US" sz="2000" dirty="0"/>
              <a:t>Catch assumes a fixed standard error of 0.05 (lognormal)</a:t>
            </a:r>
          </a:p>
          <a:p>
            <a:r>
              <a:rPr lang="en-US" sz="2000" dirty="0"/>
              <a:t>Survey yearly standard errors calculated from the data (lognormal)</a:t>
            </a:r>
          </a:p>
          <a:p>
            <a:r>
              <a:rPr lang="en-US" sz="2000" dirty="0"/>
              <a:t>Composition (age/length) Input Sample Sizes (ISS) scaled within fleets relative to observed yearly samples (multinomial)</a:t>
            </a:r>
          </a:p>
          <a:p>
            <a:pPr lvl="1"/>
            <a:r>
              <a:rPr lang="en-US" sz="1400" dirty="0"/>
              <a:t>Fleet-specific maximum values</a:t>
            </a:r>
          </a:p>
          <a:p>
            <a:pPr lvl="1"/>
            <a:r>
              <a:rPr lang="en-US" sz="1400" dirty="0"/>
              <a:t>Minimum ISS of 20</a:t>
            </a:r>
          </a:p>
          <a:p>
            <a:pPr lvl="1"/>
            <a:r>
              <a:rPr lang="en-US" sz="1400" dirty="0"/>
              <a:t>For FAA model, scaling of NOAA LLS ISS was across regions to maintain information on relative sample sizes across regions</a:t>
            </a:r>
          </a:p>
          <a:p>
            <a:r>
              <a:rPr lang="en-US" sz="2000" dirty="0"/>
              <a:t>ESS determine from Francis reweighting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11DFCC-BC0D-FE6C-C46E-DC2A13B934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99" r="13504"/>
          <a:stretch>
            <a:fillRect/>
          </a:stretch>
        </p:blipFill>
        <p:spPr>
          <a:xfrm>
            <a:off x="5952564" y="2920970"/>
            <a:ext cx="6158753" cy="274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866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19EC3BB1-A7DF-DA43-F58F-7C0186FD0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02BF1B82-12DC-64D4-1146-71025C044998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6" name="Google Shape;106;p13">
            <a:extLst>
              <a:ext uri="{FF2B5EF4-FFF2-40B4-BE49-F238E27FC236}">
                <a16:creationId xmlns:a16="http://schemas.microsoft.com/office/drawing/2014/main" id="{5E28405D-433E-295C-9635-19624DCE77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A3206586-A14B-A9FD-DFB0-CA7246879A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Priors and Estimated Parameters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79973D-877F-9093-F6CB-1EFF21048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286000"/>
            <a:ext cx="5272761" cy="4616093"/>
          </a:xfrm>
        </p:spPr>
        <p:txBody>
          <a:bodyPr>
            <a:normAutofit/>
          </a:bodyPr>
          <a:lstStyle/>
          <a:p>
            <a:r>
              <a:rPr lang="en-US" sz="2000" dirty="0"/>
              <a:t>MLE with penalized likelihood used to estimate parameters</a:t>
            </a:r>
          </a:p>
          <a:p>
            <a:r>
              <a:rPr lang="en-US" sz="2000" dirty="0"/>
              <a:t>Priors:</a:t>
            </a:r>
          </a:p>
          <a:p>
            <a:pPr lvl="1"/>
            <a:r>
              <a:rPr lang="en-US" sz="1400" dirty="0"/>
              <a:t>Recruitment deviations ~</a:t>
            </a:r>
            <a:r>
              <a:rPr lang="en-US" sz="1400" i="1" dirty="0"/>
              <a:t>N</a:t>
            </a:r>
            <a:r>
              <a:rPr lang="en-US" sz="1400" dirty="0"/>
              <a:t>(0, </a:t>
            </a:r>
            <a:r>
              <a:rPr lang="el-GR" sz="1400" i="1" dirty="0"/>
              <a:t>σ</a:t>
            </a:r>
            <a:r>
              <a:rPr lang="en-US" sz="1400" i="1" baseline="-25000" dirty="0"/>
              <a:t>R</a:t>
            </a:r>
            <a:r>
              <a:rPr lang="en-US" sz="1400" i="1" baseline="30000" dirty="0"/>
              <a:t>2</a:t>
            </a:r>
            <a:r>
              <a:rPr lang="en-US" sz="1400" dirty="0"/>
              <a:t>)</a:t>
            </a:r>
          </a:p>
          <a:p>
            <a:pPr lvl="1"/>
            <a:r>
              <a:rPr lang="en-US" sz="1400" dirty="0"/>
              <a:t>Fishing mortality deviations ~</a:t>
            </a:r>
            <a:r>
              <a:rPr lang="en-US" sz="1400" i="1" dirty="0"/>
              <a:t>N</a:t>
            </a:r>
            <a:r>
              <a:rPr lang="en-US" sz="1400" dirty="0"/>
              <a:t>(0, 0.75</a:t>
            </a:r>
            <a:r>
              <a:rPr lang="en-US" sz="1400" baseline="30000" dirty="0"/>
              <a:t>2</a:t>
            </a:r>
            <a:r>
              <a:rPr lang="en-US" sz="1400" dirty="0"/>
              <a:t>) </a:t>
            </a:r>
          </a:p>
          <a:p>
            <a:pPr lvl="1"/>
            <a:r>
              <a:rPr lang="en-US" sz="1400" dirty="0"/>
              <a:t>Natural morality </a:t>
            </a:r>
            <a:r>
              <a:rPr lang="en-US" sz="1400" i="1" dirty="0"/>
              <a:t>~N</a:t>
            </a:r>
            <a:r>
              <a:rPr lang="en-US" sz="1400" dirty="0"/>
              <a:t>(ln(0.085), 0.1</a:t>
            </a:r>
            <a:r>
              <a:rPr lang="en-US" sz="1400" baseline="30000" dirty="0"/>
              <a:t>2</a:t>
            </a:r>
            <a:r>
              <a:rPr lang="en-US" sz="1400" dirty="0"/>
              <a:t>)</a:t>
            </a:r>
          </a:p>
          <a:p>
            <a:pPr lvl="1"/>
            <a:r>
              <a:rPr lang="en-US" sz="1400" dirty="0"/>
              <a:t>Fishery selectivity parameters </a:t>
            </a:r>
            <a:r>
              <a:rPr lang="en-US" sz="1400" i="1" dirty="0"/>
              <a:t>~N</a:t>
            </a:r>
            <a:r>
              <a:rPr lang="en-US" sz="1400" dirty="0"/>
              <a:t>(ln(4),1.5</a:t>
            </a:r>
            <a:r>
              <a:rPr lang="en-US" sz="1400" baseline="30000" dirty="0"/>
              <a:t>2</a:t>
            </a:r>
            <a:r>
              <a:rPr lang="en-US" sz="1400" dirty="0"/>
              <a:t>)</a:t>
            </a:r>
          </a:p>
          <a:p>
            <a:pPr lvl="1"/>
            <a:r>
              <a:rPr lang="en-US" sz="1400" dirty="0"/>
              <a:t>Survey selectivity parameters </a:t>
            </a:r>
            <a:r>
              <a:rPr lang="en-US" sz="1400" i="1" dirty="0"/>
              <a:t>~N</a:t>
            </a:r>
            <a:r>
              <a:rPr lang="en-US" sz="1400" dirty="0"/>
              <a:t>(ln(3),1.5</a:t>
            </a:r>
            <a:r>
              <a:rPr lang="en-US" sz="1400" baseline="30000" dirty="0"/>
              <a:t>2</a:t>
            </a:r>
            <a:r>
              <a:rPr lang="en-US" sz="1400" dirty="0"/>
              <a:t>)</a:t>
            </a:r>
          </a:p>
          <a:p>
            <a:r>
              <a:rPr lang="en-US" sz="2000" dirty="0"/>
              <a:t>Total estimated parameters</a:t>
            </a:r>
          </a:p>
          <a:p>
            <a:pPr lvl="1"/>
            <a:r>
              <a:rPr lang="en-US" sz="1400" dirty="0"/>
              <a:t>Single region: 253</a:t>
            </a:r>
          </a:p>
          <a:p>
            <a:pPr lvl="1"/>
            <a:r>
              <a:rPr lang="en-US" sz="1400" dirty="0"/>
              <a:t>FAA: 271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348D63-6D31-724A-CE63-58A2C5F5A5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832" r="22627"/>
          <a:stretch>
            <a:fillRect/>
          </a:stretch>
        </p:blipFill>
        <p:spPr>
          <a:xfrm>
            <a:off x="5853953" y="2686375"/>
            <a:ext cx="6023026" cy="261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034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1797F892-AC85-8C5A-F222-36059FE63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92B38546-594B-A14C-FF7F-A5E9D515D74C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6" name="Google Shape;106;p13">
            <a:extLst>
              <a:ext uri="{FF2B5EF4-FFF2-40B4-BE49-F238E27FC236}">
                <a16:creationId xmlns:a16="http://schemas.microsoft.com/office/drawing/2014/main" id="{2C86BD58-485B-C273-B8F9-7770941CA2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BF82ECED-98DC-29B1-6A3C-46E0A4DB0E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Catch Projections and Reference Points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E60A2AA-0C54-32FE-0B1B-2A17AB899E28}"/>
              </a:ext>
            </a:extLst>
          </p:cNvPr>
          <p:cNvSpPr txBox="1">
            <a:spLocks/>
          </p:cNvSpPr>
          <p:nvPr/>
        </p:nvSpPr>
        <p:spPr>
          <a:xfrm>
            <a:off x="581192" y="1800300"/>
            <a:ext cx="6500926" cy="4965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Wingdings" panose="05000000000000000000" pitchFamily="2" charset="2"/>
              <a:buChar char="§"/>
              <a:defRPr sz="2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marL="914400" marR="0" lvl="1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Wingdings" panose="05000000000000000000" pitchFamily="2" charset="2"/>
              <a:buChar char="§"/>
              <a:defRPr sz="18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defRPr>
            </a:lvl2pPr>
            <a:lvl3pPr marL="1371600" marR="0" lvl="2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Wingdings" panose="05000000000000000000" pitchFamily="2" charset="2"/>
              <a:buChar char="§"/>
              <a:def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defRPr>
            </a:lvl3pPr>
            <a:lvl4pPr marL="1828800" marR="0" lvl="3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Wingdings" panose="05000000000000000000" pitchFamily="2" charset="2"/>
              <a:buChar char="§"/>
              <a:defRPr sz="12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defRPr>
            </a:lvl4pPr>
            <a:lvl5pPr marL="2286000" marR="0" lvl="4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56"/>
              <a:buFont typeface="Arial"/>
              <a:buChar char="◼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56"/>
              <a:buFont typeface="Arial"/>
              <a:buChar char="◼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56"/>
              <a:buFont typeface="Arial"/>
              <a:buChar char="◼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56"/>
              <a:buFont typeface="Arial"/>
              <a:buChar char="◼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3756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656"/>
              <a:buFont typeface="Arial"/>
              <a:buChar char="◼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dirty="0"/>
              <a:t>Standard methods for reference points (per-recruit) and associated catch projections used by all AFSC assessments</a:t>
            </a:r>
          </a:p>
          <a:p>
            <a:r>
              <a:rPr lang="en-US" sz="2000" dirty="0"/>
              <a:t>Parameters (e.g., relative fishing mortality among fishing fleets, selectivity, natural mortality, and biological inputs) are taken from the terminal year of the assessment</a:t>
            </a:r>
          </a:p>
          <a:p>
            <a:r>
              <a:rPr lang="en-US" sz="2000" dirty="0"/>
              <a:t>Biomass reference points (B40%) are calculated from per-recruit reference points based on average recruitment (1979 – terminal assessment year - 2) </a:t>
            </a:r>
          </a:p>
          <a:p>
            <a:pPr lvl="1"/>
            <a:r>
              <a:rPr lang="en-US" sz="1400" dirty="0"/>
              <a:t>F</a:t>
            </a:r>
            <a:r>
              <a:rPr lang="en-US" sz="1400" baseline="-25000" dirty="0"/>
              <a:t>ABC</a:t>
            </a:r>
            <a:r>
              <a:rPr lang="en-US" sz="1400" dirty="0"/>
              <a:t> is defined as F40% and F</a:t>
            </a:r>
            <a:r>
              <a:rPr lang="en-US" sz="1400" baseline="-25000" dirty="0"/>
              <a:t>OFL</a:t>
            </a:r>
            <a:r>
              <a:rPr lang="en-US" sz="1400" dirty="0"/>
              <a:t> is defined as F35%, except when reduced by the NPFMC threshold/sloped HCR due to SSB falling below SSB</a:t>
            </a:r>
            <a:r>
              <a:rPr lang="en-US" sz="1400" baseline="-25000" dirty="0"/>
              <a:t>OFL</a:t>
            </a:r>
            <a:r>
              <a:rPr lang="en-US" sz="1400" dirty="0"/>
              <a:t> (B35%) </a:t>
            </a:r>
          </a:p>
          <a:p>
            <a:r>
              <a:rPr lang="en-US" sz="2000" dirty="0"/>
              <a:t>For projections:</a:t>
            </a:r>
          </a:p>
          <a:p>
            <a:pPr lvl="1"/>
            <a:r>
              <a:rPr lang="en-US" sz="1400" dirty="0"/>
              <a:t>Start from the terminal year numbers-at-age</a:t>
            </a:r>
          </a:p>
          <a:p>
            <a:pPr lvl="1"/>
            <a:r>
              <a:rPr lang="en-US" sz="1400" dirty="0"/>
              <a:t>Recruitment is simulated as an inverse Gaussian distribution parameterized using based on average recruitment and variance (1,000 simulations) </a:t>
            </a:r>
          </a:p>
          <a:p>
            <a:r>
              <a:rPr lang="en-US" dirty="0"/>
              <a:t>A standard set of seven projections is required for each stock </a:t>
            </a:r>
            <a:endParaRPr lang="en-US" sz="2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69FDD6C-9153-00B5-4E2A-ECCEFFE191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65" t="6306" r="7344" b="7241"/>
          <a:stretch>
            <a:fillRect/>
          </a:stretch>
        </p:blipFill>
        <p:spPr bwMode="auto">
          <a:xfrm>
            <a:off x="7382385" y="2381112"/>
            <a:ext cx="4722929" cy="3146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1661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826D82BC-0547-A213-A39D-D23F944A6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A31447EF-BBCF-E0A6-D9A1-833AEC88EA16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6" name="Google Shape;106;p13">
            <a:extLst>
              <a:ext uri="{FF2B5EF4-FFF2-40B4-BE49-F238E27FC236}">
                <a16:creationId xmlns:a16="http://schemas.microsoft.com/office/drawing/2014/main" id="{474C55D1-C806-A94F-476F-6BF129CA02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841F38D3-6F56-9F20-746D-95EFA1E5FC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BAECEE-3A1C-3ACB-1FF6-AD82A061B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187388"/>
            <a:ext cx="5926531" cy="4714705"/>
          </a:xfrm>
        </p:spPr>
        <p:txBody>
          <a:bodyPr>
            <a:normAutofit/>
          </a:bodyPr>
          <a:lstStyle/>
          <a:p>
            <a:r>
              <a:rPr lang="en-US" sz="2000" dirty="0"/>
              <a:t>All models developed in the </a:t>
            </a:r>
            <a:r>
              <a:rPr lang="en-US" sz="2000" dirty="0" err="1"/>
              <a:t>SPoRC</a:t>
            </a:r>
            <a:r>
              <a:rPr lang="en-US" sz="2000" dirty="0"/>
              <a:t> generalized assessment package</a:t>
            </a:r>
          </a:p>
          <a:p>
            <a:r>
              <a:rPr lang="en-US" sz="2000" dirty="0"/>
              <a:t>Two primary models to be compared:</a:t>
            </a:r>
            <a:endParaRPr lang="en-US" sz="800" dirty="0"/>
          </a:p>
          <a:p>
            <a:pPr lvl="1"/>
            <a:r>
              <a:rPr lang="en-US" sz="1400" i="1" dirty="0"/>
              <a:t>26.1_1Reg</a:t>
            </a:r>
            <a:r>
              <a:rPr lang="en-US" sz="1400" dirty="0"/>
              <a:t>: Single region panmictic model</a:t>
            </a:r>
          </a:p>
          <a:p>
            <a:pPr lvl="1"/>
            <a:r>
              <a:rPr lang="en-US" sz="1400" i="1" dirty="0"/>
              <a:t>26.2_FAA</a:t>
            </a:r>
            <a:r>
              <a:rPr lang="en-US" sz="1400" dirty="0"/>
              <a:t>: FAA model with regional NOAA LLS fleets</a:t>
            </a:r>
          </a:p>
          <a:p>
            <a:r>
              <a:rPr lang="en-US" sz="2000" dirty="0"/>
              <a:t>Structure between the two models are essentially identical except for LLS fleet parametrization (and associated data fitting)</a:t>
            </a:r>
          </a:p>
          <a:p>
            <a:r>
              <a:rPr lang="en-US" sz="2000" dirty="0"/>
              <a:t>Rationale for the two models and associated model building steps (including simulation analyses) to be presented tomorrow</a:t>
            </a:r>
          </a:p>
          <a:p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62957E-CF3A-5218-87DB-0199A23FDA25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92580" y="3915782"/>
            <a:ext cx="2369131" cy="2946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A93B52-AB99-D518-2775-2F41885DD6E9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32837" y="1892856"/>
            <a:ext cx="4625788" cy="19274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C7AF84-5E2E-A9E4-1641-9E9629AA024B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32276" y="4299901"/>
            <a:ext cx="1435751" cy="1656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091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0"/>
          <p:cNvSpPr/>
          <p:nvPr/>
        </p:nvSpPr>
        <p:spPr>
          <a:xfrm>
            <a:off x="446534" y="457200"/>
            <a:ext cx="3703200" cy="95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7" name="Google Shape;447;p50"/>
          <p:cNvSpPr/>
          <p:nvPr/>
        </p:nvSpPr>
        <p:spPr>
          <a:xfrm>
            <a:off x="8042147" y="453643"/>
            <a:ext cx="3703200" cy="98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8" name="Google Shape;448;p50"/>
          <p:cNvSpPr/>
          <p:nvPr/>
        </p:nvSpPr>
        <p:spPr>
          <a:xfrm>
            <a:off x="4241830" y="457200"/>
            <a:ext cx="3703200" cy="91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55" name="Google Shape;455;p50"/>
          <p:cNvPicPr preferRelativeResize="0"/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1523" y="859287"/>
            <a:ext cx="4631279" cy="5139426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50"/>
          <p:cNvSpPr txBox="1">
            <a:spLocks noGrp="1"/>
          </p:cNvSpPr>
          <p:nvPr>
            <p:ph type="title"/>
          </p:nvPr>
        </p:nvSpPr>
        <p:spPr>
          <a:xfrm>
            <a:off x="3746322" y="782202"/>
            <a:ext cx="5526900" cy="27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Gill Sans"/>
              <a:buNone/>
            </a:pPr>
            <a:r>
              <a:rPr lang="en-US" sz="60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  <a:endParaRPr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03638" y="2715232"/>
            <a:ext cx="1627328" cy="241272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03638" y="859287"/>
            <a:ext cx="1627328" cy="179619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06479" y="3281388"/>
            <a:ext cx="1667674" cy="17447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BFBCE48-C775-4227-8A72-EDF4197FDDBE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06479" y="859287"/>
            <a:ext cx="1660811" cy="22236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Dividend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6842</TotalTime>
  <Words>1951</Words>
  <Application>Microsoft Office PowerPoint</Application>
  <PresentationFormat>Widescreen</PresentationFormat>
  <Paragraphs>257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Aptos</vt:lpstr>
      <vt:lpstr>Arial</vt:lpstr>
      <vt:lpstr>Calibri</vt:lpstr>
      <vt:lpstr>Cambria Math</vt:lpstr>
      <vt:lpstr>Corbel</vt:lpstr>
      <vt:lpstr>Gill Sans</vt:lpstr>
      <vt:lpstr>Times New Roman</vt:lpstr>
      <vt:lpstr>Wingdings</vt:lpstr>
      <vt:lpstr>Dividend</vt:lpstr>
      <vt:lpstr>Sablefish Assessment General Methodology 2026 CIE Review</vt:lpstr>
      <vt:lpstr>Agenda</vt:lpstr>
      <vt:lpstr>Order of Operations</vt:lpstr>
      <vt:lpstr>Assessment Biological and Fishery Considerations</vt:lpstr>
      <vt:lpstr>Assessment Data and Modeling Considerations</vt:lpstr>
      <vt:lpstr>The SPoRC Assessment Package</vt:lpstr>
      <vt:lpstr>The SPoRC Assessment Package</vt:lpstr>
      <vt:lpstr>SPoRC Bridging From ADMB</vt:lpstr>
      <vt:lpstr>Data Integration and Observation Processes</vt:lpstr>
      <vt:lpstr>Spatial and Fleet Structure</vt:lpstr>
      <vt:lpstr>Data Summary</vt:lpstr>
      <vt:lpstr>Data Summary</vt:lpstr>
      <vt:lpstr>General Model Structure</vt:lpstr>
      <vt:lpstr>Biology, Recruitment, and Initial Age Structure</vt:lpstr>
      <vt:lpstr>Fishing Dynamics</vt:lpstr>
      <vt:lpstr>Survey Dynamics – Single Region Model</vt:lpstr>
      <vt:lpstr>Survey Dynamics – FAA Model</vt:lpstr>
      <vt:lpstr>Observation Models</vt:lpstr>
      <vt:lpstr>Priors and Estimated Parameters</vt:lpstr>
      <vt:lpstr>Catch Projections and Reference Points</vt:lpstr>
      <vt:lpstr>Summary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Sablefish</dc:title>
  <dc:creator>Daniel.Goethel</dc:creator>
  <cp:lastModifiedBy>Daniel.Goethel</cp:lastModifiedBy>
  <cp:revision>268</cp:revision>
  <dcterms:modified xsi:type="dcterms:W3CDTF">2026-06-15T23:47:23Z</dcterms:modified>
</cp:coreProperties>
</file>