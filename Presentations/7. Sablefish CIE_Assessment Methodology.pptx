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tif" ContentType="image/tiff"/>
  <Default Extension="tiff" ContentType="image/tif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trictFirstAndLastChars="0" saveSubsetFonts="1" autoCompressPictures="0" bookmarkIdSeed="5">
  <p:sldMasterIdLst>
    <p:sldMasterId id="2147483658" r:id="rId1"/>
  </p:sldMasterIdLst>
  <p:notesMasterIdLst>
    <p:notesMasterId r:id="rId24"/>
  </p:notesMasterIdLst>
  <p:sldIdLst>
    <p:sldId id="256" r:id="rId2"/>
    <p:sldId id="324" r:id="rId3"/>
    <p:sldId id="371" r:id="rId4"/>
    <p:sldId id="394" r:id="rId5"/>
    <p:sldId id="395" r:id="rId6"/>
    <p:sldId id="295" r:id="rId7"/>
    <p:sldId id="398" r:id="rId8"/>
    <p:sldId id="396" r:id="rId9"/>
    <p:sldId id="397" r:id="rId10"/>
    <p:sldId id="393" r:id="rId11"/>
    <p:sldId id="299" r:id="rId12"/>
    <p:sldId id="400" r:id="rId13"/>
    <p:sldId id="303" r:id="rId14"/>
    <p:sldId id="401" r:id="rId15"/>
    <p:sldId id="399" r:id="rId16"/>
    <p:sldId id="402" r:id="rId17"/>
    <p:sldId id="406" r:id="rId18"/>
    <p:sldId id="404" r:id="rId19"/>
    <p:sldId id="403" r:id="rId20"/>
    <p:sldId id="408" r:id="rId21"/>
    <p:sldId id="407" r:id="rId22"/>
    <p:sldId id="294" r:id="rId23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5050"/>
    <a:srgbClr val="AA9E4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107" d="100"/>
          <a:sy n="107" d="100"/>
        </p:scale>
        <p:origin x="612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 dirty="0"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 dirty="0"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 dirty="0"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0" name="Google Shape;90;p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endParaRPr dirty="0"/>
          </a:p>
        </p:txBody>
      </p:sp>
      <p:sp>
        <p:nvSpPr>
          <p:cNvPr id="91" name="Google Shape;91;p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</a:t>
            </a:fld>
            <a:endParaRPr dirty="0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15c41c6b8da_3_21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2" name="Google Shape;102;g15c41c6b8da_3_21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03" name="Google Shape;103;g15c41c6b8da_3_219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2</a:t>
            </a:fld>
            <a:endParaRPr dirty="0"/>
          </a:p>
        </p:txBody>
      </p:sp>
    </p:spTree>
    <p:extLst>
      <p:ext uri="{BB962C8B-B14F-4D97-AF65-F5344CB8AC3E}">
        <p14:creationId xmlns:p14="http://schemas.microsoft.com/office/powerpoint/2010/main" val="415244298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3CE3D802-E2EC-DDC0-BE2C-523527A30B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15c41c6b8da_3_219:notes">
            <a:extLst>
              <a:ext uri="{FF2B5EF4-FFF2-40B4-BE49-F238E27FC236}">
                <a16:creationId xmlns:a16="http://schemas.microsoft.com/office/drawing/2014/main" id="{288EC860-B54C-0D33-9D93-CF9CB976573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2" name="Google Shape;102;g15c41c6b8da_3_219:notes">
            <a:extLst>
              <a:ext uri="{FF2B5EF4-FFF2-40B4-BE49-F238E27FC236}">
                <a16:creationId xmlns:a16="http://schemas.microsoft.com/office/drawing/2014/main" id="{E36C126F-E617-E537-20FE-22AFB40ACF0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03" name="Google Shape;103;g15c41c6b8da_3_219:notes">
            <a:extLst>
              <a:ext uri="{FF2B5EF4-FFF2-40B4-BE49-F238E27FC236}">
                <a16:creationId xmlns:a16="http://schemas.microsoft.com/office/drawing/2014/main" id="{F72CC066-2994-7E6A-C521-30F085F133EA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3</a:t>
            </a:fld>
            <a:endParaRPr dirty="0"/>
          </a:p>
        </p:txBody>
      </p:sp>
    </p:spTree>
    <p:extLst>
      <p:ext uri="{BB962C8B-B14F-4D97-AF65-F5344CB8AC3E}">
        <p14:creationId xmlns:p14="http://schemas.microsoft.com/office/powerpoint/2010/main" val="42802421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F0058D76-856B-828A-D413-96CBFE4D31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15c41c6b8da_3_219:notes">
            <a:extLst>
              <a:ext uri="{FF2B5EF4-FFF2-40B4-BE49-F238E27FC236}">
                <a16:creationId xmlns:a16="http://schemas.microsoft.com/office/drawing/2014/main" id="{2AA50DA5-B1C8-6F12-AABA-13652BA9892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2" name="Google Shape;102;g15c41c6b8da_3_219:notes">
            <a:extLst>
              <a:ext uri="{FF2B5EF4-FFF2-40B4-BE49-F238E27FC236}">
                <a16:creationId xmlns:a16="http://schemas.microsoft.com/office/drawing/2014/main" id="{9217C4BC-FB00-2F04-F6B5-BC492A9B42D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03" name="Google Shape;103;g15c41c6b8da_3_219:notes">
            <a:extLst>
              <a:ext uri="{FF2B5EF4-FFF2-40B4-BE49-F238E27FC236}">
                <a16:creationId xmlns:a16="http://schemas.microsoft.com/office/drawing/2014/main" id="{0F1FB95A-2B39-1652-DD26-3D5AE031E4C5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4</a:t>
            </a:fld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74106227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15c41c6b8da_3_21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2" name="Google Shape;102;g15c41c6b8da_3_21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03" name="Google Shape;103;g15c41c6b8da_3_219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5</a:t>
            </a:fld>
            <a:endParaRPr dirty="0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15c41c6b8da_3_21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2" name="Google Shape;102;g15c41c6b8da_3_21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03" name="Google Shape;103;g15c41c6b8da_3_219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6</a:t>
            </a:fld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8220295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4D56DFF9-8D40-BCA7-B008-F048FE988B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15c41c6b8da_3_219:notes">
            <a:extLst>
              <a:ext uri="{FF2B5EF4-FFF2-40B4-BE49-F238E27FC236}">
                <a16:creationId xmlns:a16="http://schemas.microsoft.com/office/drawing/2014/main" id="{C4CA6965-3D93-49A8-FCBA-583F562DAAF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2" name="Google Shape;102;g15c41c6b8da_3_219:notes">
            <a:extLst>
              <a:ext uri="{FF2B5EF4-FFF2-40B4-BE49-F238E27FC236}">
                <a16:creationId xmlns:a16="http://schemas.microsoft.com/office/drawing/2014/main" id="{5DAF6060-E4A1-F780-1B31-02594F28B3E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03" name="Google Shape;103;g15c41c6b8da_3_219:notes">
            <a:extLst>
              <a:ext uri="{FF2B5EF4-FFF2-40B4-BE49-F238E27FC236}">
                <a16:creationId xmlns:a16="http://schemas.microsoft.com/office/drawing/2014/main" id="{4FEC6232-EEAB-C906-B2B2-C3D14A0E194F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7</a:t>
            </a:fld>
            <a:endParaRPr dirty="0"/>
          </a:p>
        </p:txBody>
      </p:sp>
    </p:spTree>
    <p:extLst>
      <p:ext uri="{BB962C8B-B14F-4D97-AF65-F5344CB8AC3E}">
        <p14:creationId xmlns:p14="http://schemas.microsoft.com/office/powerpoint/2010/main" val="42571480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E4C148EA-A99C-9C69-4073-E1E22F7679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15c41c6b8da_3_219:notes">
            <a:extLst>
              <a:ext uri="{FF2B5EF4-FFF2-40B4-BE49-F238E27FC236}">
                <a16:creationId xmlns:a16="http://schemas.microsoft.com/office/drawing/2014/main" id="{DC423F29-4C98-23CC-6C39-930FD834D82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2" name="Google Shape;102;g15c41c6b8da_3_219:notes">
            <a:extLst>
              <a:ext uri="{FF2B5EF4-FFF2-40B4-BE49-F238E27FC236}">
                <a16:creationId xmlns:a16="http://schemas.microsoft.com/office/drawing/2014/main" id="{EA2BD4C4-358E-6E2B-4A96-19E7A269DD0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03" name="Google Shape;103;g15c41c6b8da_3_219:notes">
            <a:extLst>
              <a:ext uri="{FF2B5EF4-FFF2-40B4-BE49-F238E27FC236}">
                <a16:creationId xmlns:a16="http://schemas.microsoft.com/office/drawing/2014/main" id="{D306EC22-F309-B8E8-D05E-88295B173877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8</a:t>
            </a:fld>
            <a:endParaRPr dirty="0"/>
          </a:p>
        </p:txBody>
      </p:sp>
    </p:spTree>
    <p:extLst>
      <p:ext uri="{BB962C8B-B14F-4D97-AF65-F5344CB8AC3E}">
        <p14:creationId xmlns:p14="http://schemas.microsoft.com/office/powerpoint/2010/main" val="95718720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6D65FDC0-FCB8-5868-78C1-99D8174733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15c41c6b8da_3_219:notes">
            <a:extLst>
              <a:ext uri="{FF2B5EF4-FFF2-40B4-BE49-F238E27FC236}">
                <a16:creationId xmlns:a16="http://schemas.microsoft.com/office/drawing/2014/main" id="{22E23CC4-FD88-3D38-D52E-C8F3F36E334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2" name="Google Shape;102;g15c41c6b8da_3_219:notes">
            <a:extLst>
              <a:ext uri="{FF2B5EF4-FFF2-40B4-BE49-F238E27FC236}">
                <a16:creationId xmlns:a16="http://schemas.microsoft.com/office/drawing/2014/main" id="{90351077-740D-DEBF-3374-59F23410E5E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03" name="Google Shape;103;g15c41c6b8da_3_219:notes">
            <a:extLst>
              <a:ext uri="{FF2B5EF4-FFF2-40B4-BE49-F238E27FC236}">
                <a16:creationId xmlns:a16="http://schemas.microsoft.com/office/drawing/2014/main" id="{4ED29633-292F-0137-9F24-11F7FE8C3A18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9</a:t>
            </a:fld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297167965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5C5D144C-053F-BA95-D70E-695DF137A5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15c41c6b8da_3_219:notes">
            <a:extLst>
              <a:ext uri="{FF2B5EF4-FFF2-40B4-BE49-F238E27FC236}">
                <a16:creationId xmlns:a16="http://schemas.microsoft.com/office/drawing/2014/main" id="{6CE6FCEB-0FBB-715F-0D9D-129D146420F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2" name="Google Shape;102;g15c41c6b8da_3_219:notes">
            <a:extLst>
              <a:ext uri="{FF2B5EF4-FFF2-40B4-BE49-F238E27FC236}">
                <a16:creationId xmlns:a16="http://schemas.microsoft.com/office/drawing/2014/main" id="{A73AB14E-4299-5E6E-349A-27420469160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03" name="Google Shape;103;g15c41c6b8da_3_219:notes">
            <a:extLst>
              <a:ext uri="{FF2B5EF4-FFF2-40B4-BE49-F238E27FC236}">
                <a16:creationId xmlns:a16="http://schemas.microsoft.com/office/drawing/2014/main" id="{F8B62E48-096B-24EB-D0D7-C3A0357938F0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10</a:t>
            </a:fld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767043959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15c41c6b8da_3_21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2" name="Google Shape;102;g15c41c6b8da_3_21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03" name="Google Shape;103;g15c41c6b8da_3_219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11</a:t>
            </a:fld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442253688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A93FF1BE-5460-9FDC-887F-258686239B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15c41c6b8da_3_219:notes">
            <a:extLst>
              <a:ext uri="{FF2B5EF4-FFF2-40B4-BE49-F238E27FC236}">
                <a16:creationId xmlns:a16="http://schemas.microsoft.com/office/drawing/2014/main" id="{E5B99900-C8BC-BFCA-04DC-66BD9628350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2" name="Google Shape;102;g15c41c6b8da_3_219:notes">
            <a:extLst>
              <a:ext uri="{FF2B5EF4-FFF2-40B4-BE49-F238E27FC236}">
                <a16:creationId xmlns:a16="http://schemas.microsoft.com/office/drawing/2014/main" id="{5CF217AB-8244-629A-328D-2EAB838A89B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03" name="Google Shape;103;g15c41c6b8da_3_219:notes">
            <a:extLst>
              <a:ext uri="{FF2B5EF4-FFF2-40B4-BE49-F238E27FC236}">
                <a16:creationId xmlns:a16="http://schemas.microsoft.com/office/drawing/2014/main" id="{33D9DC7F-3271-F954-8D11-08C87F2F1349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12</a:t>
            </a:fld>
            <a:endParaRPr dirty="0"/>
          </a:p>
        </p:txBody>
      </p:sp>
    </p:spTree>
    <p:extLst>
      <p:ext uri="{BB962C8B-B14F-4D97-AF65-F5344CB8AC3E}">
        <p14:creationId xmlns:p14="http://schemas.microsoft.com/office/powerpoint/2010/main" val="420389734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15c41c6b8da_3_21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2" name="Google Shape;102;g15c41c6b8da_3_21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03" name="Google Shape;103;g15c41c6b8da_3_219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13</a:t>
            </a:fld>
            <a:endParaRPr dirty="0"/>
          </a:p>
        </p:txBody>
      </p:sp>
    </p:spTree>
    <p:extLst>
      <p:ext uri="{BB962C8B-B14F-4D97-AF65-F5344CB8AC3E}">
        <p14:creationId xmlns:p14="http://schemas.microsoft.com/office/powerpoint/2010/main" val="433523132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CF9C2980-484C-5766-427B-78D94B5C62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15c41c6b8da_3_219:notes">
            <a:extLst>
              <a:ext uri="{FF2B5EF4-FFF2-40B4-BE49-F238E27FC236}">
                <a16:creationId xmlns:a16="http://schemas.microsoft.com/office/drawing/2014/main" id="{FECDDFAA-94D6-25B5-3DF1-AF212787B39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2" name="Google Shape;102;g15c41c6b8da_3_219:notes">
            <a:extLst>
              <a:ext uri="{FF2B5EF4-FFF2-40B4-BE49-F238E27FC236}">
                <a16:creationId xmlns:a16="http://schemas.microsoft.com/office/drawing/2014/main" id="{132B89B5-8768-DE86-19ED-F9D123375FC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03" name="Google Shape;103;g15c41c6b8da_3_219:notes">
            <a:extLst>
              <a:ext uri="{FF2B5EF4-FFF2-40B4-BE49-F238E27FC236}">
                <a16:creationId xmlns:a16="http://schemas.microsoft.com/office/drawing/2014/main" id="{9F75C0DC-D3C2-71B0-DDFE-4D985DC54065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14</a:t>
            </a:fld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046222974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37173572-229B-7387-7E3B-269F141AF0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15c41c6b8da_3_219:notes">
            <a:extLst>
              <a:ext uri="{FF2B5EF4-FFF2-40B4-BE49-F238E27FC236}">
                <a16:creationId xmlns:a16="http://schemas.microsoft.com/office/drawing/2014/main" id="{79684FDC-6DA5-B240-507A-BBD166F9A80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2" name="Google Shape;102;g15c41c6b8da_3_219:notes">
            <a:extLst>
              <a:ext uri="{FF2B5EF4-FFF2-40B4-BE49-F238E27FC236}">
                <a16:creationId xmlns:a16="http://schemas.microsoft.com/office/drawing/2014/main" id="{B9A34703-21CB-A7F6-D37B-F7AB9FB15EC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03" name="Google Shape;103;g15c41c6b8da_3_219:notes">
            <a:extLst>
              <a:ext uri="{FF2B5EF4-FFF2-40B4-BE49-F238E27FC236}">
                <a16:creationId xmlns:a16="http://schemas.microsoft.com/office/drawing/2014/main" id="{4E09774D-22B8-47C5-70BC-6B47394A94B1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15</a:t>
            </a:fld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140323239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EF7E2106-0598-E0D4-5236-9F31221394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15c41c6b8da_3_219:notes">
            <a:extLst>
              <a:ext uri="{FF2B5EF4-FFF2-40B4-BE49-F238E27FC236}">
                <a16:creationId xmlns:a16="http://schemas.microsoft.com/office/drawing/2014/main" id="{1A331A2E-CB85-2B39-CB24-A01BA70E0C0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2" name="Google Shape;102;g15c41c6b8da_3_219:notes">
            <a:extLst>
              <a:ext uri="{FF2B5EF4-FFF2-40B4-BE49-F238E27FC236}">
                <a16:creationId xmlns:a16="http://schemas.microsoft.com/office/drawing/2014/main" id="{A0D88FDE-9834-89C9-BB0C-F66ECB145A0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03" name="Google Shape;103;g15c41c6b8da_3_219:notes">
            <a:extLst>
              <a:ext uri="{FF2B5EF4-FFF2-40B4-BE49-F238E27FC236}">
                <a16:creationId xmlns:a16="http://schemas.microsoft.com/office/drawing/2014/main" id="{6C640285-09C1-8172-4DEB-FD60B67C2A66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16</a:t>
            </a:fld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859467409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A778EB8D-A95D-14D2-29AC-F86BD688BC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15c41c6b8da_3_219:notes">
            <a:extLst>
              <a:ext uri="{FF2B5EF4-FFF2-40B4-BE49-F238E27FC236}">
                <a16:creationId xmlns:a16="http://schemas.microsoft.com/office/drawing/2014/main" id="{5E2E0993-877D-0785-5EBF-DA3DC4D2CFD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2" name="Google Shape;102;g15c41c6b8da_3_219:notes">
            <a:extLst>
              <a:ext uri="{FF2B5EF4-FFF2-40B4-BE49-F238E27FC236}">
                <a16:creationId xmlns:a16="http://schemas.microsoft.com/office/drawing/2014/main" id="{ECE06CBC-7E1F-0D16-4E8E-DB0410829C1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03" name="Google Shape;103;g15c41c6b8da_3_219:notes">
            <a:extLst>
              <a:ext uri="{FF2B5EF4-FFF2-40B4-BE49-F238E27FC236}">
                <a16:creationId xmlns:a16="http://schemas.microsoft.com/office/drawing/2014/main" id="{81934CB2-150D-7F2A-E7DD-59D5ECA53F03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17</a:t>
            </a:fld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529725165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37E33A7F-6356-3AE6-C3AF-4A5DA44CC3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15c41c6b8da_3_219:notes">
            <a:extLst>
              <a:ext uri="{FF2B5EF4-FFF2-40B4-BE49-F238E27FC236}">
                <a16:creationId xmlns:a16="http://schemas.microsoft.com/office/drawing/2014/main" id="{F1E20024-5E3A-D111-2CC5-373B0A972A5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2" name="Google Shape;102;g15c41c6b8da_3_219:notes">
            <a:extLst>
              <a:ext uri="{FF2B5EF4-FFF2-40B4-BE49-F238E27FC236}">
                <a16:creationId xmlns:a16="http://schemas.microsoft.com/office/drawing/2014/main" id="{26468E22-BFE9-E639-25E1-5C0E2AE36B5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03" name="Google Shape;103;g15c41c6b8da_3_219:notes">
            <a:extLst>
              <a:ext uri="{FF2B5EF4-FFF2-40B4-BE49-F238E27FC236}">
                <a16:creationId xmlns:a16="http://schemas.microsoft.com/office/drawing/2014/main" id="{C0D78A36-7EA9-2B6E-2700-7E1AD69EABC4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18</a:t>
            </a:fld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883306244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274AE4BC-A9AD-CE6D-FA58-CF1E320164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15c41c6b8da_3_219:notes">
            <a:extLst>
              <a:ext uri="{FF2B5EF4-FFF2-40B4-BE49-F238E27FC236}">
                <a16:creationId xmlns:a16="http://schemas.microsoft.com/office/drawing/2014/main" id="{7D86CFA2-D9F2-D94A-5B9F-EDF6982DC94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2" name="Google Shape;102;g15c41c6b8da_3_219:notes">
            <a:extLst>
              <a:ext uri="{FF2B5EF4-FFF2-40B4-BE49-F238E27FC236}">
                <a16:creationId xmlns:a16="http://schemas.microsoft.com/office/drawing/2014/main" id="{3076658E-555F-C123-A3D4-AA11DED09CF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03" name="Google Shape;103;g15c41c6b8da_3_219:notes">
            <a:extLst>
              <a:ext uri="{FF2B5EF4-FFF2-40B4-BE49-F238E27FC236}">
                <a16:creationId xmlns:a16="http://schemas.microsoft.com/office/drawing/2014/main" id="{7DA8601C-840E-2E23-0C33-22A95F8138F8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19</a:t>
            </a:fld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74105248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A4FAAA68-DD10-0248-D0AA-916801B019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15c41c6b8da_3_219:notes">
            <a:extLst>
              <a:ext uri="{FF2B5EF4-FFF2-40B4-BE49-F238E27FC236}">
                <a16:creationId xmlns:a16="http://schemas.microsoft.com/office/drawing/2014/main" id="{AB349E41-5F48-AB67-49FA-358C6023BA7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2" name="Google Shape;102;g15c41c6b8da_3_219:notes">
            <a:extLst>
              <a:ext uri="{FF2B5EF4-FFF2-40B4-BE49-F238E27FC236}">
                <a16:creationId xmlns:a16="http://schemas.microsoft.com/office/drawing/2014/main" id="{96BC3B79-3E62-D7C8-82B5-6D461D56E53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03" name="Google Shape;103;g15c41c6b8da_3_219:notes">
            <a:extLst>
              <a:ext uri="{FF2B5EF4-FFF2-40B4-BE49-F238E27FC236}">
                <a16:creationId xmlns:a16="http://schemas.microsoft.com/office/drawing/2014/main" id="{65BE769D-80BB-5FFC-F971-84DB9CD904C2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20</a:t>
            </a:fld>
            <a:endParaRPr dirty="0"/>
          </a:p>
        </p:txBody>
      </p:sp>
    </p:spTree>
    <p:extLst>
      <p:ext uri="{BB962C8B-B14F-4D97-AF65-F5344CB8AC3E}">
        <p14:creationId xmlns:p14="http://schemas.microsoft.com/office/powerpoint/2010/main" val="705307286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3D7BF8EC-9C57-C984-DBE4-C764C75F72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15c41c6b8da_3_219:notes">
            <a:extLst>
              <a:ext uri="{FF2B5EF4-FFF2-40B4-BE49-F238E27FC236}">
                <a16:creationId xmlns:a16="http://schemas.microsoft.com/office/drawing/2014/main" id="{A8795DE0-DD82-8975-EA01-6C89C0FEA61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2" name="Google Shape;102;g15c41c6b8da_3_219:notes">
            <a:extLst>
              <a:ext uri="{FF2B5EF4-FFF2-40B4-BE49-F238E27FC236}">
                <a16:creationId xmlns:a16="http://schemas.microsoft.com/office/drawing/2014/main" id="{35321FFE-9145-1806-AA12-B290344D736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03" name="Google Shape;103;g15c41c6b8da_3_219:notes">
            <a:extLst>
              <a:ext uri="{FF2B5EF4-FFF2-40B4-BE49-F238E27FC236}">
                <a16:creationId xmlns:a16="http://schemas.microsoft.com/office/drawing/2014/main" id="{EABAAC11-98BC-8A98-0FD6-A6999024DC37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21</a:t>
            </a:fld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693286843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3" name="Google Shape;443;g15e58772ac3_4_15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444" name="Google Shape;444;g15e58772ac3_4_15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>
  <p:cSld name="Title Slide">
    <p:spTree>
      <p:nvGrpSpPr>
        <p:cNvPr id="1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2"/>
          <p:cNvSpPr/>
          <p:nvPr/>
        </p:nvSpPr>
        <p:spPr>
          <a:xfrm>
            <a:off x="446534" y="3085765"/>
            <a:ext cx="11262866" cy="33048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9" name="Google Shape;19;p2"/>
          <p:cNvSpPr txBox="1">
            <a:spLocks noGrp="1"/>
          </p:cNvSpPr>
          <p:nvPr>
            <p:ph type="ctrTitle"/>
          </p:nvPr>
        </p:nvSpPr>
        <p:spPr>
          <a:xfrm>
            <a:off x="581191" y="1020431"/>
            <a:ext cx="10993549" cy="14750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Gill Sans"/>
              <a:buNone/>
              <a:defRPr sz="3600">
                <a:solidFill>
                  <a:schemeClr val="accent1"/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20" name="Google Shape;20;p2"/>
          <p:cNvSpPr txBox="1">
            <a:spLocks noGrp="1"/>
          </p:cNvSpPr>
          <p:nvPr>
            <p:ph type="subTitle" idx="1"/>
          </p:nvPr>
        </p:nvSpPr>
        <p:spPr>
          <a:xfrm>
            <a:off x="581194" y="2495445"/>
            <a:ext cx="10993546" cy="5903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spcBef>
                <a:spcPts val="360"/>
              </a:spcBef>
              <a:spcAft>
                <a:spcPts val="0"/>
              </a:spcAft>
              <a:buSzPts val="1656"/>
              <a:buNone/>
              <a:defRPr sz="1800" cap="none">
                <a:solidFill>
                  <a:schemeClr val="accent2"/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  <a:lvl2pPr lvl="1" algn="ctr">
              <a:spcBef>
                <a:spcPts val="600"/>
              </a:spcBef>
              <a:spcAft>
                <a:spcPts val="0"/>
              </a:spcAft>
              <a:buSzPts val="184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600"/>
              </a:spcBef>
              <a:spcAft>
                <a:spcPts val="0"/>
              </a:spcAft>
              <a:buSzPts val="1656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600"/>
              </a:spcBef>
              <a:spcAft>
                <a:spcPts val="0"/>
              </a:spcAft>
              <a:buSzPts val="1656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600"/>
              </a:spcBef>
              <a:spcAft>
                <a:spcPts val="0"/>
              </a:spcAft>
              <a:buSzPts val="1656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600"/>
              </a:spcBef>
              <a:spcAft>
                <a:spcPts val="0"/>
              </a:spcAft>
              <a:buSzPts val="1104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600"/>
              </a:spcBef>
              <a:spcAft>
                <a:spcPts val="0"/>
              </a:spcAft>
              <a:buSzPts val="1104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600"/>
              </a:spcBef>
              <a:spcAft>
                <a:spcPts val="0"/>
              </a:spcAft>
              <a:buSzPts val="1104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600"/>
              </a:spcBef>
              <a:spcAft>
                <a:spcPts val="600"/>
              </a:spcAft>
              <a:buSzPts val="1104"/>
              <a:buNone/>
              <a:defRPr>
                <a:solidFill>
                  <a:srgbClr val="888888"/>
                </a:solidFill>
              </a:defRPr>
            </a:lvl9pPr>
          </a:lstStyle>
          <a:p>
            <a:endParaRPr dirty="0"/>
          </a:p>
        </p:txBody>
      </p:sp>
      <p:sp>
        <p:nvSpPr>
          <p:cNvPr id="21" name="Google Shape;21;p2"/>
          <p:cNvSpPr txBox="1">
            <a:spLocks noGrp="1"/>
          </p:cNvSpPr>
          <p:nvPr>
            <p:ph type="dt" idx="10"/>
          </p:nvPr>
        </p:nvSpPr>
        <p:spPr>
          <a:xfrm>
            <a:off x="7605951" y="5956137"/>
            <a:ext cx="2460762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rgbClr val="2D58AC"/>
                </a:solidFill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  <a:sym typeface="Gill Sans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endParaRPr lang="en-US" dirty="0"/>
          </a:p>
        </p:txBody>
      </p:sp>
      <p:sp>
        <p:nvSpPr>
          <p:cNvPr id="22" name="Google Shape;22;p2"/>
          <p:cNvSpPr txBox="1">
            <a:spLocks noGrp="1"/>
          </p:cNvSpPr>
          <p:nvPr>
            <p:ph type="sldNum" idx="12"/>
          </p:nvPr>
        </p:nvSpPr>
        <p:spPr>
          <a:xfrm>
            <a:off x="10174778" y="5956137"/>
            <a:ext cx="1399962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1600" b="0" i="0" u="none" strike="noStrike" cap="none">
                <a:solidFill>
                  <a:srgbClr val="2D58AC"/>
                </a:solidFill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  <a:sym typeface="Gill Sans"/>
              </a:defRPr>
            </a:lvl1pPr>
            <a:lvl2pPr marL="0" lvl="1" indent="0" algn="r">
              <a:spcBef>
                <a:spcPts val="0"/>
              </a:spcBef>
              <a:buNone/>
              <a:defRPr sz="16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L="0" lvl="2" indent="0" algn="r">
              <a:spcBef>
                <a:spcPts val="0"/>
              </a:spcBef>
              <a:buNone/>
              <a:defRPr sz="16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L="0" lvl="3" indent="0" algn="r">
              <a:spcBef>
                <a:spcPts val="0"/>
              </a:spcBef>
              <a:buNone/>
              <a:defRPr sz="16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L="0" lvl="4" indent="0" algn="r">
              <a:spcBef>
                <a:spcPts val="0"/>
              </a:spcBef>
              <a:buNone/>
              <a:defRPr sz="16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L="0" lvl="5" indent="0" algn="r">
              <a:spcBef>
                <a:spcPts val="0"/>
              </a:spcBef>
              <a:buNone/>
              <a:defRPr sz="16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L="0" lvl="6" indent="0" algn="r">
              <a:spcBef>
                <a:spcPts val="0"/>
              </a:spcBef>
              <a:buNone/>
              <a:defRPr sz="16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L="0" lvl="7" indent="0" algn="r">
              <a:spcBef>
                <a:spcPts val="0"/>
              </a:spcBef>
              <a:buNone/>
              <a:defRPr sz="16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L="0" lvl="8" indent="0" algn="r">
              <a:spcBef>
                <a:spcPts val="0"/>
              </a:spcBef>
              <a:buNone/>
              <a:defRPr sz="16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23" name="Google Shape;23;p2"/>
          <p:cNvSpPr>
            <a:spLocks noGrp="1"/>
          </p:cNvSpPr>
          <p:nvPr>
            <p:ph type="pic" idx="2"/>
          </p:nvPr>
        </p:nvSpPr>
        <p:spPr>
          <a:xfrm>
            <a:off x="446534" y="5681499"/>
            <a:ext cx="914400" cy="9144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userDrawn="1">
  <p:cSld name="Section Header">
    <p:spTree>
      <p:nvGrpSpPr>
        <p:cNvPr id="1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/>
          <p:nvPr/>
        </p:nvSpPr>
        <p:spPr>
          <a:xfrm>
            <a:off x="447817" y="5141974"/>
            <a:ext cx="11290860" cy="125882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32" name="Google Shape;32;p4"/>
          <p:cNvSpPr txBox="1">
            <a:spLocks noGrp="1"/>
          </p:cNvSpPr>
          <p:nvPr>
            <p:ph type="title"/>
          </p:nvPr>
        </p:nvSpPr>
        <p:spPr>
          <a:xfrm>
            <a:off x="581193" y="3043910"/>
            <a:ext cx="11029615" cy="14975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Gill Sans"/>
              <a:buNone/>
              <a:defRPr sz="3600" b="0" cap="none">
                <a:solidFill>
                  <a:schemeClr val="accent1"/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33" name="Google Shape;33;p4"/>
          <p:cNvSpPr txBox="1">
            <a:spLocks noGrp="1"/>
          </p:cNvSpPr>
          <p:nvPr>
            <p:ph type="body" idx="1"/>
          </p:nvPr>
        </p:nvSpPr>
        <p:spPr>
          <a:xfrm>
            <a:off x="581192" y="4541417"/>
            <a:ext cx="11029615" cy="6005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360"/>
              </a:spcBef>
              <a:spcAft>
                <a:spcPts val="0"/>
              </a:spcAft>
              <a:buSzPts val="1656"/>
              <a:buNone/>
              <a:defRPr sz="1800" cap="none">
                <a:solidFill>
                  <a:schemeClr val="accent2"/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  <a:lvl2pPr marL="914400" lvl="1" indent="-228600" algn="l">
              <a:spcBef>
                <a:spcPts val="600"/>
              </a:spcBef>
              <a:spcAft>
                <a:spcPts val="0"/>
              </a:spcAft>
              <a:buSzPts val="1656"/>
              <a:buNone/>
              <a:defRPr sz="1800">
                <a:solidFill>
                  <a:srgbClr val="888888"/>
                </a:solidFill>
              </a:defRPr>
            </a:lvl2pPr>
            <a:lvl3pPr marL="1371600" lvl="2" indent="-228600" algn="l">
              <a:spcBef>
                <a:spcPts val="600"/>
              </a:spcBef>
              <a:spcAft>
                <a:spcPts val="0"/>
              </a:spcAft>
              <a:buSzPts val="1472"/>
              <a:buNone/>
              <a:defRPr sz="1600">
                <a:solidFill>
                  <a:srgbClr val="888888"/>
                </a:solidFill>
              </a:defRPr>
            </a:lvl3pPr>
            <a:lvl4pPr marL="1828800" lvl="3" indent="-228600" algn="l">
              <a:spcBef>
                <a:spcPts val="600"/>
              </a:spcBef>
              <a:spcAft>
                <a:spcPts val="0"/>
              </a:spcAft>
              <a:buSzPts val="1288"/>
              <a:buNone/>
              <a:defRPr sz="1400">
                <a:solidFill>
                  <a:srgbClr val="888888"/>
                </a:solidFill>
              </a:defRPr>
            </a:lvl4pPr>
            <a:lvl5pPr marL="2286000" lvl="4" indent="-228600" algn="l">
              <a:spcBef>
                <a:spcPts val="600"/>
              </a:spcBef>
              <a:spcAft>
                <a:spcPts val="0"/>
              </a:spcAft>
              <a:buSzPts val="1288"/>
              <a:buNone/>
              <a:defRPr sz="1400">
                <a:solidFill>
                  <a:srgbClr val="888888"/>
                </a:solidFill>
              </a:defRPr>
            </a:lvl5pPr>
            <a:lvl6pPr marL="2743200" lvl="5" indent="-228600" algn="l">
              <a:spcBef>
                <a:spcPts val="600"/>
              </a:spcBef>
              <a:spcAft>
                <a:spcPts val="0"/>
              </a:spcAft>
              <a:buSzPts val="1288"/>
              <a:buNone/>
              <a:defRPr sz="1400">
                <a:solidFill>
                  <a:srgbClr val="888888"/>
                </a:solidFill>
              </a:defRPr>
            </a:lvl6pPr>
            <a:lvl7pPr marL="3200400" lvl="6" indent="-228600" algn="l">
              <a:spcBef>
                <a:spcPts val="600"/>
              </a:spcBef>
              <a:spcAft>
                <a:spcPts val="0"/>
              </a:spcAft>
              <a:buSzPts val="1288"/>
              <a:buNone/>
              <a:defRPr sz="1400">
                <a:solidFill>
                  <a:srgbClr val="888888"/>
                </a:solidFill>
              </a:defRPr>
            </a:lvl7pPr>
            <a:lvl8pPr marL="3657600" lvl="7" indent="-228600" algn="l">
              <a:spcBef>
                <a:spcPts val="600"/>
              </a:spcBef>
              <a:spcAft>
                <a:spcPts val="0"/>
              </a:spcAft>
              <a:buSzPts val="1288"/>
              <a:buNone/>
              <a:defRPr sz="1400">
                <a:solidFill>
                  <a:srgbClr val="888888"/>
                </a:solidFill>
              </a:defRPr>
            </a:lvl8pPr>
            <a:lvl9pPr marL="4114800" lvl="8" indent="-228600" algn="l">
              <a:spcBef>
                <a:spcPts val="600"/>
              </a:spcBef>
              <a:spcAft>
                <a:spcPts val="600"/>
              </a:spcAft>
              <a:buSzPts val="1288"/>
              <a:buNone/>
              <a:defRPr sz="1400">
                <a:solidFill>
                  <a:srgbClr val="888888"/>
                </a:solidFill>
              </a:defRPr>
            </a:lvl9pPr>
          </a:lstStyle>
          <a:p>
            <a:endParaRPr dirty="0"/>
          </a:p>
        </p:txBody>
      </p:sp>
      <p:sp>
        <p:nvSpPr>
          <p:cNvPr id="34" name="Google Shape;34;p4"/>
          <p:cNvSpPr txBox="1">
            <a:spLocks noGrp="1"/>
          </p:cNvSpPr>
          <p:nvPr>
            <p:ph type="dt" idx="10"/>
          </p:nvPr>
        </p:nvSpPr>
        <p:spPr>
          <a:xfrm>
            <a:off x="7605952" y="5956137"/>
            <a:ext cx="2377634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rgbClr val="2D58AC"/>
                </a:solidFill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  <a:sym typeface="Gill Sans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endParaRPr lang="en-US" dirty="0"/>
          </a:p>
        </p:txBody>
      </p:sp>
      <p:sp>
        <p:nvSpPr>
          <p:cNvPr id="35" name="Google Shape;35;p4"/>
          <p:cNvSpPr txBox="1">
            <a:spLocks noGrp="1"/>
          </p:cNvSpPr>
          <p:nvPr>
            <p:ph type="sldNum" idx="12"/>
          </p:nvPr>
        </p:nvSpPr>
        <p:spPr>
          <a:xfrm>
            <a:off x="10133216" y="5956137"/>
            <a:ext cx="1477592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1600" b="0" i="0" u="none" strike="noStrike" cap="none">
                <a:solidFill>
                  <a:srgbClr val="2D58AC"/>
                </a:solidFill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  <a:sym typeface="Gill Sans"/>
              </a:defRPr>
            </a:lvl1pPr>
            <a:lvl2pPr marL="0" lvl="1" indent="0" algn="r">
              <a:spcBef>
                <a:spcPts val="0"/>
              </a:spcBef>
              <a:buNone/>
              <a:defRPr sz="16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L="0" lvl="2" indent="0" algn="r">
              <a:spcBef>
                <a:spcPts val="0"/>
              </a:spcBef>
              <a:buNone/>
              <a:defRPr sz="16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L="0" lvl="3" indent="0" algn="r">
              <a:spcBef>
                <a:spcPts val="0"/>
              </a:spcBef>
              <a:buNone/>
              <a:defRPr sz="16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L="0" lvl="4" indent="0" algn="r">
              <a:spcBef>
                <a:spcPts val="0"/>
              </a:spcBef>
              <a:buNone/>
              <a:defRPr sz="16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L="0" lvl="5" indent="0" algn="r">
              <a:spcBef>
                <a:spcPts val="0"/>
              </a:spcBef>
              <a:buNone/>
              <a:defRPr sz="16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L="0" lvl="6" indent="0" algn="r">
              <a:spcBef>
                <a:spcPts val="0"/>
              </a:spcBef>
              <a:buNone/>
              <a:defRPr sz="16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L="0" lvl="7" indent="0" algn="r">
              <a:spcBef>
                <a:spcPts val="0"/>
              </a:spcBef>
              <a:buNone/>
              <a:defRPr sz="16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L="0" lvl="8" indent="0" algn="r">
              <a:spcBef>
                <a:spcPts val="0"/>
              </a:spcBef>
              <a:buNone/>
              <a:defRPr sz="16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 dirty="0"/>
          </a:p>
        </p:txBody>
      </p:sp>
      <p:pic>
        <p:nvPicPr>
          <p:cNvPr id="36" name="Google Shape;36;p4"/>
          <p:cNvPicPr preferRelativeResize="0"/>
          <p:nvPr/>
        </p:nvPicPr>
        <p:blipFill rotWithShape="1">
          <a:blip r:embed="rId2" cstate="hqprint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0665346" y="5956136"/>
            <a:ext cx="413332" cy="34811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userDrawn="1">
  <p:cSld name="Title and Content">
    <p:spTree>
      <p:nvGrpSpPr>
        <p:cNvPr id="1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/>
          <p:nvPr/>
        </p:nvSpPr>
        <p:spPr>
          <a:xfrm>
            <a:off x="440286" y="614407"/>
            <a:ext cx="11309338" cy="11892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40" name="Google Shape;40;p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Gill Sans"/>
              <a:buNone/>
              <a:defRPr sz="3200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41" name="Google Shape;41;p5"/>
          <p:cNvSpPr txBox="1">
            <a:spLocks noGrp="1"/>
          </p:cNvSpPr>
          <p:nvPr>
            <p:ph type="body" idx="1"/>
          </p:nvPr>
        </p:nvSpPr>
        <p:spPr>
          <a:xfrm>
            <a:off x="581192" y="2180496"/>
            <a:ext cx="11029615" cy="36783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33756" algn="l">
              <a:spcBef>
                <a:spcPts val="360"/>
              </a:spcBef>
              <a:spcAft>
                <a:spcPts val="0"/>
              </a:spcAft>
              <a:buClr>
                <a:schemeClr val="accent2"/>
              </a:buClr>
              <a:buSzPts val="1656"/>
              <a:buFont typeface="Wingdings" panose="05000000000000000000" pitchFamily="2" charset="2"/>
              <a:buChar char="§"/>
              <a:defRPr sz="2400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  <a:lvl2pPr marL="914400" lvl="1" indent="-333756" algn="l">
              <a:spcBef>
                <a:spcPts val="600"/>
              </a:spcBef>
              <a:spcAft>
                <a:spcPts val="0"/>
              </a:spcAft>
              <a:buClr>
                <a:schemeClr val="accent2"/>
              </a:buClr>
              <a:buSzPts val="1656"/>
              <a:buFont typeface="Wingdings" panose="05000000000000000000" pitchFamily="2" charset="2"/>
              <a:buChar char="§"/>
              <a:defRPr sz="1800">
                <a:latin typeface="Times New Roman" panose="02020603050405020304" pitchFamily="18" charset="0"/>
                <a:cs typeface="Times New Roman" panose="02020603050405020304" pitchFamily="18" charset="0"/>
              </a:defRPr>
            </a:lvl2pPr>
            <a:lvl3pPr marL="1371600" lvl="2" indent="-333756" algn="l">
              <a:spcBef>
                <a:spcPts val="600"/>
              </a:spcBef>
              <a:spcAft>
                <a:spcPts val="0"/>
              </a:spcAft>
              <a:buClr>
                <a:schemeClr val="accent2"/>
              </a:buClr>
              <a:buSzPts val="1656"/>
              <a:buFont typeface="Wingdings" panose="05000000000000000000" pitchFamily="2" charset="2"/>
              <a:buChar char="§"/>
              <a:defRPr>
                <a:latin typeface="Times New Roman" panose="02020603050405020304" pitchFamily="18" charset="0"/>
                <a:cs typeface="Times New Roman" panose="02020603050405020304" pitchFamily="18" charset="0"/>
              </a:defRPr>
            </a:lvl3pPr>
            <a:lvl4pPr marL="1828800" lvl="3" indent="-333756" algn="l">
              <a:spcBef>
                <a:spcPts val="600"/>
              </a:spcBef>
              <a:spcAft>
                <a:spcPts val="0"/>
              </a:spcAft>
              <a:buClr>
                <a:schemeClr val="accent2"/>
              </a:buClr>
              <a:buSzPts val="1656"/>
              <a:buFont typeface="Wingdings" panose="05000000000000000000" pitchFamily="2" charset="2"/>
              <a:buChar char="§"/>
              <a:defRPr sz="1200">
                <a:latin typeface="Times New Roman" panose="02020603050405020304" pitchFamily="18" charset="0"/>
                <a:cs typeface="Times New Roman" panose="02020603050405020304" pitchFamily="18" charset="0"/>
              </a:defRPr>
            </a:lvl4pPr>
            <a:lvl5pPr marL="2286000" lvl="4" indent="-333756" algn="l"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5pPr>
            <a:lvl6pPr marL="2743200" lvl="5" indent="-333756" algn="l"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6pPr>
            <a:lvl7pPr marL="3200400" lvl="6" indent="-333756" algn="l"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7pPr>
            <a:lvl8pPr marL="3657600" lvl="7" indent="-333756" algn="l"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8pPr>
            <a:lvl9pPr marL="4114800" lvl="8" indent="-333756" algn="l">
              <a:spcBef>
                <a:spcPts val="600"/>
              </a:spcBef>
              <a:spcAft>
                <a:spcPts val="600"/>
              </a:spcAft>
              <a:buSzPts val="1656"/>
              <a:buChar char="◼"/>
              <a:defRPr/>
            </a:lvl9pPr>
          </a:lstStyle>
          <a:p>
            <a:endParaRPr lang="en-US" dirty="0"/>
          </a:p>
          <a:p>
            <a:pPr lvl="1"/>
            <a:endParaRPr lang="en-US" dirty="0"/>
          </a:p>
          <a:p>
            <a:pPr lvl="2"/>
            <a:endParaRPr lang="en-US" dirty="0"/>
          </a:p>
          <a:p>
            <a:pPr lvl="3"/>
            <a:endParaRPr dirty="0"/>
          </a:p>
        </p:txBody>
      </p:sp>
      <p:sp>
        <p:nvSpPr>
          <p:cNvPr id="42" name="Google Shape;42;p5"/>
          <p:cNvSpPr txBox="1">
            <a:spLocks noGrp="1"/>
          </p:cNvSpPr>
          <p:nvPr>
            <p:ph type="dt" idx="10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  <a:sym typeface="Gill Sans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endParaRPr lang="en-US" dirty="0"/>
          </a:p>
        </p:txBody>
      </p:sp>
      <p:sp>
        <p:nvSpPr>
          <p:cNvPr id="43" name="Google Shape;43;p5"/>
          <p:cNvSpPr txBox="1">
            <a:spLocks noGrp="1"/>
          </p:cNvSpPr>
          <p:nvPr>
            <p:ph type="sldNum" idx="12"/>
          </p:nvPr>
        </p:nvSpPr>
        <p:spPr>
          <a:xfrm>
            <a:off x="10558300" y="5956137"/>
            <a:ext cx="1461904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1600" b="0" i="0" u="none" strike="noStrike" cap="none">
                <a:solidFill>
                  <a:schemeClr val="accent2"/>
                </a:solidFill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  <a:sym typeface="Gill Sans"/>
              </a:defRPr>
            </a:lvl1pPr>
            <a:lvl2pPr marL="0" lvl="1" indent="0" algn="r">
              <a:spcBef>
                <a:spcPts val="0"/>
              </a:spcBef>
              <a:buNone/>
              <a:defRPr sz="16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L="0" lvl="2" indent="0" algn="r">
              <a:spcBef>
                <a:spcPts val="0"/>
              </a:spcBef>
              <a:buNone/>
              <a:defRPr sz="16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L="0" lvl="3" indent="0" algn="r">
              <a:spcBef>
                <a:spcPts val="0"/>
              </a:spcBef>
              <a:buNone/>
              <a:defRPr sz="16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L="0" lvl="4" indent="0" algn="r">
              <a:spcBef>
                <a:spcPts val="0"/>
              </a:spcBef>
              <a:buNone/>
              <a:defRPr sz="16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L="0" lvl="5" indent="0" algn="r">
              <a:spcBef>
                <a:spcPts val="0"/>
              </a:spcBef>
              <a:buNone/>
              <a:defRPr sz="16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L="0" lvl="6" indent="0" algn="r">
              <a:spcBef>
                <a:spcPts val="0"/>
              </a:spcBef>
              <a:buNone/>
              <a:defRPr sz="16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L="0" lvl="7" indent="0" algn="r">
              <a:spcBef>
                <a:spcPts val="0"/>
              </a:spcBef>
              <a:buNone/>
              <a:defRPr sz="16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L="0" lvl="8" indent="0" algn="r">
              <a:spcBef>
                <a:spcPts val="0"/>
              </a:spcBef>
              <a:buNone/>
              <a:defRPr sz="16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.png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1"/>
          <p:cNvSpPr txBox="1">
            <a:spLocks noGrp="1"/>
          </p:cNvSpPr>
          <p:nvPr>
            <p:ph type="sldNum" idx="12"/>
          </p:nvPr>
        </p:nvSpPr>
        <p:spPr>
          <a:xfrm>
            <a:off x="10558298" y="5951811"/>
            <a:ext cx="1470217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600" b="0" i="0" u="none" strike="noStrike" cap="none">
                <a:solidFill>
                  <a:schemeClr val="accent2"/>
                </a:solidFill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  <a:sym typeface="Gill Sans"/>
              </a:defRPr>
            </a:lvl1pPr>
            <a:lvl2pPr marL="0" marR="0" lvl="1" indent="0" algn="r" rtl="0">
              <a:spcBef>
                <a:spcPts val="0"/>
              </a:spcBef>
              <a:buNone/>
              <a:defRPr sz="16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L="0" marR="0" lvl="2" indent="0" algn="r" rtl="0">
              <a:spcBef>
                <a:spcPts val="0"/>
              </a:spcBef>
              <a:buNone/>
              <a:defRPr sz="16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L="0" marR="0" lvl="3" indent="0" algn="r" rtl="0">
              <a:spcBef>
                <a:spcPts val="0"/>
              </a:spcBef>
              <a:buNone/>
              <a:defRPr sz="16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L="0" marR="0" lvl="4" indent="0" algn="r" rtl="0">
              <a:spcBef>
                <a:spcPts val="0"/>
              </a:spcBef>
              <a:buNone/>
              <a:defRPr sz="16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L="0" marR="0" lvl="5" indent="0" algn="r" rtl="0">
              <a:spcBef>
                <a:spcPts val="0"/>
              </a:spcBef>
              <a:buNone/>
              <a:defRPr sz="16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L="0" marR="0" lvl="6" indent="0" algn="r" rtl="0">
              <a:spcBef>
                <a:spcPts val="0"/>
              </a:spcBef>
              <a:buNone/>
              <a:defRPr sz="16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L="0" marR="0" lvl="7" indent="0" algn="r" rtl="0">
              <a:spcBef>
                <a:spcPts val="0"/>
              </a:spcBef>
              <a:buNone/>
              <a:defRPr sz="16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L="0" marR="0" lvl="8" indent="0" algn="r" rtl="0">
              <a:spcBef>
                <a:spcPts val="0"/>
              </a:spcBef>
              <a:buNone/>
              <a:defRPr sz="16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3" name="Google Shape;13;p1"/>
          <p:cNvSpPr/>
          <p:nvPr/>
        </p:nvSpPr>
        <p:spPr>
          <a:xfrm>
            <a:off x="446534" y="457200"/>
            <a:ext cx="3703320" cy="9499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4" name="Google Shape;14;p1"/>
          <p:cNvSpPr/>
          <p:nvPr/>
        </p:nvSpPr>
        <p:spPr>
          <a:xfrm>
            <a:off x="8042147" y="453643"/>
            <a:ext cx="3703320" cy="98554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5" name="Google Shape;15;p1"/>
          <p:cNvSpPr/>
          <p:nvPr/>
        </p:nvSpPr>
        <p:spPr>
          <a:xfrm>
            <a:off x="4241830" y="457200"/>
            <a:ext cx="3703320" cy="9144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pic>
        <p:nvPicPr>
          <p:cNvPr id="16" name="Google Shape;16;p1"/>
          <p:cNvPicPr preferRelativeResize="0"/>
          <p:nvPr/>
        </p:nvPicPr>
        <p:blipFill rotWithShape="1">
          <a:blip r:embed="rId5" cstate="hqprint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1086740" y="5978817"/>
            <a:ext cx="413332" cy="348117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46534" y="679162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50" r:id="rId2"/>
    <p:sldLayoutId id="2147483651" r:id="rId3"/>
  </p:sldLayoutIdLst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5400" b="0" i="0" u="none" strike="noStrike" cap="none">
          <a:solidFill>
            <a:schemeClr val="bg1"/>
          </a:solidFill>
          <a:latin typeface="Times New Roman" panose="02020603050405020304" pitchFamily="18" charset="0"/>
          <a:ea typeface="Times New Roman" panose="02020603050405020304" pitchFamily="18" charset="0"/>
          <a:cs typeface="Times New Roman" panose="02020603050405020304" pitchFamily="18" charset="0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L="88392" marR="0" lvl="0" indent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>
          <a:solidFill>
            <a:srgbClr val="000000"/>
          </a:solidFill>
          <a:latin typeface="Times New Roman" panose="02020603050405020304" pitchFamily="18" charset="0"/>
          <a:ea typeface="Times New Roman" panose="02020603050405020304" pitchFamily="18" charset="0"/>
          <a:cs typeface="Times New Roman" panose="02020603050405020304" pitchFamily="18" charset="0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7" Type="http://schemas.openxmlformats.org/officeDocument/2006/relationships/image" Target="../media/image6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jpe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emf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hyperlink" Target="https://drive.google.com/file/d/1sEia9amaiMQWjvaZTwWO9kiUSfTxQE2C/view?usp=drive_link" TargetMode="External"/><Relationship Id="rId3" Type="http://schemas.openxmlformats.org/officeDocument/2006/relationships/hyperlink" Target="https://drive.google.com/drive/folders/1McLweTG3S1V4XLKnwH-NG0NQF063ktet?usp=drive_link" TargetMode="External"/><Relationship Id="rId7" Type="http://schemas.openxmlformats.org/officeDocument/2006/relationships/hyperlink" Target="https://drive.google.com/file/d/1Dybq6aPieHo00DRFyhTrbHuDmJFOU7-f/view?usp=drive_link" TargetMode="Externa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Relationship Id="rId6" Type="http://schemas.openxmlformats.org/officeDocument/2006/relationships/hyperlink" Target="https://drive.google.com/file/d/1CPtVN73IzRbvjc4CoOoir5nq02bsLND0/view?usp=drive_link" TargetMode="External"/><Relationship Id="rId5" Type="http://schemas.openxmlformats.org/officeDocument/2006/relationships/hyperlink" Target="https://drive.google.com/file/d/1ybWQ6SSQJN-SGUks7QRq6mgFWdr-xpEX/view?usp=drive_link" TargetMode="External"/><Relationship Id="rId4" Type="http://schemas.openxmlformats.org/officeDocument/2006/relationships/hyperlink" Target="https://drive.google.com/file/d/1gqZJMDWLl5HTc_cITPUVrDGEMHHWfzI6/view?usp=drive_link" TargetMode="External"/><Relationship Id="rId9" Type="http://schemas.openxmlformats.org/officeDocument/2006/relationships/hyperlink" Target="https://drive.google.com/file/d/1I_Am92l0MgT-YvuuRj36__bZstgAe4sx/view?usp=drive_link" TargetMode="Externa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9.jpe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1.jpe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chengmatt.github.io/SPoRC/" TargetMode="Externa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4" Type="http://schemas.openxmlformats.org/officeDocument/2006/relationships/image" Target="../media/image12.emf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hyperlink" Target="https://chengmatt.github.io/SPoRC/" TargetMode="Externa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16.emf"/><Relationship Id="rId4" Type="http://schemas.openxmlformats.org/officeDocument/2006/relationships/image" Target="../media/image15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Relationship Id="rId4" Type="http://schemas.openxmlformats.org/officeDocument/2006/relationships/hyperlink" Target="https://github.com/dgoethel-noaa/2025_Sablefish_SAFE/tree/main/Sept%20PT%20Model%20Runs/25_1_SPoRC_Cont" TargetMode="Externa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emf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9.sv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22.emf"/><Relationship Id="rId4" Type="http://schemas.openxmlformats.org/officeDocument/2006/relationships/image" Target="../media/image21.emf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jpe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jpe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4.tiff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27.png"/><Relationship Id="rId5" Type="http://schemas.openxmlformats.org/officeDocument/2006/relationships/image" Target="../media/image26.png"/><Relationship Id="rId4" Type="http://schemas.openxmlformats.org/officeDocument/2006/relationships/image" Target="../media/image25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tif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30.emf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32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emf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emf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14.png"/><Relationship Id="rId4" Type="http://schemas.openxmlformats.org/officeDocument/2006/relationships/image" Target="../media/image38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jpeg"/><Relationship Id="rId7" Type="http://schemas.openxmlformats.org/officeDocument/2006/relationships/image" Target="../media/image43.jpe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2.jpeg"/><Relationship Id="rId5" Type="http://schemas.openxmlformats.org/officeDocument/2006/relationships/image" Target="../media/image41.jpeg"/><Relationship Id="rId4" Type="http://schemas.openxmlformats.org/officeDocument/2006/relationships/image" Target="../media/image40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112405" y="3622990"/>
            <a:ext cx="3509818" cy="2632363"/>
          </a:xfrm>
          <a:prstGeom prst="rect">
            <a:avLst/>
          </a:prstGeom>
        </p:spPr>
      </p:pic>
      <p:sp>
        <p:nvSpPr>
          <p:cNvPr id="94" name="Google Shape;94;p12"/>
          <p:cNvSpPr txBox="1">
            <a:spLocks noGrp="1"/>
          </p:cNvSpPr>
          <p:nvPr>
            <p:ph type="ctrTitle"/>
          </p:nvPr>
        </p:nvSpPr>
        <p:spPr>
          <a:xfrm>
            <a:off x="572386" y="504032"/>
            <a:ext cx="8347496" cy="155784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1200"/>
              </a:spcAft>
              <a:buClr>
                <a:schemeClr val="accent1"/>
              </a:buClr>
              <a:buSzPts val="4000"/>
              <a:buFont typeface="Gill Sans"/>
              <a:buNone/>
            </a:pPr>
            <a:r>
              <a:rPr lang="en-US" sz="3100" b="1" dirty="0">
                <a:latin typeface="Arial"/>
                <a:ea typeface="Arial"/>
                <a:cs typeface="Arial"/>
                <a:sym typeface="Arial"/>
              </a:rPr>
              <a:t>Sablefish Assessment General Methodology</a:t>
            </a:r>
            <a:endParaRPr sz="3100" b="1" dirty="0">
              <a:latin typeface="Arial"/>
              <a:ea typeface="Arial"/>
              <a:cs typeface="Arial"/>
              <a:sym typeface="Arial"/>
            </a:endParaRPr>
          </a:p>
          <a:p>
            <a:pPr marL="0" lvl="0" indent="0" algn="l" rtl="0">
              <a:spcBef>
                <a:spcPts val="0"/>
              </a:spcBef>
              <a:spcAft>
                <a:spcPts val="1200"/>
              </a:spcAft>
              <a:buClr>
                <a:schemeClr val="accent1"/>
              </a:buClr>
              <a:buSzPts val="4000"/>
              <a:buFont typeface="Gill Sans"/>
              <a:buNone/>
            </a:pPr>
            <a:r>
              <a:rPr lang="en-US" sz="2700" dirty="0">
                <a:latin typeface="Arial"/>
                <a:ea typeface="Arial"/>
                <a:cs typeface="Arial"/>
                <a:sym typeface="Arial"/>
              </a:rPr>
              <a:t>2026 CIE Review</a:t>
            </a:r>
            <a:endParaRPr sz="2700" dirty="0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5" name="Google Shape;95;p12"/>
          <p:cNvSpPr txBox="1">
            <a:spLocks noGrp="1"/>
          </p:cNvSpPr>
          <p:nvPr>
            <p:ph type="subTitle" idx="1"/>
          </p:nvPr>
        </p:nvSpPr>
        <p:spPr>
          <a:xfrm>
            <a:off x="447261" y="2223247"/>
            <a:ext cx="7599459" cy="7439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>
              <a:spcAft>
                <a:spcPts val="600"/>
              </a:spcAft>
            </a:pPr>
            <a:r>
              <a:rPr lang="en-US" sz="2000" b="1" dirty="0">
                <a:solidFill>
                  <a:schemeClr val="accent2">
                    <a:lumMod val="75000"/>
                  </a:schemeClr>
                </a:solidFill>
              </a:rPr>
              <a:t>Daniel Goethel and Matt Cheng</a:t>
            </a:r>
          </a:p>
        </p:txBody>
      </p:sp>
      <p:pic>
        <p:nvPicPr>
          <p:cNvPr id="96" name="Google Shape;96;p12"/>
          <p:cNvPicPr preferRelativeResize="0"/>
          <p:nvPr/>
        </p:nvPicPr>
        <p:blipFill rotWithShape="1">
          <a:blip r:embed="rId4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8119136" y="932441"/>
            <a:ext cx="3733985" cy="3144845"/>
          </a:xfrm>
          <a:prstGeom prst="rect">
            <a:avLst/>
          </a:prstGeom>
          <a:noFill/>
          <a:ln>
            <a:noFill/>
          </a:ln>
        </p:spPr>
      </p:pic>
      <p:pic>
        <p:nvPicPr>
          <p:cNvPr id="97" name="Google Shape;97;p12"/>
          <p:cNvPicPr preferRelativeResize="0"/>
          <p:nvPr/>
        </p:nvPicPr>
        <p:blipFill rotWithShape="1">
          <a:blip r:embed="rId5" cstate="hqprint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9905691" y="5513990"/>
            <a:ext cx="1556418" cy="543190"/>
          </a:xfrm>
          <a:prstGeom prst="rect">
            <a:avLst/>
          </a:prstGeom>
          <a:noFill/>
          <a:ln>
            <a:noFill/>
          </a:ln>
        </p:spPr>
      </p:pic>
      <p:sp>
        <p:nvSpPr>
          <p:cNvPr id="98" name="Google Shape;98;p12"/>
          <p:cNvSpPr txBox="1"/>
          <p:nvPr/>
        </p:nvSpPr>
        <p:spPr>
          <a:xfrm>
            <a:off x="2329361" y="3103632"/>
            <a:ext cx="24555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dirty="0">
                <a:solidFill>
                  <a:schemeClr val="bg1"/>
                </a:solidFill>
                <a:latin typeface="Gill Sans"/>
                <a:ea typeface="Gill Sans"/>
                <a:cs typeface="Gill Sans"/>
                <a:sym typeface="Gill Sans"/>
              </a:rPr>
              <a:t>June 2026</a:t>
            </a:r>
            <a:endParaRPr b="1" dirty="0">
              <a:solidFill>
                <a:schemeClr val="bg1"/>
              </a:solidFill>
            </a:endParaRPr>
          </a:p>
        </p:txBody>
      </p:sp>
      <p:pic>
        <p:nvPicPr>
          <p:cNvPr id="9" name="Picture 2" descr="USS Sablefish SS-303 Patch | Flying Tigers Surplus"/>
          <p:cNvPicPr>
            <a:picLocks noChangeAspect="1" noChangeArrowheads="1"/>
          </p:cNvPicPr>
          <p:nvPr/>
        </p:nvPicPr>
        <p:blipFill>
          <a:blip r:embed="rId6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572386" y="3611512"/>
            <a:ext cx="2643870" cy="263858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2"/>
          <p:cNvPicPr>
            <a:picLocks noChangeAspect="1"/>
          </p:cNvPicPr>
          <p:nvPr/>
        </p:nvPicPr>
        <p:blipFill>
          <a:blip r:embed="rId7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971709" y="3622990"/>
            <a:ext cx="3502805" cy="2627104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" name="Picture 23">
            <a:extLst>
              <a:ext uri="{FF2B5EF4-FFF2-40B4-BE49-F238E27FC236}">
                <a16:creationId xmlns:a16="http://schemas.microsoft.com/office/drawing/2014/main" id="{2230D923-5B34-43AA-9365-6642888C136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19560" y="2329654"/>
            <a:ext cx="6368034" cy="3398520"/>
          </a:xfrm>
          <a:prstGeom prst="rect">
            <a:avLst/>
          </a:prstGeom>
        </p:spPr>
      </p:pic>
      <p:sp>
        <p:nvSpPr>
          <p:cNvPr id="105" name="Google Shape;105;p13"/>
          <p:cNvSpPr/>
          <p:nvPr/>
        </p:nvSpPr>
        <p:spPr>
          <a:xfrm>
            <a:off x="433325" y="609600"/>
            <a:ext cx="11325300" cy="119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orbel"/>
              <a:buNone/>
            </a:pPr>
            <a:endParaRPr sz="1800" b="0" i="0" u="none" strike="noStrike" cap="none" dirty="0">
              <a:solidFill>
                <a:srgbClr val="FFFFFF"/>
              </a:solidFill>
              <a:latin typeface="Times New Roman" panose="02020603050405020304" pitchFamily="18" charset="0"/>
              <a:ea typeface="Corbel"/>
              <a:cs typeface="Times New Roman" panose="02020603050405020304" pitchFamily="18" charset="0"/>
              <a:sym typeface="Corbel"/>
            </a:endParaRPr>
          </a:p>
        </p:txBody>
      </p:sp>
      <p:sp>
        <p:nvSpPr>
          <p:cNvPr id="107" name="Google Shape;107;p13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Gill Sans"/>
              <a:buNone/>
            </a:pP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Agenda</a:t>
            </a: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6" name="Google Shape;106;p13"/>
          <p:cNvSpPr txBox="1">
            <a:spLocks noGrp="1"/>
          </p:cNvSpPr>
          <p:nvPr>
            <p:ph type="sldNum" idx="12"/>
          </p:nvPr>
        </p:nvSpPr>
        <p:spPr>
          <a:xfrm>
            <a:off x="10558300" y="5956137"/>
            <a:ext cx="1461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fld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597C9435-178B-1344-E77A-831E27C0F540}"/>
              </a:ext>
            </a:extLst>
          </p:cNvPr>
          <p:cNvSpPr/>
          <p:nvPr/>
        </p:nvSpPr>
        <p:spPr>
          <a:xfrm>
            <a:off x="3182471" y="3092826"/>
            <a:ext cx="5477435" cy="233082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1137400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4">
          <a:extLst>
            <a:ext uri="{FF2B5EF4-FFF2-40B4-BE49-F238E27FC236}">
              <a16:creationId xmlns:a16="http://schemas.microsoft.com/office/drawing/2014/main" id="{56BF5499-7FD6-5E45-F4D3-740B60C651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13">
            <a:extLst>
              <a:ext uri="{FF2B5EF4-FFF2-40B4-BE49-F238E27FC236}">
                <a16:creationId xmlns:a16="http://schemas.microsoft.com/office/drawing/2014/main" id="{844132BD-75DA-BCF0-7851-977792915B7C}"/>
              </a:ext>
            </a:extLst>
          </p:cNvPr>
          <p:cNvSpPr/>
          <p:nvPr/>
        </p:nvSpPr>
        <p:spPr>
          <a:xfrm>
            <a:off x="433325" y="609600"/>
            <a:ext cx="11325300" cy="119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orbel"/>
              <a:buNone/>
            </a:pPr>
            <a:endParaRPr sz="1800" b="0" i="0" u="none" strike="noStrike" cap="none" dirty="0">
              <a:solidFill>
                <a:srgbClr val="FFFFFF"/>
              </a:solidFill>
              <a:latin typeface="Times New Roman" panose="02020603050405020304" pitchFamily="18" charset="0"/>
              <a:ea typeface="Corbel"/>
              <a:cs typeface="Times New Roman" panose="02020603050405020304" pitchFamily="18" charset="0"/>
              <a:sym typeface="Corbel"/>
            </a:endParaRPr>
          </a:p>
        </p:txBody>
      </p:sp>
      <p:sp>
        <p:nvSpPr>
          <p:cNvPr id="107" name="Google Shape;107;p13">
            <a:extLst>
              <a:ext uri="{FF2B5EF4-FFF2-40B4-BE49-F238E27FC236}">
                <a16:creationId xmlns:a16="http://schemas.microsoft.com/office/drawing/2014/main" id="{4DEC0854-9471-39EB-7FDA-3985A54A94F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Gill Sans"/>
              <a:buNone/>
            </a:pP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Order of Operations</a:t>
            </a: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6" name="Google Shape;106;p13">
            <a:extLst>
              <a:ext uri="{FF2B5EF4-FFF2-40B4-BE49-F238E27FC236}">
                <a16:creationId xmlns:a16="http://schemas.microsoft.com/office/drawing/2014/main" id="{F4F1E975-B796-0CCF-39A1-A91DD10A7EB5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0558300" y="5956137"/>
            <a:ext cx="1461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3</a:t>
            </a:fld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Google Shape;108;p13">
            <a:extLst>
              <a:ext uri="{FF2B5EF4-FFF2-40B4-BE49-F238E27FC236}">
                <a16:creationId xmlns:a16="http://schemas.microsoft.com/office/drawing/2014/main" id="{F455DF11-52A1-AAE5-A02D-9065DBD2C8F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581192" y="1892855"/>
            <a:ext cx="4893354" cy="4794815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rmAutofit fontScale="85000" lnSpcReduction="10000"/>
          </a:bodyPr>
          <a:lstStyle/>
          <a:p>
            <a:r>
              <a:rPr lang="en-US" b="1" dirty="0">
                <a:solidFill>
                  <a:srgbClr val="C00000"/>
                </a:solidFill>
              </a:rPr>
              <a:t>Now</a:t>
            </a:r>
            <a:r>
              <a:rPr lang="en-US" dirty="0"/>
              <a:t>: Background on general assessment framework common to all model types </a:t>
            </a:r>
            <a:br>
              <a:rPr lang="en-US" dirty="0"/>
            </a:br>
            <a:r>
              <a:rPr lang="en-US" dirty="0"/>
              <a:t>(</a:t>
            </a:r>
            <a:r>
              <a:rPr lang="en-US" b="1" dirty="0"/>
              <a:t>2026 SAFE, Appendix 3A</a:t>
            </a:r>
            <a:r>
              <a:rPr lang="en-US" dirty="0"/>
              <a:t>)</a:t>
            </a:r>
          </a:p>
          <a:p>
            <a:pPr lvl="1"/>
            <a:r>
              <a:rPr lang="en-US" dirty="0"/>
              <a:t>Age structured SCAA</a:t>
            </a:r>
          </a:p>
          <a:p>
            <a:pPr lvl="1"/>
            <a:r>
              <a:rPr lang="en-US" dirty="0" err="1"/>
              <a:t>SPoRC</a:t>
            </a:r>
            <a:r>
              <a:rPr lang="en-US" dirty="0"/>
              <a:t> assessment platform</a:t>
            </a:r>
          </a:p>
          <a:p>
            <a:pPr lvl="1"/>
            <a:r>
              <a:rPr lang="en-US" dirty="0"/>
              <a:t>Key assumptions/structure</a:t>
            </a:r>
          </a:p>
          <a:p>
            <a:r>
              <a:rPr lang="en-US" b="1" dirty="0">
                <a:solidFill>
                  <a:srgbClr val="00B050"/>
                </a:solidFill>
              </a:rPr>
              <a:t>Tomorrow Morning</a:t>
            </a:r>
            <a:r>
              <a:rPr lang="en-US" dirty="0"/>
              <a:t>: Summary of closed loop simulations used to identify robust model structures (</a:t>
            </a:r>
            <a:r>
              <a:rPr lang="en-US" b="1" dirty="0"/>
              <a:t>Appendix 3E</a:t>
            </a:r>
            <a:r>
              <a:rPr lang="en-US" dirty="0"/>
              <a:t>)</a:t>
            </a:r>
          </a:p>
          <a:p>
            <a:r>
              <a:rPr lang="en-US" b="1" dirty="0">
                <a:solidFill>
                  <a:srgbClr val="FFC000"/>
                </a:solidFill>
              </a:rPr>
              <a:t>Tomorrow Afternoon</a:t>
            </a:r>
            <a:r>
              <a:rPr lang="en-US" dirty="0"/>
              <a:t>: Model development (</a:t>
            </a:r>
            <a:r>
              <a:rPr lang="en-US" b="1" dirty="0"/>
              <a:t>Appendices 3B, 3C</a:t>
            </a:r>
            <a:r>
              <a:rPr lang="en-US" dirty="0"/>
              <a:t>) and final model results </a:t>
            </a:r>
            <a:br>
              <a:rPr lang="en-US" dirty="0"/>
            </a:br>
            <a:r>
              <a:rPr lang="en-US" dirty="0"/>
              <a:t>(</a:t>
            </a:r>
            <a:r>
              <a:rPr lang="en-US" b="1" dirty="0"/>
              <a:t>2026 SAFE, Appendix 3C</a:t>
            </a:r>
            <a:r>
              <a:rPr lang="en-US" dirty="0"/>
              <a:t>)</a:t>
            </a:r>
          </a:p>
          <a:p>
            <a:r>
              <a:rPr lang="en-US" b="1" dirty="0">
                <a:solidFill>
                  <a:srgbClr val="0070C0"/>
                </a:solidFill>
              </a:rPr>
              <a:t>Wednesday</a:t>
            </a:r>
            <a:r>
              <a:rPr lang="en-US" dirty="0"/>
              <a:t>: Spatial model development, results, and ongoing work </a:t>
            </a:r>
            <a:br>
              <a:rPr lang="en-US" dirty="0"/>
            </a:br>
            <a:r>
              <a:rPr lang="en-US" dirty="0"/>
              <a:t>(</a:t>
            </a:r>
            <a:r>
              <a:rPr lang="en-US" b="1" dirty="0"/>
              <a:t>Appendix 3D</a:t>
            </a:r>
            <a:r>
              <a:rPr lang="en-US" dirty="0"/>
              <a:t>)</a:t>
            </a:r>
          </a:p>
          <a:p>
            <a:pPr lvl="1"/>
            <a:endParaRPr lang="en-US" dirty="0">
              <a:latin typeface="Times New Roman" panose="02020603050405020304" pitchFamily="18" charset="0"/>
              <a:ea typeface="Arial"/>
              <a:cs typeface="Times New Roman" panose="02020603050405020304" pitchFamily="18" charset="0"/>
              <a:sym typeface="Arial"/>
            </a:endParaRPr>
          </a:p>
          <a:p>
            <a:pPr lvl="1">
              <a:spcBef>
                <a:spcPts val="1000"/>
              </a:spcBef>
              <a:spcAft>
                <a:spcPts val="1000"/>
              </a:spcAft>
            </a:pPr>
            <a:endParaRPr lang="en-US" dirty="0">
              <a:latin typeface="Times New Roman" panose="02020603050405020304" pitchFamily="18" charset="0"/>
              <a:ea typeface="Arial"/>
              <a:cs typeface="Times New Roman" panose="02020603050405020304" pitchFamily="18" charset="0"/>
              <a:sym typeface="Arial"/>
            </a:endParaRPr>
          </a:p>
        </p:txBody>
      </p:sp>
      <p:sp>
        <p:nvSpPr>
          <p:cNvPr id="13" name="Google Shape;108;p13">
            <a:extLst>
              <a:ext uri="{FF2B5EF4-FFF2-40B4-BE49-F238E27FC236}">
                <a16:creationId xmlns:a16="http://schemas.microsoft.com/office/drawing/2014/main" id="{7C0B4B22-B696-A912-69C4-5EC3D96E61D3}"/>
              </a:ext>
            </a:extLst>
          </p:cNvPr>
          <p:cNvSpPr txBox="1">
            <a:spLocks/>
          </p:cNvSpPr>
          <p:nvPr/>
        </p:nvSpPr>
        <p:spPr>
          <a:xfrm>
            <a:off x="5421985" y="1771290"/>
            <a:ext cx="5924258" cy="454284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 fontScale="70000" lnSpcReduction="20000"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3756" algn="l" rtl="0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accent2"/>
              </a:buClr>
              <a:buSzPts val="1656"/>
              <a:buFont typeface="Wingdings" panose="05000000000000000000" pitchFamily="2" charset="2"/>
              <a:buChar char="§"/>
              <a:defRPr sz="2400" b="0" i="0" u="none" strike="noStrike" cap="none">
                <a:solidFill>
                  <a:srgbClr val="000000"/>
                </a:solidFill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  <a:sym typeface="Arial"/>
              </a:defRPr>
            </a:lvl1pPr>
            <a:lvl2pPr marL="914400" marR="0" lvl="1" indent="-333756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2"/>
              </a:buClr>
              <a:buSzPts val="1656"/>
              <a:buFont typeface="Wingdings" panose="05000000000000000000" pitchFamily="2" charset="2"/>
              <a:buChar char="§"/>
              <a:defRPr sz="1800" b="0" i="0" u="none" strike="noStrike" cap="none">
                <a:solidFill>
                  <a:srgbClr val="000000"/>
                </a:solidFill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  <a:sym typeface="Arial"/>
              </a:defRPr>
            </a:lvl2pPr>
            <a:lvl3pPr marL="1371600" marR="0" lvl="2" indent="-333756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2"/>
              </a:buClr>
              <a:buSzPts val="1656"/>
              <a:buFont typeface="Wingdings" panose="05000000000000000000" pitchFamily="2" charset="2"/>
              <a:buChar char="§"/>
              <a:defRPr sz="1400" b="0" i="0" u="none" strike="noStrike" cap="none">
                <a:solidFill>
                  <a:srgbClr val="000000"/>
                </a:solidFill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  <a:sym typeface="Arial"/>
              </a:defRPr>
            </a:lvl3pPr>
            <a:lvl4pPr marL="1828800" marR="0" lvl="3" indent="-333756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2"/>
              </a:buClr>
              <a:buSzPts val="1656"/>
              <a:buFont typeface="Wingdings" panose="05000000000000000000" pitchFamily="2" charset="2"/>
              <a:buChar char="§"/>
              <a:defRPr sz="1200" b="0" i="0" u="none" strike="noStrike" cap="none">
                <a:solidFill>
                  <a:srgbClr val="000000"/>
                </a:solidFill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  <a:sym typeface="Arial"/>
              </a:defRPr>
            </a:lvl4pPr>
            <a:lvl5pPr marL="2286000" marR="0" lvl="4" indent="-333756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000000"/>
              </a:buClr>
              <a:buSzPts val="1656"/>
              <a:buFont typeface="Arial"/>
              <a:buChar char="◼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33756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000000"/>
              </a:buClr>
              <a:buSzPts val="1656"/>
              <a:buFont typeface="Arial"/>
              <a:buChar char="◼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33756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000000"/>
              </a:buClr>
              <a:buSzPts val="1656"/>
              <a:buFont typeface="Arial"/>
              <a:buChar char="◼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33756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000000"/>
              </a:buClr>
              <a:buSzPts val="1656"/>
              <a:buFont typeface="Arial"/>
              <a:buChar char="◼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33756" algn="l" rtl="0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Clr>
                <a:srgbClr val="000000"/>
              </a:buClr>
              <a:buSzPts val="1656"/>
              <a:buFont typeface="Arial"/>
              <a:buChar char="◼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123444" indent="0" algn="ctr">
              <a:buNone/>
            </a:pPr>
            <a:r>
              <a:rPr lang="en-US" b="1" dirty="0"/>
              <a:t>Documents For Review (available </a:t>
            </a:r>
            <a:r>
              <a:rPr lang="en-US" b="1" u="sng" dirty="0">
                <a:hlinkClick r:id="rId3"/>
              </a:rPr>
              <a:t>here</a:t>
            </a:r>
            <a:r>
              <a:rPr lang="en-US" b="1" dirty="0"/>
              <a:t>)</a:t>
            </a:r>
            <a:endParaRPr lang="en-US" dirty="0"/>
          </a:p>
          <a:p>
            <a:pPr lvl="0"/>
            <a:r>
              <a:rPr lang="en-US" b="1" dirty="0"/>
              <a:t>2026 Assessment of the Sablefish Stock in Alaska: 2026 Center for Independent Experts (CIE) Review Document (</a:t>
            </a:r>
            <a:r>
              <a:rPr lang="en-US" b="1" u="sng" dirty="0">
                <a:hlinkClick r:id="rId4"/>
              </a:rPr>
              <a:t>here</a:t>
            </a:r>
            <a:r>
              <a:rPr lang="en-US" b="1" dirty="0"/>
              <a:t>)</a:t>
            </a:r>
          </a:p>
          <a:p>
            <a:pPr lvl="0"/>
            <a:r>
              <a:rPr lang="en-US" dirty="0"/>
              <a:t>Appendix 3A. The Spatial Population over Regional Components (</a:t>
            </a:r>
            <a:r>
              <a:rPr lang="en-US" dirty="0" err="1"/>
              <a:t>SPoRC</a:t>
            </a:r>
            <a:r>
              <a:rPr lang="en-US" dirty="0"/>
              <a:t>) Model: Technical Description of the Assessment Model for Sablefish (</a:t>
            </a:r>
            <a:r>
              <a:rPr lang="en-US" u="sng" dirty="0">
                <a:hlinkClick r:id="rId5"/>
              </a:rPr>
              <a:t>here</a:t>
            </a:r>
            <a:r>
              <a:rPr lang="en-US" dirty="0"/>
              <a:t>)</a:t>
            </a:r>
          </a:p>
          <a:p>
            <a:pPr lvl="0"/>
            <a:r>
              <a:rPr lang="en-US" dirty="0"/>
              <a:t>Appendix 3B. Model Building and Bridging Exercise for the Sablefish Single Region Models (Bridging from Model </a:t>
            </a:r>
            <a:r>
              <a:rPr lang="en-US" i="1" dirty="0"/>
              <a:t>25.12</a:t>
            </a:r>
            <a:r>
              <a:rPr lang="en-US" dirty="0"/>
              <a:t> to </a:t>
            </a:r>
            <a:r>
              <a:rPr lang="en-US" i="1" dirty="0"/>
              <a:t>26.1_1Reg</a:t>
            </a:r>
            <a:r>
              <a:rPr lang="en-US" dirty="0"/>
              <a:t>) (</a:t>
            </a:r>
            <a:r>
              <a:rPr lang="en-US" u="sng" dirty="0">
                <a:hlinkClick r:id="rId6"/>
              </a:rPr>
              <a:t>here</a:t>
            </a:r>
            <a:r>
              <a:rPr lang="en-US" dirty="0"/>
              <a:t>)</a:t>
            </a:r>
          </a:p>
          <a:p>
            <a:pPr lvl="0"/>
            <a:r>
              <a:rPr lang="en-US" dirty="0"/>
              <a:t>Appendix 3C. Development of a Fleets-as-Areas (FAA) Stock Assessment Model for Alaska Sablefish (</a:t>
            </a:r>
            <a:r>
              <a:rPr lang="en-US" i="1" dirty="0"/>
              <a:t>Model 26.2_FAA</a:t>
            </a:r>
            <a:r>
              <a:rPr lang="en-US" dirty="0"/>
              <a:t>) (</a:t>
            </a:r>
            <a:r>
              <a:rPr lang="en-US" u="sng" dirty="0">
                <a:hlinkClick r:id="rId7"/>
              </a:rPr>
              <a:t>here</a:t>
            </a:r>
            <a:r>
              <a:rPr lang="en-US" dirty="0"/>
              <a:t>)</a:t>
            </a:r>
          </a:p>
          <a:p>
            <a:pPr lvl="0"/>
            <a:r>
              <a:rPr lang="en-US" b="1" dirty="0"/>
              <a:t>Appendix 3D. Results of Spatial Stock Assessment Models for Alaska Sablefish (</a:t>
            </a:r>
            <a:r>
              <a:rPr lang="en-US" b="1" u="sng" dirty="0">
                <a:hlinkClick r:id="rId8"/>
              </a:rPr>
              <a:t>here</a:t>
            </a:r>
            <a:r>
              <a:rPr lang="en-US" b="1" dirty="0"/>
              <a:t>)</a:t>
            </a:r>
          </a:p>
          <a:p>
            <a:pPr lvl="0"/>
            <a:r>
              <a:rPr lang="en-US" b="1" dirty="0"/>
              <a:t>Appendix 3E. Evaluating Alternative Assessment Structures for Alaska Sablefish Under Survey Design Changes via Closed-Loop Simulation (</a:t>
            </a:r>
            <a:r>
              <a:rPr lang="en-US" b="1" u="sng" dirty="0">
                <a:hlinkClick r:id="rId9"/>
              </a:rPr>
              <a:t>here</a:t>
            </a:r>
            <a:r>
              <a:rPr lang="en-US" b="1" dirty="0"/>
              <a:t>)</a:t>
            </a:r>
          </a:p>
          <a:p>
            <a:pPr lvl="1"/>
            <a:endParaRPr lang="en-US" dirty="0"/>
          </a:p>
          <a:p>
            <a:pPr lvl="1">
              <a:spcBef>
                <a:spcPts val="1000"/>
              </a:spcBef>
              <a:spcAft>
                <a:spcPts val="1000"/>
              </a:spcAft>
            </a:pPr>
            <a:endParaRPr lang="en-US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C472CB9E-D2E7-1FE0-B089-9A60EED9456A}"/>
              </a:ext>
            </a:extLst>
          </p:cNvPr>
          <p:cNvSpPr/>
          <p:nvPr/>
        </p:nvSpPr>
        <p:spPr>
          <a:xfrm>
            <a:off x="5889807" y="2088770"/>
            <a:ext cx="6133272" cy="1340229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27D61CB-5DB9-A393-8414-32A0FC87C19F}"/>
              </a:ext>
            </a:extLst>
          </p:cNvPr>
          <p:cNvSpPr/>
          <p:nvPr/>
        </p:nvSpPr>
        <p:spPr>
          <a:xfrm>
            <a:off x="5889807" y="4782810"/>
            <a:ext cx="6133272" cy="448193"/>
          </a:xfrm>
          <a:prstGeom prst="rect">
            <a:avLst/>
          </a:prstGeom>
          <a:noFill/>
          <a:ln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F9BFE05-52E7-FCC5-B938-E2BA3D175F3E}"/>
              </a:ext>
            </a:extLst>
          </p:cNvPr>
          <p:cNvSpPr txBox="1"/>
          <p:nvPr/>
        </p:nvSpPr>
        <p:spPr>
          <a:xfrm>
            <a:off x="11225220" y="4831150"/>
            <a:ext cx="79785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0070C0"/>
                </a:solidFill>
              </a:rPr>
              <a:t>Day 3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6F8580E-A14C-02B5-C5F0-707CB9163F97}"/>
              </a:ext>
            </a:extLst>
          </p:cNvPr>
          <p:cNvSpPr txBox="1"/>
          <p:nvPr/>
        </p:nvSpPr>
        <p:spPr>
          <a:xfrm>
            <a:off x="11259666" y="5421809"/>
            <a:ext cx="79785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00B050"/>
                </a:solidFill>
              </a:rPr>
              <a:t>Day 2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D04F812-8533-EFF0-33B9-0A7929E7F8FC}"/>
              </a:ext>
            </a:extLst>
          </p:cNvPr>
          <p:cNvSpPr txBox="1"/>
          <p:nvPr/>
        </p:nvSpPr>
        <p:spPr>
          <a:xfrm>
            <a:off x="11225220" y="2154110"/>
            <a:ext cx="79785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C00000"/>
                </a:solidFill>
              </a:rPr>
              <a:t>Days 1-2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2DE857D4-5916-C704-D155-1190A8E0F603}"/>
              </a:ext>
            </a:extLst>
          </p:cNvPr>
          <p:cNvSpPr/>
          <p:nvPr/>
        </p:nvSpPr>
        <p:spPr>
          <a:xfrm>
            <a:off x="5889807" y="5271154"/>
            <a:ext cx="6133272" cy="663476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0F4B2D5-39A7-E3AE-3FD0-15C097167646}"/>
              </a:ext>
            </a:extLst>
          </p:cNvPr>
          <p:cNvSpPr/>
          <p:nvPr/>
        </p:nvSpPr>
        <p:spPr>
          <a:xfrm>
            <a:off x="5886928" y="3452406"/>
            <a:ext cx="6133272" cy="1305373"/>
          </a:xfrm>
          <a:prstGeom prst="rect">
            <a:avLst/>
          </a:prstGeom>
          <a:noFill/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2BE2F0E-F64F-E024-ED90-76278628A26B}"/>
              </a:ext>
            </a:extLst>
          </p:cNvPr>
          <p:cNvSpPr txBox="1"/>
          <p:nvPr/>
        </p:nvSpPr>
        <p:spPr>
          <a:xfrm>
            <a:off x="11259665" y="3966972"/>
            <a:ext cx="79785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FFC000"/>
                </a:solidFill>
              </a:rPr>
              <a:t>Day 2</a:t>
            </a:r>
          </a:p>
        </p:txBody>
      </p:sp>
    </p:spTree>
    <p:extLst>
      <p:ext uri="{BB962C8B-B14F-4D97-AF65-F5344CB8AC3E}">
        <p14:creationId xmlns:p14="http://schemas.microsoft.com/office/powerpoint/2010/main" val="130188317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4">
          <a:extLst>
            <a:ext uri="{FF2B5EF4-FFF2-40B4-BE49-F238E27FC236}">
              <a16:creationId xmlns:a16="http://schemas.microsoft.com/office/drawing/2014/main" id="{ED938C9F-5BB3-6805-89C9-B681DE7F10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13">
            <a:extLst>
              <a:ext uri="{FF2B5EF4-FFF2-40B4-BE49-F238E27FC236}">
                <a16:creationId xmlns:a16="http://schemas.microsoft.com/office/drawing/2014/main" id="{BE1F5991-5B77-8000-D385-9092B8EE473B}"/>
              </a:ext>
            </a:extLst>
          </p:cNvPr>
          <p:cNvSpPr/>
          <p:nvPr/>
        </p:nvSpPr>
        <p:spPr>
          <a:xfrm>
            <a:off x="433325" y="609600"/>
            <a:ext cx="11325300" cy="119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orbel"/>
              <a:buNone/>
            </a:pPr>
            <a:endParaRPr sz="1800" b="0" i="0" u="none" strike="noStrike" cap="none" dirty="0">
              <a:solidFill>
                <a:srgbClr val="FFFFFF"/>
              </a:solidFill>
              <a:latin typeface="Times New Roman" panose="02020603050405020304" pitchFamily="18" charset="0"/>
              <a:ea typeface="Corbel"/>
              <a:cs typeface="Times New Roman" panose="02020603050405020304" pitchFamily="18" charset="0"/>
              <a:sym typeface="Corbel"/>
            </a:endParaRPr>
          </a:p>
        </p:txBody>
      </p:sp>
      <p:sp>
        <p:nvSpPr>
          <p:cNvPr id="107" name="Google Shape;107;p13">
            <a:extLst>
              <a:ext uri="{FF2B5EF4-FFF2-40B4-BE49-F238E27FC236}">
                <a16:creationId xmlns:a16="http://schemas.microsoft.com/office/drawing/2014/main" id="{C9965E06-17DC-F8B2-1082-585CC57E305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Gill Sans"/>
              <a:buNone/>
            </a:pPr>
            <a:r>
              <a:rPr lang="en-US" sz="3600" dirty="0"/>
              <a:t>Assessment Biological and Fishery Considerations</a:t>
            </a: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A338854-E7AF-A7C8-09F3-0ED36E1DF3B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81193" y="2259105"/>
            <a:ext cx="8392478" cy="4455459"/>
          </a:xfrm>
        </p:spPr>
        <p:txBody>
          <a:bodyPr>
            <a:normAutofit/>
          </a:bodyPr>
          <a:lstStyle/>
          <a:p>
            <a:r>
              <a:rPr lang="en-US" dirty="0"/>
              <a:t>Long-lived (low </a:t>
            </a:r>
            <a:r>
              <a:rPr lang="en-US" i="1" dirty="0"/>
              <a:t>M</a:t>
            </a:r>
            <a:r>
              <a:rPr lang="en-US" dirty="0"/>
              <a:t>) and difficult to age (aging error matrix) 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Widely distributed (AK-wide assessment) but no population structure (single population)</a:t>
            </a:r>
          </a:p>
          <a:p>
            <a:r>
              <a:rPr lang="en-US" dirty="0"/>
              <a:t>High mobility with ontogenetic migrations (differential availability to fishery/surveys across regions)</a:t>
            </a:r>
          </a:p>
          <a:p>
            <a:r>
              <a:rPr lang="en-US" dirty="0"/>
              <a:t>Spasmodic and cyclic recruitment (lack of a well-defined SRR)</a:t>
            </a:r>
          </a:p>
          <a:p>
            <a:r>
              <a:rPr lang="en-US" dirty="0"/>
              <a:t>Sexually dimorphic (sex-specific growth/selectivity)</a:t>
            </a:r>
          </a:p>
          <a:p>
            <a:r>
              <a:rPr lang="en-US" dirty="0"/>
              <a:t>Multiple fisheries with different interactions with sablefish (multiple fleets with different selectivity)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B72177C7-C1EB-718A-2DF5-C21A9CA326E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9130366" y="3818961"/>
            <a:ext cx="2907927" cy="290456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5718DBEA-3585-CDFA-FE34-3FF6BAD71036}"/>
              </a:ext>
            </a:extLst>
          </p:cNvPr>
          <p:cNvSpPr txBox="1"/>
          <p:nvPr/>
        </p:nvSpPr>
        <p:spPr>
          <a:xfrm>
            <a:off x="10416988" y="6406788"/>
            <a:ext cx="67235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ALFA</a:t>
            </a:r>
          </a:p>
        </p:txBody>
      </p:sp>
      <p:pic>
        <p:nvPicPr>
          <p:cNvPr id="1032" name="Picture 8" descr="Swarmed by Sablefish | NA128">
            <a:extLst>
              <a:ext uri="{FF2B5EF4-FFF2-40B4-BE49-F238E27FC236}">
                <a16:creationId xmlns:a16="http://schemas.microsoft.com/office/drawing/2014/main" id="{C6436156-1D3C-4186-A17A-1F341B09DA1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9130366" y="2029208"/>
            <a:ext cx="2902336" cy="163256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64571489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13"/>
          <p:cNvSpPr/>
          <p:nvPr/>
        </p:nvSpPr>
        <p:spPr>
          <a:xfrm>
            <a:off x="433325" y="609600"/>
            <a:ext cx="11325300" cy="119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orbel"/>
              <a:buNone/>
            </a:pPr>
            <a:endParaRPr sz="1800" b="0" i="0" u="none" strike="noStrike" cap="none" dirty="0">
              <a:solidFill>
                <a:srgbClr val="FFFFFF"/>
              </a:solidFill>
              <a:latin typeface="Times New Roman" panose="02020603050405020304" pitchFamily="18" charset="0"/>
              <a:ea typeface="Corbel"/>
              <a:cs typeface="Times New Roman" panose="02020603050405020304" pitchFamily="18" charset="0"/>
              <a:sym typeface="Corbel"/>
            </a:endParaRPr>
          </a:p>
        </p:txBody>
      </p:sp>
      <p:sp>
        <p:nvSpPr>
          <p:cNvPr id="107" name="Google Shape;107;p13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Gill Sans"/>
              <a:buNone/>
            </a:pP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Assessment Data and Modeling Considerations</a:t>
            </a: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8" name="Google Shape;108;p13"/>
          <p:cNvSpPr txBox="1">
            <a:spLocks noGrp="1"/>
          </p:cNvSpPr>
          <p:nvPr>
            <p:ph type="body" idx="1"/>
          </p:nvPr>
        </p:nvSpPr>
        <p:spPr>
          <a:xfrm>
            <a:off x="581192" y="2330823"/>
            <a:ext cx="8293867" cy="4338917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rmAutofit/>
          </a:bodyPr>
          <a:lstStyle/>
          <a:p>
            <a:r>
              <a:rPr lang="en-US" dirty="0">
                <a:ea typeface="Arial"/>
              </a:rPr>
              <a:t>How best to handle recent changes in NOAA Longline Survey (LLS) design?</a:t>
            </a:r>
          </a:p>
          <a:p>
            <a:r>
              <a:rPr lang="en-US" dirty="0"/>
              <a:t>Should a fleets-as-areas (FAA) model be used to avoid extrapolating LLS indices? (</a:t>
            </a:r>
            <a:r>
              <a:rPr lang="en-US" dirty="0" err="1"/>
              <a:t>ToR</a:t>
            </a:r>
            <a:r>
              <a:rPr lang="en-US" dirty="0"/>
              <a:t> 1+2)</a:t>
            </a:r>
          </a:p>
          <a:p>
            <a:r>
              <a:rPr lang="en-US" dirty="0"/>
              <a:t>Are best practices for modeling sex- and fleet-structure being used in the assessment?</a:t>
            </a:r>
          </a:p>
          <a:p>
            <a:r>
              <a:rPr lang="en-US" dirty="0"/>
              <a:t>Which data should be included in the assessment (e.g., indices, length compositions)?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FF59FD7D-E71A-4ECB-9C29-AC6B9E843E87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9519191" y="2235883"/>
            <a:ext cx="2673686" cy="2053729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089305BB-AEFE-4C02-964D-5455EBDF9DE5}"/>
              </a:ext>
            </a:extLst>
          </p:cNvPr>
          <p:cNvPicPr>
            <a:picLocks noChangeAspect="1"/>
          </p:cNvPicPr>
          <p:nvPr/>
        </p:nvPicPr>
        <p:blipFill rotWithShape="1">
          <a:blip r:embed="rId4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9519629" y="4621895"/>
            <a:ext cx="2672809" cy="162650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13"/>
          <p:cNvSpPr/>
          <p:nvPr/>
        </p:nvSpPr>
        <p:spPr>
          <a:xfrm>
            <a:off x="433325" y="609600"/>
            <a:ext cx="11325300" cy="119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orbel"/>
              <a:buNone/>
            </a:pPr>
            <a:endParaRPr sz="1800" b="0" i="0" u="none" strike="noStrike" cap="none" dirty="0">
              <a:solidFill>
                <a:srgbClr val="FFFFFF"/>
              </a:solidFill>
              <a:latin typeface="Times New Roman" panose="02020603050405020304" pitchFamily="18" charset="0"/>
              <a:ea typeface="Corbel"/>
              <a:cs typeface="Times New Roman" panose="02020603050405020304" pitchFamily="18" charset="0"/>
              <a:sym typeface="Corbel"/>
            </a:endParaRPr>
          </a:p>
        </p:txBody>
      </p:sp>
      <p:sp>
        <p:nvSpPr>
          <p:cNvPr id="106" name="Google Shape;106;p13"/>
          <p:cNvSpPr txBox="1">
            <a:spLocks noGrp="1"/>
          </p:cNvSpPr>
          <p:nvPr>
            <p:ph type="sldNum" idx="12"/>
          </p:nvPr>
        </p:nvSpPr>
        <p:spPr>
          <a:xfrm>
            <a:off x="10558300" y="5956137"/>
            <a:ext cx="1461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6</a:t>
            </a:fld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7" name="Google Shape;107;p13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Gill Sans"/>
              <a:buNone/>
            </a:pPr>
            <a:r>
              <a:rPr lang="en-US" sz="3600" dirty="0"/>
              <a:t>The </a:t>
            </a:r>
            <a:r>
              <a:rPr lang="en-US" sz="3600" dirty="0" err="1"/>
              <a:t>SPoRC</a:t>
            </a:r>
            <a:r>
              <a:rPr lang="en-US" sz="3600" dirty="0"/>
              <a:t> Assessment Package</a:t>
            </a: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8" name="Google Shape;108;p13"/>
          <p:cNvSpPr txBox="1">
            <a:spLocks noGrp="1"/>
          </p:cNvSpPr>
          <p:nvPr>
            <p:ph type="body" idx="1"/>
          </p:nvPr>
        </p:nvSpPr>
        <p:spPr>
          <a:xfrm>
            <a:off x="445949" y="1892855"/>
            <a:ext cx="7129227" cy="3315639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rmAutofit fontScale="92500" lnSpcReduction="10000"/>
          </a:bodyPr>
          <a:lstStyle/>
          <a:p>
            <a:r>
              <a:rPr lang="en-US" dirty="0"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  <a:sym typeface="Arial"/>
              </a:rPr>
              <a:t>Stochastic (S) Population (P) over (o) Regional (R) Components (C)</a:t>
            </a:r>
          </a:p>
          <a:p>
            <a:r>
              <a:rPr lang="en-US" dirty="0"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  <a:sym typeface="Arial"/>
              </a:rPr>
              <a:t>Stock assessment platform written in R and R-TMB</a:t>
            </a:r>
          </a:p>
          <a:p>
            <a:r>
              <a:rPr lang="en-US" dirty="0"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  <a:sym typeface="Arial"/>
              </a:rPr>
              <a:t>Generalized statistical catch-at-age model with spatial, sex, and fleet-structure</a:t>
            </a:r>
          </a:p>
          <a:p>
            <a:pPr lvl="1"/>
            <a:r>
              <a:rPr lang="en-US" dirty="0"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  <a:sym typeface="Arial"/>
              </a:rPr>
              <a:t>Supports random effects (Laplace Approximation) and Bayesian inference (</a:t>
            </a:r>
            <a:r>
              <a:rPr lang="en-US" dirty="0" err="1"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  <a:sym typeface="Arial"/>
              </a:rPr>
              <a:t>rstan</a:t>
            </a:r>
            <a:r>
              <a:rPr lang="en-US" dirty="0"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  <a:sym typeface="Arial"/>
              </a:rPr>
              <a:t>)</a:t>
            </a:r>
          </a:p>
          <a:p>
            <a:r>
              <a:rPr lang="en-US" dirty="0"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  <a:sym typeface="Arial"/>
              </a:rPr>
              <a:t>Includes comprehensive stock assessment model diagnostics and simulation tools</a:t>
            </a:r>
          </a:p>
          <a:p>
            <a:r>
              <a:rPr lang="en-US" dirty="0">
                <a:ea typeface="Arial"/>
              </a:rPr>
              <a:t>Thoroughly documented!</a:t>
            </a:r>
            <a:endParaRPr lang="en-US" dirty="0">
              <a:latin typeface="Times New Roman" panose="02020603050405020304" pitchFamily="18" charset="0"/>
              <a:ea typeface="Arial"/>
              <a:cs typeface="Times New Roman" panose="02020603050405020304" pitchFamily="18" charset="0"/>
              <a:sym typeface="Arial"/>
            </a:endParaRPr>
          </a:p>
          <a:p>
            <a:pPr lvl="1"/>
            <a:endParaRPr lang="en-US" dirty="0">
              <a:latin typeface="Times New Roman" panose="02020603050405020304" pitchFamily="18" charset="0"/>
              <a:ea typeface="Arial"/>
              <a:cs typeface="Times New Roman" panose="02020603050405020304" pitchFamily="18" charset="0"/>
              <a:sym typeface="Arial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FB95434-A718-857D-3148-CB751816ADEF}"/>
              </a:ext>
            </a:extLst>
          </p:cNvPr>
          <p:cNvSpPr txBox="1"/>
          <p:nvPr/>
        </p:nvSpPr>
        <p:spPr>
          <a:xfrm>
            <a:off x="7824502" y="5306279"/>
            <a:ext cx="4367498" cy="400110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r>
              <a:rPr lang="en-US" sz="2000" dirty="0">
                <a:hlinkClick r:id="rId3"/>
              </a:rPr>
              <a:t>https://chengmatt.github.io/SPoRC/</a:t>
            </a:r>
            <a:endParaRPr lang="en-US" sz="2000" dirty="0"/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7721A6E0-1D39-A4BC-E609-D7F6BDCF6F5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95718" y="5088359"/>
            <a:ext cx="5082987" cy="1769641"/>
          </a:xfrm>
          <a:prstGeom prst="rect">
            <a:avLst/>
          </a:prstGeom>
        </p:spPr>
      </p:pic>
      <p:pic>
        <p:nvPicPr>
          <p:cNvPr id="16" name="Picture 15" descr="A screenshot of a computer&#10;&#10;AI-generated content may be incorrect.">
            <a:extLst>
              <a:ext uri="{FF2B5EF4-FFF2-40B4-BE49-F238E27FC236}">
                <a16:creationId xmlns:a16="http://schemas.microsoft.com/office/drawing/2014/main" id="{E5E6024E-1670-2294-85B0-2BE6D221DD9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75176" y="2326554"/>
            <a:ext cx="4552227" cy="2870893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4E80AF61-60DE-DAB2-9919-AAD801B3845A}"/>
              </a:ext>
            </a:extLst>
          </p:cNvPr>
          <p:cNvPicPr>
            <a:picLocks noChangeAspect="1"/>
          </p:cNvPicPr>
          <p:nvPr/>
        </p:nvPicPr>
        <p:blipFill>
          <a:blip r:embed="rId6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425952" y="3345601"/>
            <a:ext cx="1435751" cy="16562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6966126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4">
          <a:extLst>
            <a:ext uri="{FF2B5EF4-FFF2-40B4-BE49-F238E27FC236}">
              <a16:creationId xmlns:a16="http://schemas.microsoft.com/office/drawing/2014/main" id="{311B84CC-4461-A7B3-B359-AD471DA9F3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13">
            <a:extLst>
              <a:ext uri="{FF2B5EF4-FFF2-40B4-BE49-F238E27FC236}">
                <a16:creationId xmlns:a16="http://schemas.microsoft.com/office/drawing/2014/main" id="{FADE4F38-E801-C6E5-DA85-B12515526C23}"/>
              </a:ext>
            </a:extLst>
          </p:cNvPr>
          <p:cNvSpPr/>
          <p:nvPr/>
        </p:nvSpPr>
        <p:spPr>
          <a:xfrm>
            <a:off x="433325" y="609600"/>
            <a:ext cx="11325300" cy="119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orbel"/>
              <a:buNone/>
            </a:pPr>
            <a:endParaRPr sz="1800" b="0" i="0" u="none" strike="noStrike" cap="none" dirty="0">
              <a:solidFill>
                <a:srgbClr val="FFFFFF"/>
              </a:solidFill>
              <a:latin typeface="Times New Roman" panose="02020603050405020304" pitchFamily="18" charset="0"/>
              <a:ea typeface="Corbel"/>
              <a:cs typeface="Times New Roman" panose="02020603050405020304" pitchFamily="18" charset="0"/>
              <a:sym typeface="Corbel"/>
            </a:endParaRPr>
          </a:p>
        </p:txBody>
      </p:sp>
      <p:sp>
        <p:nvSpPr>
          <p:cNvPr id="106" name="Google Shape;106;p13">
            <a:extLst>
              <a:ext uri="{FF2B5EF4-FFF2-40B4-BE49-F238E27FC236}">
                <a16:creationId xmlns:a16="http://schemas.microsoft.com/office/drawing/2014/main" id="{688843F7-306C-5596-6E22-F33513F8E2E9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0558300" y="5956137"/>
            <a:ext cx="1461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7</a:t>
            </a:fld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7" name="Google Shape;107;p13">
            <a:extLst>
              <a:ext uri="{FF2B5EF4-FFF2-40B4-BE49-F238E27FC236}">
                <a16:creationId xmlns:a16="http://schemas.microsoft.com/office/drawing/2014/main" id="{A3C405FC-51F1-BE1C-AB46-4DFBA750B0B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Gill Sans"/>
              <a:buNone/>
            </a:pPr>
            <a:r>
              <a:rPr lang="en-US" sz="3600" dirty="0"/>
              <a:t>The </a:t>
            </a:r>
            <a:r>
              <a:rPr lang="en-US" sz="3600" dirty="0" err="1"/>
              <a:t>SPoRC</a:t>
            </a:r>
            <a:r>
              <a:rPr lang="en-US" sz="3600" dirty="0"/>
              <a:t> Assessment Package</a:t>
            </a: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8" name="Google Shape;108;p13">
            <a:extLst>
              <a:ext uri="{FF2B5EF4-FFF2-40B4-BE49-F238E27FC236}">
                <a16:creationId xmlns:a16="http://schemas.microsoft.com/office/drawing/2014/main" id="{74F51647-E50D-2E85-4B9C-049A7FC71EE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445949" y="2079812"/>
            <a:ext cx="7129227" cy="4338916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rmAutofit lnSpcReduction="10000"/>
          </a:bodyPr>
          <a:lstStyle/>
          <a:p>
            <a:r>
              <a:rPr lang="en-US" dirty="0"/>
              <a:t>Motivated by the needs of Alaska sablefish</a:t>
            </a:r>
          </a:p>
          <a:p>
            <a:r>
              <a:rPr lang="en-US" dirty="0"/>
              <a:t>Previous models were implemented using custom ADMB code</a:t>
            </a:r>
          </a:p>
          <a:p>
            <a:pPr lvl="1"/>
            <a:r>
              <a:rPr lang="en-US" dirty="0"/>
              <a:t>Difficult to update yearly and keep pace with research and fishery dynamics</a:t>
            </a:r>
          </a:p>
          <a:p>
            <a:r>
              <a:rPr lang="en-US" dirty="0"/>
              <a:t>Needed a next-generation model that:</a:t>
            </a:r>
          </a:p>
          <a:p>
            <a:pPr lvl="1"/>
            <a:r>
              <a:rPr lang="en-US" dirty="0"/>
              <a:t>Incorporated sex-structure, fleet-structure, and spatial dynamics</a:t>
            </a:r>
          </a:p>
          <a:p>
            <a:pPr lvl="1"/>
            <a:r>
              <a:rPr lang="en-US" dirty="0"/>
              <a:t>Readily transitioned between single-region and multi-region applications</a:t>
            </a:r>
          </a:p>
          <a:p>
            <a:pPr lvl="1"/>
            <a:r>
              <a:rPr lang="en-US" dirty="0"/>
              <a:t>Efficiently estimated random effects</a:t>
            </a:r>
          </a:p>
          <a:p>
            <a:pPr lvl="1"/>
            <a:r>
              <a:rPr lang="en-US" dirty="0"/>
              <a:t>Was modular, flexible, and ‘easy’ to contribute to</a:t>
            </a:r>
          </a:p>
          <a:p>
            <a:pPr lvl="1"/>
            <a:r>
              <a:rPr lang="en-US" dirty="0"/>
              <a:t>Had a fully functional assessment wrapper – catch projections, diagnostics, residual analysis, plotting functions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57FC810-8CBB-D0B8-DC78-334FB93789DA}"/>
              </a:ext>
            </a:extLst>
          </p:cNvPr>
          <p:cNvSpPr txBox="1"/>
          <p:nvPr/>
        </p:nvSpPr>
        <p:spPr>
          <a:xfrm>
            <a:off x="7712063" y="4930314"/>
            <a:ext cx="4367498" cy="400110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r>
              <a:rPr lang="en-US" sz="2000" dirty="0">
                <a:hlinkClick r:id="rId3"/>
              </a:rPr>
              <a:t>https://chengmatt.github.io/SPoRC/</a:t>
            </a:r>
            <a:endParaRPr lang="en-US" sz="20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828A619-FD3E-F65D-A582-BFAEB2855B96}"/>
              </a:ext>
            </a:extLst>
          </p:cNvPr>
          <p:cNvPicPr>
            <a:picLocks noChangeAspect="1"/>
          </p:cNvPicPr>
          <p:nvPr/>
        </p:nvPicPr>
        <p:blipFill>
          <a:blip r:embed="rId4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731940" y="694043"/>
            <a:ext cx="878752" cy="101370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F723921C-C2DF-0DD4-53F0-C38D954A712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08482" y="2451606"/>
            <a:ext cx="4608958" cy="22531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2084156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4">
          <a:extLst>
            <a:ext uri="{FF2B5EF4-FFF2-40B4-BE49-F238E27FC236}">
              <a16:creationId xmlns:a16="http://schemas.microsoft.com/office/drawing/2014/main" id="{574DAEE0-7F27-1F80-7807-B04EACA52E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13">
            <a:extLst>
              <a:ext uri="{FF2B5EF4-FFF2-40B4-BE49-F238E27FC236}">
                <a16:creationId xmlns:a16="http://schemas.microsoft.com/office/drawing/2014/main" id="{1EE71CBA-DEF8-6930-31B6-C8DDB27A75BD}"/>
              </a:ext>
            </a:extLst>
          </p:cNvPr>
          <p:cNvSpPr/>
          <p:nvPr/>
        </p:nvSpPr>
        <p:spPr>
          <a:xfrm>
            <a:off x="433325" y="609600"/>
            <a:ext cx="11325300" cy="119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orbel"/>
              <a:buNone/>
            </a:pPr>
            <a:endParaRPr sz="1800" b="0" i="0" u="none" strike="noStrike" cap="none" dirty="0">
              <a:solidFill>
                <a:srgbClr val="FFFFFF"/>
              </a:solidFill>
              <a:latin typeface="Times New Roman" panose="02020603050405020304" pitchFamily="18" charset="0"/>
              <a:ea typeface="Corbel"/>
              <a:cs typeface="Times New Roman" panose="02020603050405020304" pitchFamily="18" charset="0"/>
              <a:sym typeface="Corbel"/>
            </a:endParaRPr>
          </a:p>
        </p:txBody>
      </p:sp>
      <p:sp>
        <p:nvSpPr>
          <p:cNvPr id="106" name="Google Shape;106;p13">
            <a:extLst>
              <a:ext uri="{FF2B5EF4-FFF2-40B4-BE49-F238E27FC236}">
                <a16:creationId xmlns:a16="http://schemas.microsoft.com/office/drawing/2014/main" id="{202DF752-5CA0-B10F-EBD5-8B986A2A6EBA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0558300" y="5956137"/>
            <a:ext cx="1461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8</a:t>
            </a:fld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7" name="Google Shape;107;p13">
            <a:extLst>
              <a:ext uri="{FF2B5EF4-FFF2-40B4-BE49-F238E27FC236}">
                <a16:creationId xmlns:a16="http://schemas.microsoft.com/office/drawing/2014/main" id="{68E5C0CB-B95B-3132-C778-AA0BA89E462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Gill Sans"/>
              <a:buNone/>
            </a:pP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SPoRC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Bridging From ADMB</a:t>
            </a: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8" name="Google Shape;108;p13">
            <a:extLst>
              <a:ext uri="{FF2B5EF4-FFF2-40B4-BE49-F238E27FC236}">
                <a16:creationId xmlns:a16="http://schemas.microsoft.com/office/drawing/2014/main" id="{5105EA4A-3491-17BC-DC9C-E69EA43AD8A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433326" y="2277035"/>
            <a:ext cx="6838177" cy="4079212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rmAutofit/>
          </a:bodyPr>
          <a:lstStyle/>
          <a:p>
            <a:r>
              <a:rPr lang="en-US" dirty="0"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  <a:sym typeface="Arial"/>
              </a:rPr>
              <a:t>The bespoke ADMB was perfectly emulated in </a:t>
            </a:r>
            <a:r>
              <a:rPr lang="en-US" dirty="0" err="1"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  <a:sym typeface="Arial"/>
              </a:rPr>
              <a:t>SPoRC</a:t>
            </a:r>
            <a:r>
              <a:rPr lang="en-US" dirty="0"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  <a:sym typeface="Arial"/>
              </a:rPr>
              <a:t> (R-TMB)</a:t>
            </a:r>
          </a:p>
          <a:p>
            <a:pPr lvl="1"/>
            <a:r>
              <a:rPr lang="en-US" dirty="0"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  <a:sym typeface="Arial"/>
              </a:rPr>
              <a:t>Relative differences within &lt; 0.001% for likelihood values, time-series estimates, selectivity, and key estimates (including reference points and management advice)</a:t>
            </a:r>
          </a:p>
          <a:p>
            <a:r>
              <a:rPr lang="en-US" dirty="0"/>
              <a:t>Reviewed and approved by NPFMC Plan Team and Statistical and Scientific Committee</a:t>
            </a:r>
          </a:p>
          <a:p>
            <a:r>
              <a:rPr lang="en-US" dirty="0"/>
              <a:t>Adopted for the basis of operational assessment in 2025</a:t>
            </a:r>
          </a:p>
          <a:p>
            <a:pPr lvl="1"/>
            <a:endParaRPr lang="en-US" dirty="0">
              <a:latin typeface="Times New Roman" panose="02020603050405020304" pitchFamily="18" charset="0"/>
              <a:ea typeface="Arial"/>
              <a:cs typeface="Times New Roman" panose="02020603050405020304" pitchFamily="18" charset="0"/>
              <a:sym typeface="Arial"/>
            </a:endParaRPr>
          </a:p>
          <a:p>
            <a:pPr lvl="1"/>
            <a:endParaRPr lang="en-US" dirty="0">
              <a:latin typeface="Times New Roman" panose="02020603050405020304" pitchFamily="18" charset="0"/>
              <a:ea typeface="Arial"/>
              <a:cs typeface="Times New Roman" panose="02020603050405020304" pitchFamily="18" charset="0"/>
              <a:sym typeface="Arial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167A7E19-2D4F-60B9-F33D-0F70CF60479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22811" y="2113782"/>
            <a:ext cx="4697389" cy="3757911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1E4B3041-81FC-C447-8F06-33E7479A87ED}"/>
              </a:ext>
            </a:extLst>
          </p:cNvPr>
          <p:cNvSpPr txBox="1"/>
          <p:nvPr/>
        </p:nvSpPr>
        <p:spPr>
          <a:xfrm>
            <a:off x="9442146" y="5107758"/>
            <a:ext cx="231647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25.1 Results GitHub </a:t>
            </a:r>
            <a:r>
              <a:rPr lang="en-US" dirty="0">
                <a:hlinkClick r:id="rId4"/>
              </a:rPr>
              <a:t>Link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9211153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4">
          <a:extLst>
            <a:ext uri="{FF2B5EF4-FFF2-40B4-BE49-F238E27FC236}">
              <a16:creationId xmlns:a16="http://schemas.microsoft.com/office/drawing/2014/main" id="{320CDA71-12B5-0445-B314-DE63151DF3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13">
            <a:extLst>
              <a:ext uri="{FF2B5EF4-FFF2-40B4-BE49-F238E27FC236}">
                <a16:creationId xmlns:a16="http://schemas.microsoft.com/office/drawing/2014/main" id="{B73B21F4-DC73-912A-9781-140FABB5D021}"/>
              </a:ext>
            </a:extLst>
          </p:cNvPr>
          <p:cNvSpPr/>
          <p:nvPr/>
        </p:nvSpPr>
        <p:spPr>
          <a:xfrm>
            <a:off x="433325" y="609600"/>
            <a:ext cx="11325300" cy="119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orbel"/>
              <a:buNone/>
            </a:pPr>
            <a:endParaRPr sz="1800" b="0" i="0" u="none" strike="noStrike" cap="none" dirty="0">
              <a:solidFill>
                <a:srgbClr val="FFFFFF"/>
              </a:solidFill>
              <a:latin typeface="Times New Roman" panose="02020603050405020304" pitchFamily="18" charset="0"/>
              <a:ea typeface="Corbel"/>
              <a:cs typeface="Times New Roman" panose="02020603050405020304" pitchFamily="18" charset="0"/>
              <a:sym typeface="Corbel"/>
            </a:endParaRPr>
          </a:p>
        </p:txBody>
      </p:sp>
      <p:sp>
        <p:nvSpPr>
          <p:cNvPr id="106" name="Google Shape;106;p13">
            <a:extLst>
              <a:ext uri="{FF2B5EF4-FFF2-40B4-BE49-F238E27FC236}">
                <a16:creationId xmlns:a16="http://schemas.microsoft.com/office/drawing/2014/main" id="{8965B64E-1AB8-A4DC-2E29-4A2197C82E8E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0558300" y="5956137"/>
            <a:ext cx="1461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9</a:t>
            </a:fld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7" name="Google Shape;107;p13">
            <a:extLst>
              <a:ext uri="{FF2B5EF4-FFF2-40B4-BE49-F238E27FC236}">
                <a16:creationId xmlns:a16="http://schemas.microsoft.com/office/drawing/2014/main" id="{95E194F6-FF56-0A1B-2DBB-1BA3A60CA69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Gill Sans"/>
              <a:buNone/>
            </a:pP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 Integration and Observation Processes</a:t>
            </a: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0DFB9C50-4D21-085F-FDE6-5BDB6E1D65A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83157" y="1873045"/>
            <a:ext cx="7374673" cy="4984955"/>
          </a:xfrm>
          <a:prstGeom prst="rect">
            <a:avLst/>
          </a:prstGeom>
        </p:spPr>
      </p:pic>
      <p:pic>
        <p:nvPicPr>
          <p:cNvPr id="12" name="Graphic 11" descr="Checkbox Checked with solid fill">
            <a:extLst>
              <a:ext uri="{FF2B5EF4-FFF2-40B4-BE49-F238E27FC236}">
                <a16:creationId xmlns:a16="http://schemas.microsoft.com/office/drawing/2014/main" id="{B9855167-7943-B99E-149E-46A1A31C8DD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931330" y="2023819"/>
            <a:ext cx="504228" cy="504228"/>
          </a:xfrm>
          <a:prstGeom prst="rect">
            <a:avLst/>
          </a:prstGeom>
        </p:spPr>
      </p:pic>
      <p:pic>
        <p:nvPicPr>
          <p:cNvPr id="14" name="Graphic 13" descr="Checkbox Checked with solid fill">
            <a:extLst>
              <a:ext uri="{FF2B5EF4-FFF2-40B4-BE49-F238E27FC236}">
                <a16:creationId xmlns:a16="http://schemas.microsoft.com/office/drawing/2014/main" id="{9E78382E-7238-D067-51CB-F327D740BBF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931330" y="2582863"/>
            <a:ext cx="504228" cy="504228"/>
          </a:xfrm>
          <a:prstGeom prst="rect">
            <a:avLst/>
          </a:prstGeom>
        </p:spPr>
      </p:pic>
      <p:pic>
        <p:nvPicPr>
          <p:cNvPr id="16" name="Graphic 15" descr="Checkbox Checked with solid fill">
            <a:extLst>
              <a:ext uri="{FF2B5EF4-FFF2-40B4-BE49-F238E27FC236}">
                <a16:creationId xmlns:a16="http://schemas.microsoft.com/office/drawing/2014/main" id="{D1ADEA5F-19B1-D5F7-7FB2-21C151BC64A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931330" y="3087091"/>
            <a:ext cx="504228" cy="504228"/>
          </a:xfrm>
          <a:prstGeom prst="rect">
            <a:avLst/>
          </a:prstGeom>
        </p:spPr>
      </p:pic>
      <p:pic>
        <p:nvPicPr>
          <p:cNvPr id="18" name="Graphic 17" descr="Checkbox Checked with solid fill">
            <a:extLst>
              <a:ext uri="{FF2B5EF4-FFF2-40B4-BE49-F238E27FC236}">
                <a16:creationId xmlns:a16="http://schemas.microsoft.com/office/drawing/2014/main" id="{522E6AD4-FFD1-6E35-BE80-14EC22D9B36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931330" y="4329954"/>
            <a:ext cx="504228" cy="504228"/>
          </a:xfrm>
          <a:prstGeom prst="rect">
            <a:avLst/>
          </a:prstGeom>
        </p:spPr>
      </p:pic>
      <p:pic>
        <p:nvPicPr>
          <p:cNvPr id="20" name="Graphic 19" descr="Checkbox Checked with solid fill">
            <a:extLst>
              <a:ext uri="{FF2B5EF4-FFF2-40B4-BE49-F238E27FC236}">
                <a16:creationId xmlns:a16="http://schemas.microsoft.com/office/drawing/2014/main" id="{AC457D3F-6F80-49B5-9B63-84D27C9F53C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931330" y="5215254"/>
            <a:ext cx="504228" cy="504228"/>
          </a:xfrm>
          <a:prstGeom prst="rect">
            <a:avLst/>
          </a:prstGeom>
        </p:spPr>
      </p:pic>
      <p:pic>
        <p:nvPicPr>
          <p:cNvPr id="22" name="Graphic 21" descr="Checkbox Checked with solid fill">
            <a:extLst>
              <a:ext uri="{FF2B5EF4-FFF2-40B4-BE49-F238E27FC236}">
                <a16:creationId xmlns:a16="http://schemas.microsoft.com/office/drawing/2014/main" id="{73ABAD68-4AB1-777E-CA22-54A439DD205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931330" y="5623220"/>
            <a:ext cx="504228" cy="504228"/>
          </a:xfrm>
          <a:prstGeom prst="rect">
            <a:avLst/>
          </a:prstGeom>
        </p:spPr>
      </p:pic>
      <p:pic>
        <p:nvPicPr>
          <p:cNvPr id="24" name="Graphic 23" descr="Checkbox Checked with solid fill">
            <a:extLst>
              <a:ext uri="{FF2B5EF4-FFF2-40B4-BE49-F238E27FC236}">
                <a16:creationId xmlns:a16="http://schemas.microsoft.com/office/drawing/2014/main" id="{A7E925F3-1614-4F7D-BC29-0832EADD128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931330" y="6200193"/>
            <a:ext cx="504228" cy="504228"/>
          </a:xfrm>
          <a:prstGeom prst="rect">
            <a:avLst/>
          </a:prstGeom>
        </p:spPr>
      </p:pic>
      <p:sp>
        <p:nvSpPr>
          <p:cNvPr id="25" name="Rectangle 24">
            <a:extLst>
              <a:ext uri="{FF2B5EF4-FFF2-40B4-BE49-F238E27FC236}">
                <a16:creationId xmlns:a16="http://schemas.microsoft.com/office/drawing/2014/main" id="{8B299BF5-A09A-1835-44E5-D84F4E9D4C82}"/>
              </a:ext>
            </a:extLst>
          </p:cNvPr>
          <p:cNvSpPr/>
          <p:nvPr/>
        </p:nvSpPr>
        <p:spPr>
          <a:xfrm>
            <a:off x="4025153" y="3155576"/>
            <a:ext cx="1900518" cy="331694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4E1EA4B7-3FC7-9D0E-88C9-B0B5B05EAA34}"/>
              </a:ext>
            </a:extLst>
          </p:cNvPr>
          <p:cNvSpPr/>
          <p:nvPr/>
        </p:nvSpPr>
        <p:spPr>
          <a:xfrm>
            <a:off x="5307106" y="3334871"/>
            <a:ext cx="528918" cy="94129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5887215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4">
          <a:extLst>
            <a:ext uri="{FF2B5EF4-FFF2-40B4-BE49-F238E27FC236}">
              <a16:creationId xmlns:a16="http://schemas.microsoft.com/office/drawing/2014/main" id="{00F5001B-F911-12CC-D501-A782EEA960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13">
            <a:extLst>
              <a:ext uri="{FF2B5EF4-FFF2-40B4-BE49-F238E27FC236}">
                <a16:creationId xmlns:a16="http://schemas.microsoft.com/office/drawing/2014/main" id="{6B713AA9-6812-BE8E-DB8F-86C3811B93D6}"/>
              </a:ext>
            </a:extLst>
          </p:cNvPr>
          <p:cNvSpPr/>
          <p:nvPr/>
        </p:nvSpPr>
        <p:spPr>
          <a:xfrm>
            <a:off x="433325" y="609600"/>
            <a:ext cx="11325300" cy="119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orbel"/>
              <a:buNone/>
            </a:pPr>
            <a:endParaRPr sz="1800" b="0" i="0" u="none" strike="noStrike" cap="none" dirty="0">
              <a:solidFill>
                <a:srgbClr val="FFFFFF"/>
              </a:solidFill>
              <a:latin typeface="Times New Roman" panose="02020603050405020304" pitchFamily="18" charset="0"/>
              <a:ea typeface="Corbel"/>
              <a:cs typeface="Times New Roman" panose="02020603050405020304" pitchFamily="18" charset="0"/>
              <a:sym typeface="Corbel"/>
            </a:endParaRPr>
          </a:p>
        </p:txBody>
      </p:sp>
      <p:sp>
        <p:nvSpPr>
          <p:cNvPr id="106" name="Google Shape;106;p13">
            <a:extLst>
              <a:ext uri="{FF2B5EF4-FFF2-40B4-BE49-F238E27FC236}">
                <a16:creationId xmlns:a16="http://schemas.microsoft.com/office/drawing/2014/main" id="{2D16C741-9F0D-A2E7-535F-E6CE1512364C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0558300" y="5956137"/>
            <a:ext cx="1461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10</a:t>
            </a:fld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7" name="Google Shape;107;p13">
            <a:extLst>
              <a:ext uri="{FF2B5EF4-FFF2-40B4-BE49-F238E27FC236}">
                <a16:creationId xmlns:a16="http://schemas.microsoft.com/office/drawing/2014/main" id="{A7ED1F0D-000C-E32D-CF91-0FF49AB2B6F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Gill Sans"/>
              <a:buNone/>
            </a:pP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Spatial and Fleet Structure</a:t>
            </a: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8" name="Google Shape;108;p13">
            <a:extLst>
              <a:ext uri="{FF2B5EF4-FFF2-40B4-BE49-F238E27FC236}">
                <a16:creationId xmlns:a16="http://schemas.microsoft.com/office/drawing/2014/main" id="{66FC0EAC-D420-3DE2-7EB4-2F931CD3467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433327" y="1901196"/>
            <a:ext cx="6596124" cy="4714758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rmAutofit lnSpcReduction="10000"/>
          </a:bodyPr>
          <a:lstStyle/>
          <a:p>
            <a:r>
              <a:rPr lang="en-US" dirty="0"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  <a:sym typeface="Arial"/>
              </a:rPr>
              <a:t>Two primary models developed that differed only in fleet structure (implicit spatial structure):</a:t>
            </a:r>
          </a:p>
          <a:p>
            <a:pPr lvl="1" indent="-333375"/>
            <a:r>
              <a:rPr lang="en-US" i="1" dirty="0"/>
              <a:t>26.1_1Reg</a:t>
            </a:r>
            <a:r>
              <a:rPr lang="en-US" dirty="0"/>
              <a:t> – Single region panmictic model with no regional fleet structure</a:t>
            </a:r>
          </a:p>
          <a:p>
            <a:pPr lvl="2" indent="-333375"/>
            <a:r>
              <a:rPr lang="en-US" dirty="0"/>
              <a:t>All data aggregated to a single region</a:t>
            </a:r>
          </a:p>
          <a:p>
            <a:pPr lvl="2" indent="-333375"/>
            <a:r>
              <a:rPr lang="en-US" dirty="0"/>
              <a:t>Matches structure of assessment currently used for management advice (</a:t>
            </a:r>
            <a:r>
              <a:rPr lang="en-US" i="1" dirty="0"/>
              <a:t>25.12</a:t>
            </a:r>
            <a:r>
              <a:rPr lang="en-US" dirty="0"/>
              <a:t>)</a:t>
            </a:r>
          </a:p>
          <a:p>
            <a:pPr lvl="1" indent="-333375"/>
            <a:r>
              <a:rPr lang="en-US" i="1" dirty="0"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  <a:sym typeface="Arial"/>
              </a:rPr>
              <a:t>26.2_FAA </a:t>
            </a:r>
            <a:r>
              <a:rPr lang="en-US" dirty="0"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  <a:sym typeface="Arial"/>
              </a:rPr>
              <a:t>– Single region Fleets-</a:t>
            </a:r>
            <a:r>
              <a:rPr lang="en-US" dirty="0"/>
              <a:t>as-Areas (FAA) model that implicitly accounts for regional heterogeneity/ availability/movement implicitly through NOAA Longline Survey fleet structure</a:t>
            </a:r>
          </a:p>
          <a:p>
            <a:pPr lvl="2" indent="-333375"/>
            <a:r>
              <a:rPr lang="en-US" dirty="0"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  <a:sym typeface="Arial"/>
              </a:rPr>
              <a:t>All data aggregated to a single region </a:t>
            </a:r>
            <a:r>
              <a:rPr lang="en-US" b="1" dirty="0"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  <a:sym typeface="Arial"/>
              </a:rPr>
              <a:t>except</a:t>
            </a:r>
            <a:r>
              <a:rPr lang="en-US" dirty="0"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  <a:sym typeface="Arial"/>
              </a:rPr>
              <a:t> NOAA Longline Survey indices and age compositions </a:t>
            </a:r>
          </a:p>
          <a:p>
            <a:pPr lvl="2" indent="-333375"/>
            <a:r>
              <a:rPr lang="en-US" dirty="0"/>
              <a:t>D</a:t>
            </a:r>
            <a:r>
              <a:rPr lang="en-US" dirty="0"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  <a:sym typeface="Arial"/>
              </a:rPr>
              <a:t>isaggregated by region – BS, AI, and GOA</a:t>
            </a:r>
          </a:p>
          <a:p>
            <a:pPr indent="-333375"/>
            <a:r>
              <a:rPr lang="en-US" dirty="0">
                <a:ea typeface="Arial"/>
              </a:rPr>
              <a:t>Rest of presentation describes general framework as applies to both models</a:t>
            </a:r>
            <a:endParaRPr lang="en-US" dirty="0">
              <a:latin typeface="Times New Roman" panose="02020603050405020304" pitchFamily="18" charset="0"/>
              <a:ea typeface="Arial"/>
              <a:cs typeface="Times New Roman" panose="02020603050405020304" pitchFamily="18" charset="0"/>
              <a:sym typeface="Arial"/>
            </a:endParaRP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040D6111-B897-9594-95AB-E49EBE065C3B}"/>
              </a:ext>
            </a:extLst>
          </p:cNvPr>
          <p:cNvGrpSpPr/>
          <p:nvPr/>
        </p:nvGrpSpPr>
        <p:grpSpPr>
          <a:xfrm>
            <a:off x="7221069" y="3845641"/>
            <a:ext cx="4799131" cy="2770313"/>
            <a:chOff x="7341103" y="2181422"/>
            <a:chExt cx="4799131" cy="2770313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96A9BE62-2FAF-4F55-EF3D-457FCBEA840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 cstate="hq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/>
          </p:blipFill>
          <p:spPr>
            <a:xfrm>
              <a:off x="7341103" y="2181422"/>
              <a:ext cx="4799131" cy="2770313"/>
            </a:xfrm>
            <a:prstGeom prst="rect">
              <a:avLst/>
            </a:prstGeom>
          </p:spPr>
        </p:pic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598AAC3E-7869-EF46-80B1-08B3C07E88E6}"/>
                </a:ext>
              </a:extLst>
            </p:cNvPr>
            <p:cNvSpPr/>
            <p:nvPr/>
          </p:nvSpPr>
          <p:spPr>
            <a:xfrm rot="20751309">
              <a:off x="9245878" y="3748099"/>
              <a:ext cx="2714302" cy="827970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Gulf of Alask (GOA)</a:t>
              </a:r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DBD3045C-332B-515A-D88F-4013F6E050F9}"/>
                </a:ext>
              </a:extLst>
            </p:cNvPr>
            <p:cNvSpPr/>
            <p:nvPr/>
          </p:nvSpPr>
          <p:spPr>
            <a:xfrm>
              <a:off x="7897907" y="3047875"/>
              <a:ext cx="4122294" cy="1770509"/>
            </a:xfrm>
            <a:prstGeom prst="ellipse">
              <a:avLst/>
            </a:prstGeom>
            <a:solidFill>
              <a:schemeClr val="lt1">
                <a:alpha val="49000"/>
              </a:schemeClr>
            </a:solidFill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t" anchorCtr="0"/>
            <a:lstStyle/>
            <a:p>
              <a:pPr algn="ctr"/>
              <a:r>
                <a:rPr lang="en-US" b="1" dirty="0">
                  <a:solidFill>
                    <a:schemeClr val="accent6"/>
                  </a:solidFill>
                </a:rPr>
                <a:t>AK Sablefish Population</a:t>
              </a:r>
            </a:p>
          </p:txBody>
        </p:sp>
      </p:grpSp>
      <p:pic>
        <p:nvPicPr>
          <p:cNvPr id="12" name="Picture 11">
            <a:extLst>
              <a:ext uri="{FF2B5EF4-FFF2-40B4-BE49-F238E27FC236}">
                <a16:creationId xmlns:a16="http://schemas.microsoft.com/office/drawing/2014/main" id="{D0FBC2C7-B8E4-8CB3-1E69-FE2F9B7CBE1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21069" y="1901196"/>
            <a:ext cx="2141034" cy="1843548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4ECFB997-0FFC-0220-42CE-5DBD7D1F00A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88605" y="1897508"/>
            <a:ext cx="3003395" cy="18509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1100767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13"/>
          <p:cNvSpPr/>
          <p:nvPr/>
        </p:nvSpPr>
        <p:spPr>
          <a:xfrm>
            <a:off x="433325" y="609600"/>
            <a:ext cx="11325300" cy="119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orbel"/>
              <a:buNone/>
            </a:pPr>
            <a:endParaRPr sz="1800" b="0" i="0" u="none" strike="noStrike" cap="none" dirty="0">
              <a:solidFill>
                <a:srgbClr val="FFFFFF"/>
              </a:solidFill>
              <a:latin typeface="Times New Roman" panose="02020603050405020304" pitchFamily="18" charset="0"/>
              <a:ea typeface="Corbel"/>
              <a:cs typeface="Times New Roman" panose="02020603050405020304" pitchFamily="18" charset="0"/>
              <a:sym typeface="Corbel"/>
            </a:endParaRPr>
          </a:p>
        </p:txBody>
      </p:sp>
      <p:sp>
        <p:nvSpPr>
          <p:cNvPr id="106" name="Google Shape;106;p13"/>
          <p:cNvSpPr txBox="1">
            <a:spLocks noGrp="1"/>
          </p:cNvSpPr>
          <p:nvPr>
            <p:ph type="sldNum" idx="12"/>
          </p:nvPr>
        </p:nvSpPr>
        <p:spPr>
          <a:xfrm>
            <a:off x="10558300" y="5956137"/>
            <a:ext cx="1461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11</a:t>
            </a:fld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7" name="Google Shape;107;p13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Gill Sans"/>
              <a:buNone/>
            </a:pP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 Summary</a:t>
            </a: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Text Placeholder 4"/>
          <p:cNvSpPr>
            <a:spLocks noGrp="1"/>
          </p:cNvSpPr>
          <p:nvPr>
            <p:ph type="body" idx="1"/>
          </p:nvPr>
        </p:nvSpPr>
        <p:spPr>
          <a:xfrm>
            <a:off x="581077" y="1865401"/>
            <a:ext cx="11169093" cy="3584057"/>
          </a:xfrm>
        </p:spPr>
        <p:txBody>
          <a:bodyPr/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New data for 2026 in 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bold</a:t>
            </a:r>
          </a:p>
          <a:p>
            <a:r>
              <a:rPr lang="en-US" dirty="0"/>
              <a:t>Whale depredation by area held constant at 2022 levels</a:t>
            </a:r>
          </a:p>
          <a:p>
            <a:r>
              <a:rPr lang="en-US" dirty="0"/>
              <a:t>AI and BS Regional NOAA Longline Surveys started in 1996 and 1997, respectively</a:t>
            </a:r>
          </a:p>
          <a:p>
            <a:r>
              <a:rPr lang="en-US" dirty="0"/>
              <a:t>Francis reweighting applied (Method TA1.8; accounting for correlations among bins)</a:t>
            </a:r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 rotWithShape="1">
          <a:blip r:embed="rId3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8929567" y="619125"/>
            <a:ext cx="2820603" cy="1566357"/>
          </a:xfrm>
          <a:prstGeom prst="rect">
            <a:avLst/>
          </a:prstGeom>
        </p:spPr>
      </p:pic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145C4C7E-C91D-419B-A7B0-3C58A10F9FF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13642905"/>
              </p:ext>
            </p:extLst>
          </p:nvPr>
        </p:nvGraphicFramePr>
        <p:xfrm>
          <a:off x="1324651" y="3945696"/>
          <a:ext cx="9122794" cy="2438400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2372370">
                  <a:extLst>
                    <a:ext uri="{9D8B030D-6E8A-4147-A177-3AD203B41FA5}">
                      <a16:colId xmlns:a16="http://schemas.microsoft.com/office/drawing/2014/main" val="2937042213"/>
                    </a:ext>
                  </a:extLst>
                </a:gridCol>
                <a:gridCol w="1093694">
                  <a:extLst>
                    <a:ext uri="{9D8B030D-6E8A-4147-A177-3AD203B41FA5}">
                      <a16:colId xmlns:a16="http://schemas.microsoft.com/office/drawing/2014/main" val="1411371665"/>
                    </a:ext>
                  </a:extLst>
                </a:gridCol>
                <a:gridCol w="3164541">
                  <a:extLst>
                    <a:ext uri="{9D8B030D-6E8A-4147-A177-3AD203B41FA5}">
                      <a16:colId xmlns:a16="http://schemas.microsoft.com/office/drawing/2014/main" val="2073172263"/>
                    </a:ext>
                  </a:extLst>
                </a:gridCol>
                <a:gridCol w="2492189">
                  <a:extLst>
                    <a:ext uri="{9D8B030D-6E8A-4147-A177-3AD203B41FA5}">
                      <a16:colId xmlns:a16="http://schemas.microsoft.com/office/drawing/2014/main" val="1236209027"/>
                    </a:ext>
                  </a:extLst>
                </a:gridCol>
              </a:tblGrid>
              <a:tr h="204263"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dirty="0">
                          <a:effectLst/>
                          <a:latin typeface="+mj-lt"/>
                        </a:rPr>
                        <a:t>Source</a:t>
                      </a:r>
                      <a:endParaRPr lang="en-US" sz="1400" dirty="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dirty="0">
                          <a:effectLst/>
                          <a:latin typeface="+mj-lt"/>
                        </a:rPr>
                        <a:t>Data</a:t>
                      </a:r>
                      <a:endParaRPr lang="en-US" sz="1400" dirty="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dirty="0">
                          <a:effectLst/>
                          <a:latin typeface="+mj-lt"/>
                        </a:rPr>
                        <a:t>Years</a:t>
                      </a:r>
                      <a:endParaRPr lang="en-US" sz="1400" dirty="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Probability Distribution</a:t>
                      </a: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4099905096"/>
                  </a:ext>
                </a:extLst>
              </a:tr>
              <a:tr h="204263"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>
                          <a:effectLst/>
                          <a:latin typeface="+mj-lt"/>
                        </a:rPr>
                        <a:t>Fixed Gear Fisheries</a:t>
                      </a:r>
                      <a:endParaRPr lang="en-US" sz="14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>
                          <a:effectLst/>
                          <a:latin typeface="+mj-lt"/>
                        </a:rPr>
                        <a:t>Catch</a:t>
                      </a:r>
                      <a:endParaRPr lang="en-US" sz="14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dirty="0">
                          <a:effectLst/>
                          <a:latin typeface="+mj-lt"/>
                        </a:rPr>
                        <a:t>1960 – </a:t>
                      </a:r>
                      <a:r>
                        <a:rPr lang="en-US" sz="1400" b="1" dirty="0">
                          <a:effectLst/>
                          <a:latin typeface="+mj-lt"/>
                        </a:rPr>
                        <a:t>2025</a:t>
                      </a:r>
                      <a:endParaRPr lang="en-US" sz="1400" b="1" dirty="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Lognormal</a:t>
                      </a: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2799129089"/>
                  </a:ext>
                </a:extLst>
              </a:tr>
              <a:tr h="204263"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>
                          <a:effectLst/>
                          <a:latin typeface="+mj-lt"/>
                        </a:rPr>
                        <a:t>Trawl Fisheries</a:t>
                      </a:r>
                      <a:endParaRPr lang="en-US" sz="14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>
                          <a:effectLst/>
                          <a:latin typeface="+mj-lt"/>
                        </a:rPr>
                        <a:t>Catch</a:t>
                      </a:r>
                      <a:endParaRPr lang="en-US" sz="14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dirty="0">
                          <a:effectLst/>
                          <a:latin typeface="+mj-lt"/>
                        </a:rPr>
                        <a:t>1960 – </a:t>
                      </a:r>
                      <a:r>
                        <a:rPr lang="en-US" sz="1400" b="1" dirty="0">
                          <a:effectLst/>
                          <a:latin typeface="+mj-lt"/>
                        </a:rPr>
                        <a:t>2025</a:t>
                      </a:r>
                      <a:endParaRPr lang="en-US" sz="1400" b="1" dirty="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i="0" u="none" strike="noStrike" cap="none" dirty="0">
                          <a:solidFill>
                            <a:schemeClr val="dk1"/>
                          </a:solidFill>
                          <a:effectLst/>
                          <a:latin typeface="+mj-lt"/>
                          <a:ea typeface="Times New Roman" panose="02020603050405020304" pitchFamily="18" charset="0"/>
                          <a:cs typeface="+mn-cs"/>
                          <a:sym typeface="Arial"/>
                        </a:rPr>
                        <a:t>Lognormal</a:t>
                      </a:r>
                      <a:endParaRPr lang="en-US" sz="1400" b="1" dirty="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2311315976"/>
                  </a:ext>
                </a:extLst>
              </a:tr>
              <a:tr h="204263"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>
                          <a:effectLst/>
                          <a:latin typeface="+mj-lt"/>
                        </a:rPr>
                        <a:t>Non-Commercial Catch</a:t>
                      </a:r>
                      <a:endParaRPr lang="en-US" sz="14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>
                          <a:effectLst/>
                          <a:latin typeface="+mj-lt"/>
                        </a:rPr>
                        <a:t>Catch</a:t>
                      </a:r>
                      <a:endParaRPr lang="en-US" sz="14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dirty="0">
                          <a:effectLst/>
                          <a:latin typeface="+mj-lt"/>
                        </a:rPr>
                        <a:t>1977 – </a:t>
                      </a:r>
                      <a:r>
                        <a:rPr lang="en-US" sz="1400" b="1" dirty="0">
                          <a:effectLst/>
                          <a:latin typeface="+mj-lt"/>
                        </a:rPr>
                        <a:t>2025</a:t>
                      </a:r>
                      <a:endParaRPr lang="en-US" sz="1400" b="1" dirty="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i="0" u="none" strike="noStrike" cap="none" dirty="0">
                          <a:solidFill>
                            <a:schemeClr val="dk1"/>
                          </a:solidFill>
                          <a:effectLst/>
                          <a:latin typeface="+mj-lt"/>
                          <a:ea typeface="Times New Roman" panose="02020603050405020304" pitchFamily="18" charset="0"/>
                          <a:cs typeface="+mn-cs"/>
                          <a:sym typeface="Arial"/>
                        </a:rPr>
                        <a:t>Lognormal</a:t>
                      </a:r>
                      <a:endParaRPr lang="en-US" sz="1400" b="1" dirty="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31087169"/>
                  </a:ext>
                </a:extLst>
              </a:tr>
              <a:tr h="204263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>
                          <a:latin typeface="+mj-lt"/>
                        </a:rPr>
                        <a:t>U.S. Fixed Gear Fishery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dirty="0">
                          <a:effectLst/>
                          <a:latin typeface="+mj-lt"/>
                        </a:rPr>
                        <a:t>Age</a:t>
                      </a:r>
                      <a:endParaRPr lang="en-US" sz="1400" dirty="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dirty="0">
                          <a:effectLst/>
                          <a:latin typeface="+mj-lt"/>
                        </a:rPr>
                        <a:t>1999 – </a:t>
                      </a:r>
                      <a:r>
                        <a:rPr lang="en-US" sz="1400" b="1" dirty="0">
                          <a:effectLst/>
                          <a:latin typeface="+mj-lt"/>
                        </a:rPr>
                        <a:t>2024</a:t>
                      </a:r>
                      <a:endParaRPr lang="en-US" sz="1400" b="1" dirty="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Multinomial (joint by sex)</a:t>
                      </a: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2377178668"/>
                  </a:ext>
                </a:extLst>
              </a:tr>
              <a:tr h="204263"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>
                          <a:effectLst/>
                          <a:latin typeface="+mj-lt"/>
                        </a:rPr>
                        <a:t>U.S. Trawl Fisheries</a:t>
                      </a:r>
                      <a:endParaRPr lang="en-US" sz="14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>
                          <a:effectLst/>
                          <a:latin typeface="+mj-lt"/>
                        </a:rPr>
                        <a:t>Length</a:t>
                      </a:r>
                      <a:endParaRPr lang="en-US" sz="14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dirty="0">
                          <a:effectLst/>
                          <a:latin typeface="+mj-lt"/>
                        </a:rPr>
                        <a:t>1990,1991,1999, 2005 – </a:t>
                      </a:r>
                      <a:r>
                        <a:rPr lang="en-US" sz="1400" b="1" dirty="0">
                          <a:effectLst/>
                          <a:latin typeface="+mj-lt"/>
                        </a:rPr>
                        <a:t>2024</a:t>
                      </a:r>
                      <a:endParaRPr lang="en-US" sz="1400" b="1" dirty="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sz="1400" b="1" i="0" u="none" strike="noStrike" cap="none" dirty="0">
                          <a:solidFill>
                            <a:schemeClr val="dk1"/>
                          </a:solidFill>
                          <a:effectLst/>
                          <a:latin typeface="+mj-lt"/>
                          <a:ea typeface="Times New Roman" panose="02020603050405020304" pitchFamily="18" charset="0"/>
                          <a:cs typeface="+mn-cs"/>
                          <a:sym typeface="Arial"/>
                        </a:rPr>
                        <a:t>Multinomial (joint by sex)</a:t>
                      </a: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3574044480"/>
                  </a:ext>
                </a:extLst>
              </a:tr>
              <a:tr h="213360">
                <a:tc rowSpan="3"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dirty="0">
                          <a:effectLst/>
                          <a:latin typeface="+mj-lt"/>
                        </a:rPr>
                        <a:t>Japanese Longline Survey</a:t>
                      </a:r>
                      <a:endParaRPr lang="en-US" sz="1400" dirty="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dirty="0">
                          <a:effectLst/>
                          <a:latin typeface="+mj-lt"/>
                        </a:rPr>
                        <a:t>RPNs</a:t>
                      </a:r>
                      <a:endParaRPr lang="en-US" sz="1400" dirty="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dirty="0">
                          <a:effectLst/>
                          <a:latin typeface="+mj-lt"/>
                        </a:rPr>
                        <a:t>1979 - 1994</a:t>
                      </a:r>
                      <a:endParaRPr lang="en-US" sz="1400" dirty="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i="0" u="none" strike="noStrike" cap="none" dirty="0">
                          <a:solidFill>
                            <a:schemeClr val="dk1"/>
                          </a:solidFill>
                          <a:effectLst/>
                          <a:latin typeface="+mj-lt"/>
                          <a:ea typeface="Times New Roman" panose="02020603050405020304" pitchFamily="18" charset="0"/>
                          <a:cs typeface="+mn-cs"/>
                          <a:sym typeface="Arial"/>
                        </a:rPr>
                        <a:t>Lognormal</a:t>
                      </a:r>
                      <a:endParaRPr lang="en-US" sz="1400" dirty="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2410169377"/>
                  </a:ext>
                </a:extLst>
              </a:tr>
              <a:tr h="213360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Length</a:t>
                      </a: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sz="14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+mj-lt"/>
                          <a:ea typeface="+mn-ea"/>
                          <a:cs typeface="+mn-cs"/>
                          <a:sym typeface="Arial"/>
                        </a:rPr>
                        <a:t>1979 - 1994</a:t>
                      </a:r>
                      <a:endParaRPr lang="en-US" sz="1400" b="0" i="0" u="none" strike="noStrike" cap="none" dirty="0">
                        <a:solidFill>
                          <a:schemeClr val="dk1"/>
                        </a:solidFill>
                        <a:effectLst/>
                        <a:latin typeface="+mj-lt"/>
                        <a:ea typeface="Times New Roman" panose="02020603050405020304" pitchFamily="18" charset="0"/>
                        <a:cs typeface="+mn-cs"/>
                        <a:sym typeface="Arial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sz="1400" b="1" i="0" u="none" strike="noStrike" cap="none" dirty="0">
                          <a:solidFill>
                            <a:schemeClr val="dk1"/>
                          </a:solidFill>
                          <a:effectLst/>
                          <a:latin typeface="+mj-lt"/>
                          <a:ea typeface="Times New Roman" panose="02020603050405020304" pitchFamily="18" charset="0"/>
                          <a:cs typeface="+mn-cs"/>
                          <a:sym typeface="Arial"/>
                        </a:rPr>
                        <a:t>Multinomial (joint by sex)</a:t>
                      </a: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4052001601"/>
                  </a:ext>
                </a:extLst>
              </a:tr>
              <a:tr h="204263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>
                          <a:effectLst/>
                          <a:latin typeface="+mj-lt"/>
                        </a:rPr>
                        <a:t>Age</a:t>
                      </a:r>
                      <a:endParaRPr lang="en-US" sz="14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dirty="0">
                          <a:effectLst/>
                          <a:latin typeface="+mj-lt"/>
                        </a:rPr>
                        <a:t>1981, 1985, 1987, 1989, 1991, 1993</a:t>
                      </a:r>
                      <a:endParaRPr lang="en-US" sz="1400" dirty="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sz="1400" b="1" i="0" u="none" strike="noStrike" cap="none" dirty="0">
                          <a:solidFill>
                            <a:schemeClr val="dk1"/>
                          </a:solidFill>
                          <a:effectLst/>
                          <a:latin typeface="+mj-lt"/>
                          <a:ea typeface="Times New Roman" panose="02020603050405020304" pitchFamily="18" charset="0"/>
                          <a:cs typeface="+mn-cs"/>
                          <a:sym typeface="Arial"/>
                        </a:rPr>
                        <a:t>Multinomial (joint by sex)</a:t>
                      </a: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2888289061"/>
                  </a:ext>
                </a:extLst>
              </a:tr>
              <a:tr h="106680">
                <a:tc rowSpan="2"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dirty="0">
                          <a:effectLst/>
                          <a:latin typeface="+mj-lt"/>
                        </a:rPr>
                        <a:t>NOAA Longline Survey</a:t>
                      </a:r>
                      <a:endParaRPr lang="en-US" sz="1400" dirty="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dirty="0">
                          <a:effectLst/>
                          <a:latin typeface="+mj-lt"/>
                        </a:rPr>
                        <a:t>RPNs</a:t>
                      </a:r>
                      <a:endParaRPr lang="en-US" sz="1400" dirty="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dirty="0">
                          <a:effectLst/>
                          <a:latin typeface="+mj-lt"/>
                        </a:rPr>
                        <a:t>1990 – 2023, </a:t>
                      </a:r>
                      <a:r>
                        <a:rPr lang="en-US" sz="1400" b="1" dirty="0">
                          <a:effectLst/>
                          <a:latin typeface="+mj-lt"/>
                        </a:rPr>
                        <a:t>2025</a:t>
                      </a:r>
                      <a:endParaRPr lang="en-US" sz="1400" b="1" dirty="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i="0" u="none" strike="noStrike" cap="none" dirty="0">
                          <a:solidFill>
                            <a:schemeClr val="dk1"/>
                          </a:solidFill>
                          <a:effectLst/>
                          <a:latin typeface="+mj-lt"/>
                          <a:ea typeface="Times New Roman" panose="02020603050405020304" pitchFamily="18" charset="0"/>
                          <a:cs typeface="+mn-cs"/>
                          <a:sym typeface="Arial"/>
                        </a:rPr>
                        <a:t>Lognormal</a:t>
                      </a:r>
                      <a:endParaRPr lang="en-US" sz="1400" b="1" dirty="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3248208733"/>
                  </a:ext>
                </a:extLst>
              </a:tr>
              <a:tr h="204263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>
                          <a:effectLst/>
                          <a:latin typeface="+mj-lt"/>
                        </a:rPr>
                        <a:t>Age</a:t>
                      </a:r>
                      <a:endParaRPr lang="en-US" sz="14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dirty="0">
                          <a:effectLst/>
                          <a:latin typeface="+mj-lt"/>
                        </a:rPr>
                        <a:t>1996 – </a:t>
                      </a:r>
                      <a:r>
                        <a:rPr lang="en-US" sz="1400" b="0" dirty="0">
                          <a:effectLst/>
                          <a:latin typeface="+mj-lt"/>
                        </a:rPr>
                        <a:t>2023</a:t>
                      </a:r>
                      <a:endParaRPr lang="en-US" sz="1400" b="0" dirty="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sz="1400" b="1" i="0" u="none" strike="noStrike" cap="none" dirty="0">
                          <a:solidFill>
                            <a:schemeClr val="dk1"/>
                          </a:solidFill>
                          <a:effectLst/>
                          <a:latin typeface="+mj-lt"/>
                          <a:ea typeface="Times New Roman" panose="02020603050405020304" pitchFamily="18" charset="0"/>
                          <a:cs typeface="+mn-cs"/>
                          <a:sym typeface="Arial"/>
                        </a:rPr>
                        <a:t>Multinomial (joint by sex)</a:t>
                      </a: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34918060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48660148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4">
          <a:extLst>
            <a:ext uri="{FF2B5EF4-FFF2-40B4-BE49-F238E27FC236}">
              <a16:creationId xmlns:a16="http://schemas.microsoft.com/office/drawing/2014/main" id="{06E97653-84B5-CF92-A202-3C37BA88CF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13">
            <a:extLst>
              <a:ext uri="{FF2B5EF4-FFF2-40B4-BE49-F238E27FC236}">
                <a16:creationId xmlns:a16="http://schemas.microsoft.com/office/drawing/2014/main" id="{8542F74C-35F3-9FEE-6CEC-7871C2F29BA7}"/>
              </a:ext>
            </a:extLst>
          </p:cNvPr>
          <p:cNvSpPr/>
          <p:nvPr/>
        </p:nvSpPr>
        <p:spPr>
          <a:xfrm>
            <a:off x="433325" y="609600"/>
            <a:ext cx="11325300" cy="119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orbel"/>
              <a:buNone/>
            </a:pPr>
            <a:endParaRPr sz="1800" b="0" i="0" u="none" strike="noStrike" cap="none" dirty="0">
              <a:solidFill>
                <a:srgbClr val="FFFFFF"/>
              </a:solidFill>
              <a:latin typeface="Times New Roman" panose="02020603050405020304" pitchFamily="18" charset="0"/>
              <a:ea typeface="Corbel"/>
              <a:cs typeface="Times New Roman" panose="02020603050405020304" pitchFamily="18" charset="0"/>
              <a:sym typeface="Corbel"/>
            </a:endParaRPr>
          </a:p>
        </p:txBody>
      </p:sp>
      <p:sp>
        <p:nvSpPr>
          <p:cNvPr id="106" name="Google Shape;106;p13">
            <a:extLst>
              <a:ext uri="{FF2B5EF4-FFF2-40B4-BE49-F238E27FC236}">
                <a16:creationId xmlns:a16="http://schemas.microsoft.com/office/drawing/2014/main" id="{E4EF57B8-D0D3-A240-6924-1CBDAA7FD716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0558300" y="5956137"/>
            <a:ext cx="1461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12</a:t>
            </a:fld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7" name="Google Shape;107;p13">
            <a:extLst>
              <a:ext uri="{FF2B5EF4-FFF2-40B4-BE49-F238E27FC236}">
                <a16:creationId xmlns:a16="http://schemas.microsoft.com/office/drawing/2014/main" id="{CA7786BC-AF8F-99FC-A689-AD854F21B8D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Gill Sans"/>
              <a:buNone/>
            </a:pP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 Summary</a:t>
            </a: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AAD7821-C1FD-82C5-63B9-EEA90A6675D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81192" y="1986898"/>
            <a:ext cx="11029615" cy="3584057"/>
          </a:xfrm>
        </p:spPr>
        <p:txBody>
          <a:bodyPr/>
          <a:lstStyle/>
          <a:p>
            <a:endParaRPr 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2666FD23-B71F-8AAE-889D-C97AAC85300F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8929567" y="619125"/>
            <a:ext cx="2820603" cy="1566357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1BECDEEB-A08F-6DD6-E459-C68BAE415D7F}"/>
              </a:ext>
            </a:extLst>
          </p:cNvPr>
          <p:cNvPicPr>
            <a:picLocks noChangeAspect="1"/>
          </p:cNvPicPr>
          <p:nvPr/>
        </p:nvPicPr>
        <p:blipFill>
          <a:blip r:embed="rId4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740958" y="1899878"/>
            <a:ext cx="5784476" cy="4958122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D52B75AD-D1C0-202E-A4E5-EFEBC6F4CC27}"/>
              </a:ext>
            </a:extLst>
          </p:cNvPr>
          <p:cNvSpPr/>
          <p:nvPr/>
        </p:nvSpPr>
        <p:spPr>
          <a:xfrm>
            <a:off x="2848538" y="5522259"/>
            <a:ext cx="5479677" cy="451808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D581B32D-541C-A168-9D4C-105E1E16DF99}"/>
              </a:ext>
            </a:extLst>
          </p:cNvPr>
          <p:cNvSpPr/>
          <p:nvPr/>
        </p:nvSpPr>
        <p:spPr>
          <a:xfrm>
            <a:off x="2848538" y="4911173"/>
            <a:ext cx="5479677" cy="451808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524599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13"/>
          <p:cNvSpPr/>
          <p:nvPr/>
        </p:nvSpPr>
        <p:spPr>
          <a:xfrm>
            <a:off x="433325" y="609600"/>
            <a:ext cx="11325300" cy="119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orbel"/>
              <a:buNone/>
            </a:pPr>
            <a:endParaRPr sz="1800" b="0" i="0" u="none" strike="noStrike" cap="none" dirty="0">
              <a:solidFill>
                <a:srgbClr val="FFFFFF"/>
              </a:solidFill>
              <a:latin typeface="Times New Roman" panose="02020603050405020304" pitchFamily="18" charset="0"/>
              <a:ea typeface="Corbel"/>
              <a:cs typeface="Times New Roman" panose="02020603050405020304" pitchFamily="18" charset="0"/>
              <a:sym typeface="Corbel"/>
            </a:endParaRPr>
          </a:p>
        </p:txBody>
      </p:sp>
      <p:sp>
        <p:nvSpPr>
          <p:cNvPr id="106" name="Google Shape;106;p13"/>
          <p:cNvSpPr txBox="1">
            <a:spLocks noGrp="1"/>
          </p:cNvSpPr>
          <p:nvPr>
            <p:ph type="sldNum" idx="12"/>
          </p:nvPr>
        </p:nvSpPr>
        <p:spPr>
          <a:xfrm>
            <a:off x="10558300" y="5956137"/>
            <a:ext cx="1461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13</a:t>
            </a:fld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7" name="Google Shape;107;p13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Gill Sans"/>
              <a:buNone/>
            </a:pP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General Model Structure</a:t>
            </a: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Text Placeholder 4"/>
          <p:cNvSpPr>
            <a:spLocks noGrp="1"/>
          </p:cNvSpPr>
          <p:nvPr>
            <p:ph type="body" idx="1"/>
          </p:nvPr>
        </p:nvSpPr>
        <p:spPr>
          <a:xfrm>
            <a:off x="581192" y="1892857"/>
            <a:ext cx="11325300" cy="4857568"/>
          </a:xfrm>
        </p:spPr>
        <p:txBody>
          <a:bodyPr>
            <a:normAutofit/>
          </a:bodyPr>
          <a:lstStyle/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Single region (AK-wide)</a:t>
            </a:r>
          </a:p>
          <a:p>
            <a:r>
              <a:rPr lang="en-US" sz="2000" dirty="0"/>
              <a:t>S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ex-specific (males and females) dynamics: </a:t>
            </a:r>
          </a:p>
          <a:p>
            <a:pPr lvl="1"/>
            <a:r>
              <a:rPr lang="en-US" sz="1400" dirty="0"/>
              <a:t>G</a:t>
            </a: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rowth (size-age transition) </a:t>
            </a:r>
          </a:p>
          <a:p>
            <a:pPr lvl="1"/>
            <a:r>
              <a:rPr lang="en-US" sz="1400" dirty="0"/>
              <a:t>S</a:t>
            </a: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electivity</a:t>
            </a:r>
          </a:p>
          <a:p>
            <a:pPr lvl="1"/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Natural Mortality (</a:t>
            </a:r>
            <a:r>
              <a:rPr lang="en-US" sz="14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</a:t>
            </a: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</a:p>
          <a:p>
            <a:pPr lvl="1"/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50:50 sex ratio</a:t>
            </a:r>
          </a:p>
          <a:p>
            <a:r>
              <a:rPr lang="en-US" sz="2000" dirty="0"/>
              <a:t>Start year 1960</a:t>
            </a:r>
          </a:p>
          <a:p>
            <a:r>
              <a:rPr lang="en-US" sz="2000" dirty="0"/>
              <a:t>A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ge structured (SCAA), projecting forward from initial ages and recruitment at age-2 </a:t>
            </a:r>
          </a:p>
          <a:p>
            <a:r>
              <a:rPr lang="en-US" sz="2000" dirty="0"/>
              <a:t>Assume yearly deviations from average recruitment</a:t>
            </a:r>
          </a:p>
          <a:p>
            <a:r>
              <a:rPr lang="en-US" sz="2000" dirty="0"/>
              <a:t>Each fleet (fishery and survey) has independent, sex-specific selectivity (and regional LLS selectivity for the FAA model)</a:t>
            </a:r>
          </a:p>
          <a:p>
            <a:r>
              <a:rPr lang="en-US" sz="2000" dirty="0"/>
              <a:t>Fishing mortality (</a:t>
            </a:r>
            <a:r>
              <a:rPr lang="en-US" sz="2000" i="1" dirty="0"/>
              <a:t>F</a:t>
            </a:r>
            <a:r>
              <a:rPr lang="en-US" sz="2000" dirty="0"/>
              <a:t>) estimated with yearly deviations for each fleet (fixed gear and trawl)</a:t>
            </a:r>
          </a:p>
          <a:p>
            <a:r>
              <a:rPr lang="en-US" sz="2000" dirty="0"/>
              <a:t>Catchability (</a:t>
            </a:r>
            <a:r>
              <a:rPr lang="en-US" sz="2000" i="1" dirty="0"/>
              <a:t>q</a:t>
            </a:r>
            <a:r>
              <a:rPr lang="en-US" sz="2000" dirty="0"/>
              <a:t>) parameters freely estimated for each index (NOAA and Japanese LLS) and regionally for the FAA model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A82C15BE-5590-FAB4-9676-D80E11B7F5EF}"/>
                  </a:ext>
                </a:extLst>
              </p:cNvPr>
              <p:cNvSpPr txBox="1"/>
              <p:nvPr/>
            </p:nvSpPr>
            <p:spPr>
              <a:xfrm>
                <a:off x="6096000" y="2398407"/>
                <a:ext cx="6096000" cy="86754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0" marR="0" algn="just">
                  <a:lnSpc>
                    <a:spcPct val="115000"/>
                  </a:lnSpc>
                  <a:spcAft>
                    <a:spcPts val="80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400" i="1" kern="0" smtClean="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en-US" sz="1400" i="1" kern="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𝑁</m:t>
                          </m:r>
                        </m:e>
                        <m:sub>
                          <m:r>
                            <a:rPr lang="en-US" sz="1400" i="1" kern="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𝑟</m:t>
                          </m:r>
                          <m:r>
                            <a:rPr lang="en-US" sz="1400" kern="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,</m:t>
                          </m:r>
                          <m:r>
                            <a:rPr lang="en-US" sz="1400" i="1" kern="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𝑦</m:t>
                          </m:r>
                          <m:r>
                            <a:rPr lang="en-US" sz="1400" kern="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+</m:t>
                          </m:r>
                          <m:r>
                            <a:rPr lang="en-US" sz="1400" i="1" kern="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1</m:t>
                          </m:r>
                          <m:r>
                            <a:rPr lang="en-US" sz="1400" kern="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,</m:t>
                          </m:r>
                          <m:r>
                            <a:rPr lang="en-US" sz="1400" i="1" kern="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𝑎</m:t>
                          </m:r>
                          <m:r>
                            <a:rPr lang="en-US" sz="1400" kern="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+</m:t>
                          </m:r>
                          <m:r>
                            <a:rPr lang="en-US" sz="1400" i="1" kern="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1</m:t>
                          </m:r>
                          <m:r>
                            <a:rPr lang="en-US" sz="1400" kern="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,</m:t>
                          </m:r>
                          <m:r>
                            <a:rPr lang="en-US" sz="1400" i="1" kern="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𝑠</m:t>
                          </m:r>
                        </m:sub>
                      </m:sSub>
                      <m:r>
                        <a:rPr lang="en-US" sz="1400" kern="0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1400" i="1" kern="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en-US" sz="1400" i="1" kern="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𝑁</m:t>
                          </m:r>
                        </m:e>
                        <m:sub>
                          <m:r>
                            <a:rPr lang="en-US" sz="1400" i="1" kern="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𝑟</m:t>
                          </m:r>
                          <m:r>
                            <a:rPr lang="en-US" sz="1400" kern="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,</m:t>
                          </m:r>
                          <m:r>
                            <a:rPr lang="en-US" sz="1400" i="1" kern="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𝑦</m:t>
                          </m:r>
                          <m:r>
                            <a:rPr lang="en-US" sz="1400" kern="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,</m:t>
                          </m:r>
                          <m:r>
                            <a:rPr lang="en-US" sz="1400" i="1" kern="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𝑎</m:t>
                          </m:r>
                          <m:r>
                            <a:rPr lang="en-US" sz="1400" kern="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,</m:t>
                          </m:r>
                          <m:r>
                            <a:rPr lang="en-US" sz="1400" i="1" kern="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𝑠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en-US" sz="1400" kern="0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exp</m:t>
                      </m:r>
                      <m:d>
                        <m:dPr>
                          <m:ctrlPr>
                            <a:rPr lang="en-US" sz="1400" i="1" kern="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dPr>
                        <m:e>
                          <m:r>
                            <a:rPr lang="en-US" sz="1400" kern="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US" sz="1400" i="1" kern="0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i="1" kern="0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𝑍</m:t>
                              </m:r>
                            </m:e>
                            <m:sub>
                              <m:r>
                                <a:rPr lang="en-US" sz="1400" i="1" kern="0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𝑟</m:t>
                              </m:r>
                              <m:r>
                                <a:rPr lang="en-US" sz="1400" kern="0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,</m:t>
                              </m:r>
                              <m:r>
                                <a:rPr lang="en-US" sz="1400" i="1" kern="0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𝑦</m:t>
                              </m:r>
                              <m:r>
                                <a:rPr lang="en-US" sz="1400" kern="0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,</m:t>
                              </m:r>
                              <m:r>
                                <a:rPr lang="en-US" sz="1400" i="1" kern="0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𝑎</m:t>
                              </m:r>
                              <m:r>
                                <a:rPr lang="en-US" sz="1400" kern="0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,</m:t>
                              </m:r>
                              <m:r>
                                <a:rPr lang="en-US" sz="1400" i="1" kern="0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𝑠</m:t>
                              </m:r>
                            </m:sub>
                          </m:sSub>
                        </m:e>
                      </m:d>
                      <m:r>
                        <a:rPr lang="en-US" sz="1400" kern="0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,</m:t>
                      </m:r>
                      <m:r>
                        <a:rPr lang="en-US" sz="1400" i="1" kern="0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 </m:t>
                      </m:r>
                      <m:r>
                        <m:rPr>
                          <m:nor/>
                        </m:rPr>
                        <a:rPr lang="en-US" sz="1400" kern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for</m:t>
                      </m:r>
                      <m:r>
                        <m:rPr>
                          <m:nor/>
                        </m:rPr>
                        <a:rPr lang="en-US" sz="1400" kern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 </m:t>
                      </m:r>
                      <m:r>
                        <a:rPr lang="en-US" sz="1400" i="1" kern="0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2</m:t>
                      </m:r>
                      <m:r>
                        <a:rPr lang="en-US" sz="1400" kern="0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≤</m:t>
                      </m:r>
                      <m:r>
                        <a:rPr lang="en-US" sz="1400" i="1" kern="0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𝑎</m:t>
                      </m:r>
                      <m:r>
                        <a:rPr lang="en-US" sz="1400" kern="0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&lt;</m:t>
                      </m:r>
                      <m:sSub>
                        <m:sSubPr>
                          <m:ctrlPr>
                            <a:rPr lang="en-US" sz="1400" i="1" kern="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en-US" sz="1400" i="1" kern="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en-US" sz="1400" kern="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+</m:t>
                          </m:r>
                        </m:sub>
                      </m:sSub>
                    </m:oMath>
                  </m:oMathPara>
                </a14:m>
                <a:endParaRPr lang="en-US" sz="1400" kern="100" dirty="0">
                  <a:effectLst/>
                  <a:latin typeface="Aptos"/>
                  <a:ea typeface="Aptos"/>
                  <a:cs typeface="Times New Roman" panose="02020603050405020304" pitchFamily="18" charset="0"/>
                </a:endParaRPr>
              </a:p>
              <a:p>
                <a:pPr marL="0" marR="0" algn="just">
                  <a:lnSpc>
                    <a:spcPct val="115000"/>
                  </a:lnSpc>
                  <a:spcAft>
                    <a:spcPts val="80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400" i="1" kern="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en-US" sz="1400" i="1" kern="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𝑁</m:t>
                          </m:r>
                        </m:e>
                        <m:sub>
                          <m:r>
                            <a:rPr lang="en-US" sz="1400" i="1" kern="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𝑟</m:t>
                          </m:r>
                          <m:r>
                            <a:rPr lang="en-US" sz="1400" kern="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,</m:t>
                          </m:r>
                          <m:r>
                            <a:rPr lang="en-US" sz="1400" i="1" kern="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𝑦</m:t>
                          </m:r>
                          <m:r>
                            <a:rPr lang="en-US" sz="1400" kern="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+1,</m:t>
                          </m:r>
                          <m:r>
                            <a:rPr lang="en-US" sz="1400" i="1" kern="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𝑎</m:t>
                          </m:r>
                          <m:r>
                            <a:rPr lang="en-US" sz="1400" kern="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,</m:t>
                          </m:r>
                          <m:r>
                            <a:rPr lang="en-US" sz="1400" i="1" kern="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𝑠</m:t>
                          </m:r>
                        </m:sub>
                      </m:sSub>
                      <m:r>
                        <a:rPr lang="en-US" sz="1400" kern="0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1400" i="1" kern="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en-US" sz="1400" i="1" kern="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𝑁</m:t>
                          </m:r>
                        </m:e>
                        <m:sub>
                          <m:r>
                            <a:rPr lang="en-US" sz="1400" i="1" kern="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𝑟</m:t>
                          </m:r>
                          <m:r>
                            <a:rPr lang="en-US" sz="1400" kern="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,</m:t>
                          </m:r>
                          <m:r>
                            <a:rPr lang="en-US" sz="1400" i="1" kern="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𝑦</m:t>
                          </m:r>
                          <m:r>
                            <a:rPr lang="en-US" sz="1400" kern="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,</m:t>
                          </m:r>
                          <m:r>
                            <a:rPr lang="en-US" sz="1400" i="1" kern="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𝑎</m:t>
                          </m:r>
                          <m:r>
                            <a:rPr lang="en-US" sz="1400" kern="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−1,</m:t>
                          </m:r>
                          <m:r>
                            <a:rPr lang="en-US" sz="1400" i="1" kern="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𝑠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en-US" sz="1400" kern="0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exp</m:t>
                      </m:r>
                      <m:d>
                        <m:dPr>
                          <m:ctrlPr>
                            <a:rPr lang="en-US" sz="1400" i="1" kern="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dPr>
                        <m:e>
                          <m:r>
                            <a:rPr lang="en-US" sz="1400" kern="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US" sz="1400" i="1" kern="0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i="1" kern="0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𝑍</m:t>
                              </m:r>
                            </m:e>
                            <m:sub>
                              <m:r>
                                <a:rPr lang="en-US" sz="1400" i="1" kern="0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𝑟</m:t>
                              </m:r>
                              <m:r>
                                <a:rPr lang="en-US" sz="1400" kern="0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,</m:t>
                              </m:r>
                              <m:r>
                                <a:rPr lang="en-US" sz="1400" i="1" kern="0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𝑦</m:t>
                              </m:r>
                              <m:r>
                                <a:rPr lang="en-US" sz="1400" kern="0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,</m:t>
                              </m:r>
                              <m:r>
                                <a:rPr lang="en-US" sz="1400" i="1" kern="0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𝑎</m:t>
                              </m:r>
                              <m:r>
                                <a:rPr lang="en-US" sz="1400" kern="0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−1,</m:t>
                              </m:r>
                              <m:r>
                                <a:rPr lang="en-US" sz="1400" i="1" kern="0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𝑠</m:t>
                              </m:r>
                            </m:sub>
                          </m:sSub>
                        </m:e>
                      </m:d>
                      <m:r>
                        <a:rPr lang="en-US" sz="1400" kern="0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sz="1400" i="1" kern="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en-US" sz="1400" i="1" kern="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𝑁</m:t>
                          </m:r>
                        </m:e>
                        <m:sub>
                          <m:r>
                            <a:rPr lang="en-US" sz="1400" i="1" kern="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𝑟</m:t>
                          </m:r>
                          <m:r>
                            <a:rPr lang="en-US" sz="1400" kern="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,</m:t>
                          </m:r>
                          <m:r>
                            <a:rPr lang="en-US" sz="1400" i="1" kern="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𝑦</m:t>
                          </m:r>
                          <m:r>
                            <a:rPr lang="en-US" sz="1400" kern="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,</m:t>
                          </m:r>
                          <m:r>
                            <a:rPr lang="en-US" sz="1400" i="1" kern="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𝑎</m:t>
                          </m:r>
                          <m:r>
                            <a:rPr lang="en-US" sz="1400" kern="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,</m:t>
                          </m:r>
                          <m:r>
                            <a:rPr lang="en-US" sz="1400" i="1" kern="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𝑠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en-US" sz="1400" kern="0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exp</m:t>
                      </m:r>
                      <m:d>
                        <m:dPr>
                          <m:ctrlPr>
                            <a:rPr lang="en-US" sz="1400" i="1" kern="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dPr>
                        <m:e>
                          <m:r>
                            <a:rPr lang="en-US" sz="1400" kern="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US" sz="1400" i="1" kern="0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i="1" kern="0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𝑍</m:t>
                              </m:r>
                            </m:e>
                            <m:sub>
                              <m:r>
                                <a:rPr lang="en-US" sz="1400" i="1" kern="0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𝑟</m:t>
                              </m:r>
                              <m:r>
                                <a:rPr lang="en-US" sz="1400" kern="0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,</m:t>
                              </m:r>
                              <m:r>
                                <a:rPr lang="en-US" sz="1400" i="1" kern="0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𝑦</m:t>
                              </m:r>
                              <m:r>
                                <a:rPr lang="en-US" sz="1400" kern="0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,</m:t>
                              </m:r>
                              <m:r>
                                <a:rPr lang="en-US" sz="1400" i="1" kern="0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𝑎</m:t>
                              </m:r>
                              <m:r>
                                <a:rPr lang="en-US" sz="1400" kern="0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,</m:t>
                              </m:r>
                              <m:r>
                                <a:rPr lang="en-US" sz="1400" i="1" kern="0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𝑠</m:t>
                              </m:r>
                            </m:sub>
                          </m:sSub>
                        </m:e>
                      </m:d>
                      <m:r>
                        <a:rPr lang="en-US" sz="1400" kern="0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, </m:t>
                      </m:r>
                      <m:r>
                        <m:rPr>
                          <m:nor/>
                        </m:rPr>
                        <a:rPr lang="en-US" sz="1400" kern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for</m:t>
                      </m:r>
                      <m:r>
                        <m:rPr>
                          <m:nor/>
                        </m:rPr>
                        <a:rPr lang="en-US" sz="1400" kern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 </m:t>
                      </m:r>
                      <m:r>
                        <a:rPr lang="en-US" sz="1400" i="1" kern="0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𝑎</m:t>
                      </m:r>
                      <m:r>
                        <a:rPr lang="en-US" sz="1400" kern="0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1400" i="1" kern="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en-US" sz="1400" i="1" kern="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en-US" sz="1400" kern="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+</m:t>
                          </m:r>
                        </m:sub>
                      </m:sSub>
                    </m:oMath>
                  </m:oMathPara>
                </a14:m>
                <a:endParaRPr lang="en-US" sz="1400" kern="100" dirty="0">
                  <a:effectLst/>
                  <a:latin typeface="Aptos"/>
                  <a:ea typeface="Aptos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A82C15BE-5590-FAB4-9676-D80E11B7F5E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96000" y="2398407"/>
                <a:ext cx="6096000" cy="867545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6FF1F889-AAF0-07A6-6495-06650FDDAC11}"/>
                  </a:ext>
                </a:extLst>
              </p:cNvPr>
              <p:cNvSpPr txBox="1"/>
              <p:nvPr/>
            </p:nvSpPr>
            <p:spPr>
              <a:xfrm>
                <a:off x="6024282" y="1807485"/>
                <a:ext cx="6096000" cy="57637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𝑁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𝑟</m:t>
                          </m:r>
                          <m:r>
                            <a:rPr lang="en-US" i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𝑦</m:t>
                          </m:r>
                          <m:r>
                            <a:rPr lang="en-US" i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en-US" i="0">
                              <a:latin typeface="Cambria Math" panose="02040503050406030204" pitchFamily="18" charset="0"/>
                            </a:rPr>
                            <m:t>=2,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</m:sSub>
                      <m:r>
                        <a:rPr lang="en-US" i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𝜇</m:t>
                          </m:r>
                        </m:e>
                        <m:sup>
                          <m:r>
                            <m:rPr>
                              <m:nor/>
                            </m:rPr>
                            <a:rPr lang="en-US" b="0" i="1">
                              <a:latin typeface="Cambria Math" panose="02040503050406030204" pitchFamily="18" charset="0"/>
                            </a:rPr>
                            <m:t>Rec</m:t>
                          </m:r>
                        </m:sup>
                      </m:sSup>
                      <m:r>
                        <m:rPr>
                          <m:sty m:val="p"/>
                        </m:rPr>
                        <a:rPr lang="en-US" b="0" i="0">
                          <a:latin typeface="Cambria Math" panose="02040503050406030204" pitchFamily="18" charset="0"/>
                        </a:rPr>
                        <m:t>exp</m:t>
                      </m:r>
                      <m:d>
                        <m:dPr>
                          <m:ctrlPr>
                            <a:rPr lang="en-US" b="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Sup>
                            <m:sSubSupPr>
                              <m:ctrlPr>
                                <a:rPr lang="en-US" b="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b="0" i="1">
                                  <a:latin typeface="Cambria Math" panose="02040503050406030204" pitchFamily="18" charset="0"/>
                                </a:rPr>
                                <m:t>𝜖</m:t>
                              </m:r>
                            </m:e>
                            <m:sub>
                              <m:r>
                                <a:rPr lang="en-US" b="0" i="1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  <m:r>
                                <a:rPr lang="en-US" b="0" i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b="0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sub>
                            <m:sup>
                              <m:r>
                                <m:rPr>
                                  <m:nor/>
                                </m:rPr>
                                <a:rPr lang="en-US" b="0" i="1">
                                  <a:latin typeface="Cambria Math" panose="02040503050406030204" pitchFamily="18" charset="0"/>
                                </a:rPr>
                                <m:t>Rec</m:t>
                              </m:r>
                            </m:sup>
                          </m:sSubSup>
                          <m:r>
                            <a:rPr lang="en-US" b="0" i="0">
                              <a:latin typeface="Cambria Math" panose="02040503050406030204" pitchFamily="18" charset="0"/>
                            </a:rPr>
                            <m:t>−</m:t>
                          </m:r>
                          <m:f>
                            <m:fPr>
                              <m:ctrlPr>
                                <a:rPr lang="en-US" b="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Sup>
                                <m:sSubSupPr>
                                  <m:ctrlPr>
                                    <a:rPr lang="en-US" b="0" i="1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b="0" i="1">
                                      <a:latin typeface="Cambria Math" panose="02040503050406030204" pitchFamily="18" charset="0"/>
                                    </a:rPr>
                                    <m:t>𝜎</m:t>
                                  </m:r>
                                </m:e>
                                <m:sub>
                                  <m:r>
                                    <m:rPr>
                                      <m:nor/>
                                    </m:rPr>
                                    <a:rPr lang="en-US" b="0" i="1">
                                      <a:latin typeface="Cambria Math" panose="02040503050406030204" pitchFamily="18" charset="0"/>
                                    </a:rPr>
                                    <m:t>Rec</m:t>
                                  </m:r>
                                </m:sub>
                                <m:sup>
                                  <m:r>
                                    <a:rPr lang="en-US" b="0" i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bSup>
                            </m:num>
                            <m:den>
                              <m:r>
                                <a:rPr lang="en-US" b="0" i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den>
                          </m:f>
                          <m:sSub>
                            <m:sSubPr>
                              <m:ctrlPr>
                                <a:rPr lang="en-US" b="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e>
                            <m:sub>
                              <m:r>
                                <a:rPr lang="en-US" b="0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sub>
                          </m:sSub>
                        </m:e>
                      </m:d>
                      <m:sSub>
                        <m:sSubPr>
                          <m:ctrlPr>
                            <a:rPr lang="en-US" b="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>
                              <a:latin typeface="Cambria Math" panose="02040503050406030204" pitchFamily="18" charset="0"/>
                            </a:rPr>
                            <m:t>𝜓</m:t>
                          </m:r>
                        </m:e>
                        <m:sub>
                          <m:r>
                            <a:rPr lang="en-US" b="0" i="1"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</m:sSub>
                      <m:sSub>
                        <m:sSubPr>
                          <m:ctrlPr>
                            <a:rPr lang="en-US" b="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>
                              <a:latin typeface="Cambria Math" panose="02040503050406030204" pitchFamily="18" charset="0"/>
                            </a:rPr>
                            <m:t>𝜁</m:t>
                          </m:r>
                        </m:e>
                        <m:sub>
                          <m:r>
                            <a:rPr lang="en-US" b="0" i="1">
                              <a:latin typeface="Cambria Math" panose="02040503050406030204" pitchFamily="18" charset="0"/>
                            </a:rPr>
                            <m:t>𝑟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6FF1F889-AAF0-07A6-6495-06650FDDAC1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24282" y="1807485"/>
                <a:ext cx="6096000" cy="576376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F46F8E7B-7189-6B99-C2F4-0B5097638847}"/>
                  </a:ext>
                </a:extLst>
              </p:cNvPr>
              <p:cNvSpPr txBox="1"/>
              <p:nvPr/>
            </p:nvSpPr>
            <p:spPr>
              <a:xfrm>
                <a:off x="6096000" y="3079373"/>
                <a:ext cx="6096000" cy="63947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𝑍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𝑟</m:t>
                          </m:r>
                          <m:r>
                            <a:rPr lang="en-US" i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𝑦</m:t>
                          </m:r>
                          <m:r>
                            <a:rPr lang="en-US" i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en-US" i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</m:sSub>
                      <m:r>
                        <a:rPr lang="en-US" i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en-US" b="0" i="1">
                              <a:latin typeface="Cambria Math" panose="02040503050406030204" pitchFamily="18" charset="0"/>
                            </a:rPr>
                            <m:t>Natmort</m:t>
                          </m:r>
                        </m:e>
                        <m:sub>
                          <m:r>
                            <a:rPr lang="en-US" b="0" i="1">
                              <a:latin typeface="Cambria Math" panose="02040503050406030204" pitchFamily="18" charset="0"/>
                            </a:rPr>
                            <m:t>𝑟</m:t>
                          </m:r>
                          <m:r>
                            <a:rPr lang="en-US" b="0" i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>
                              <a:latin typeface="Cambria Math" panose="02040503050406030204" pitchFamily="18" charset="0"/>
                            </a:rPr>
                            <m:t>𝑦</m:t>
                          </m:r>
                          <m:r>
                            <a:rPr lang="en-US" b="0" i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en-US" b="0" i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</m:sSub>
                      <m:r>
                        <a:rPr lang="en-US" b="0" i="0">
                          <a:latin typeface="Cambria Math" panose="02040503050406030204" pitchFamily="18" charset="0"/>
                        </a:rPr>
                        <m:t>+</m:t>
                      </m:r>
                      <m:nary>
                        <m:naryPr>
                          <m:chr m:val="∑"/>
                          <m:limLoc m:val="undOvr"/>
                          <m:supHide m:val="on"/>
                          <m:ctrlPr>
                            <a:rPr lang="en-US" b="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b="0" i="1">
                              <a:latin typeface="Cambria Math" panose="02040503050406030204" pitchFamily="18" charset="0"/>
                            </a:rPr>
                            <m:t>𝑓</m:t>
                          </m:r>
                        </m:sub>
                        <m:sup/>
                        <m:e>
                          <m:sSubSup>
                            <m:sSubSupPr>
                              <m:ctrlPr>
                                <a:rPr lang="en-US" b="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m:rPr>
                                  <m:nor/>
                                </m:rPr>
                                <a:rPr lang="en-US" b="0" i="1">
                                  <a:latin typeface="Cambria Math" panose="02040503050406030204" pitchFamily="18" charset="0"/>
                                </a:rPr>
                                <m:t>Sel</m:t>
                              </m:r>
                            </m:e>
                            <m:sub>
                              <m:r>
                                <a:rPr lang="en-US" b="0" i="1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  <m:r>
                                <a:rPr lang="en-US" b="0" i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b="0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  <m:r>
                                <a:rPr lang="en-US" b="0" i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b="0" i="1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  <m:r>
                                <a:rPr lang="en-US" b="0" i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b="0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  <m:r>
                                <a:rPr lang="en-US" b="0" i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b="0" i="1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sub>
                            <m:sup>
                              <m:r>
                                <m:rPr>
                                  <m:nor/>
                                </m:rPr>
                                <a:rPr lang="en-US" b="0" i="1">
                                  <a:latin typeface="Cambria Math" panose="02040503050406030204" pitchFamily="18" charset="0"/>
                                </a:rPr>
                                <m:t>Fsh</m:t>
                              </m:r>
                            </m:sup>
                          </m:sSubSup>
                        </m:e>
                      </m:nary>
                      <m:sSub>
                        <m:sSubPr>
                          <m:ctrlPr>
                            <a:rPr lang="en-US" b="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en-US" b="0" i="1">
                              <a:latin typeface="Cambria Math" panose="02040503050406030204" pitchFamily="18" charset="0"/>
                            </a:rPr>
                            <m:t>Fmort</m:t>
                          </m:r>
                        </m:e>
                        <m:sub>
                          <m:r>
                            <a:rPr lang="en-US" b="0" i="1">
                              <a:latin typeface="Cambria Math" panose="02040503050406030204" pitchFamily="18" charset="0"/>
                            </a:rPr>
                            <m:t>𝑟</m:t>
                          </m:r>
                          <m:r>
                            <a:rPr lang="en-US" b="0" i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>
                              <a:latin typeface="Cambria Math" panose="02040503050406030204" pitchFamily="18" charset="0"/>
                            </a:rPr>
                            <m:t>𝑦</m:t>
                          </m:r>
                          <m:r>
                            <a:rPr lang="en-US" b="0" i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>
                              <a:latin typeface="Cambria Math" panose="02040503050406030204" pitchFamily="18" charset="0"/>
                            </a:rPr>
                            <m:t>𝑓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F46F8E7B-7189-6B99-C2F4-0B509763884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96000" y="3079373"/>
                <a:ext cx="6096000" cy="639470"/>
              </a:xfrm>
              <a:prstGeom prst="rect">
                <a:avLst/>
              </a:prstGeom>
              <a:blipFill>
                <a:blip r:embed="rId5"/>
                <a:stretch>
                  <a:fillRect t="-111429" b="-15619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D9DA72B9-B811-4F9C-303B-05F15FC26321}"/>
                  </a:ext>
                </a:extLst>
              </p:cNvPr>
              <p:cNvSpPr txBox="1"/>
              <p:nvPr/>
            </p:nvSpPr>
            <p:spPr>
              <a:xfrm>
                <a:off x="6338048" y="3608217"/>
                <a:ext cx="6096000" cy="41472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en-US" b="0"/>
                            <m:t>Fmort</m:t>
                          </m:r>
                        </m:e>
                        <m:sub>
                          <m:r>
                            <a:rPr lang="en-US" b="0" i="1">
                              <a:latin typeface="Cambria Math" panose="02040503050406030204" pitchFamily="18" charset="0"/>
                            </a:rPr>
                            <m:t>𝑟</m:t>
                          </m:r>
                          <m:r>
                            <a:rPr lang="en-US" b="0" i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>
                              <a:latin typeface="Cambria Math" panose="02040503050406030204" pitchFamily="18" charset="0"/>
                            </a:rPr>
                            <m:t>𝑦</m:t>
                          </m:r>
                          <m:r>
                            <a:rPr lang="en-US" b="0" i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>
                              <a:latin typeface="Cambria Math" panose="02040503050406030204" pitchFamily="18" charset="0"/>
                            </a:rPr>
                            <m:t>𝑓</m:t>
                          </m:r>
                        </m:sub>
                      </m:sSub>
                      <m:r>
                        <a:rPr lang="en-US" b="0" i="0">
                          <a:latin typeface="Cambria Math" panose="02040503050406030204" pitchFamily="18" charset="0"/>
                        </a:rPr>
                        <m:t>=</m:t>
                      </m:r>
                      <m:sSubSup>
                        <m:sSubSupPr>
                          <m:ctrlPr>
                            <a:rPr lang="en-US" b="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b="0" i="1">
                              <a:latin typeface="Cambria Math" panose="02040503050406030204" pitchFamily="18" charset="0"/>
                            </a:rPr>
                            <m:t>𝜇</m:t>
                          </m:r>
                        </m:e>
                        <m:sub>
                          <m:r>
                            <a:rPr lang="en-US" b="0" i="1">
                              <a:latin typeface="Cambria Math" panose="02040503050406030204" pitchFamily="18" charset="0"/>
                            </a:rPr>
                            <m:t>𝑟</m:t>
                          </m:r>
                          <m:r>
                            <a:rPr lang="en-US" b="0" i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>
                              <a:latin typeface="Cambria Math" panose="02040503050406030204" pitchFamily="18" charset="0"/>
                            </a:rPr>
                            <m:t>𝑓</m:t>
                          </m:r>
                        </m:sub>
                        <m:sup>
                          <m:r>
                            <m:rPr>
                              <m:nor/>
                            </m:rPr>
                            <a:rPr lang="en-US" b="0" i="1">
                              <a:latin typeface="Cambria Math" panose="02040503050406030204" pitchFamily="18" charset="0"/>
                            </a:rPr>
                            <m:t>Fsh</m:t>
                          </m:r>
                        </m:sup>
                      </m:sSubSup>
                      <m:r>
                        <m:rPr>
                          <m:nor/>
                        </m:rPr>
                        <a:rPr lang="en-US" b="0" i="1">
                          <a:latin typeface="Cambria Math" panose="02040503050406030204" pitchFamily="18" charset="0"/>
                        </a:rPr>
                        <m:t>exp</m:t>
                      </m:r>
                      <m:d>
                        <m:dPr>
                          <m:ctrlPr>
                            <a:rPr lang="en-US" b="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Sup>
                            <m:sSubSupPr>
                              <m:ctrlPr>
                                <a:rPr lang="en-US" b="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b="0" i="1">
                                  <a:latin typeface="Cambria Math" panose="02040503050406030204" pitchFamily="18" charset="0"/>
                                </a:rPr>
                                <m:t>𝜖</m:t>
                              </m:r>
                            </m:e>
                            <m:sub>
                              <m:r>
                                <a:rPr lang="en-US" b="0" i="1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  <m:r>
                                <a:rPr lang="en-US" b="0" i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b="0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  <m:r>
                                <a:rPr lang="en-US" b="0" i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b="0" i="1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sub>
                            <m:sup>
                              <m:r>
                                <m:rPr>
                                  <m:nor/>
                                </m:rPr>
                                <a:rPr lang="en-US" b="0" i="1">
                                  <a:latin typeface="Cambria Math" panose="02040503050406030204" pitchFamily="18" charset="0"/>
                                </a:rPr>
                                <m:t>Fsh</m:t>
                              </m:r>
                            </m:sup>
                          </m:sSubSup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D9DA72B9-B811-4F9C-303B-05F15FC2632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38048" y="3608217"/>
                <a:ext cx="6096000" cy="414729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9965246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4">
          <a:extLst>
            <a:ext uri="{FF2B5EF4-FFF2-40B4-BE49-F238E27FC236}">
              <a16:creationId xmlns:a16="http://schemas.microsoft.com/office/drawing/2014/main" id="{C94163C7-24C4-0A5C-33C5-3C0E2F5BE6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13">
            <a:extLst>
              <a:ext uri="{FF2B5EF4-FFF2-40B4-BE49-F238E27FC236}">
                <a16:creationId xmlns:a16="http://schemas.microsoft.com/office/drawing/2014/main" id="{068C4A83-B3EC-27F9-8B91-F2FCB30ED46A}"/>
              </a:ext>
            </a:extLst>
          </p:cNvPr>
          <p:cNvSpPr/>
          <p:nvPr/>
        </p:nvSpPr>
        <p:spPr>
          <a:xfrm>
            <a:off x="433325" y="609600"/>
            <a:ext cx="11325300" cy="119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orbel"/>
              <a:buNone/>
            </a:pPr>
            <a:endParaRPr sz="1800" b="0" i="0" u="none" strike="noStrike" cap="none" dirty="0">
              <a:solidFill>
                <a:srgbClr val="FFFFFF"/>
              </a:solidFill>
              <a:latin typeface="Times New Roman" panose="02020603050405020304" pitchFamily="18" charset="0"/>
              <a:ea typeface="Corbel"/>
              <a:cs typeface="Times New Roman" panose="02020603050405020304" pitchFamily="18" charset="0"/>
              <a:sym typeface="Corbel"/>
            </a:endParaRPr>
          </a:p>
        </p:txBody>
      </p:sp>
      <p:sp>
        <p:nvSpPr>
          <p:cNvPr id="106" name="Google Shape;106;p13">
            <a:extLst>
              <a:ext uri="{FF2B5EF4-FFF2-40B4-BE49-F238E27FC236}">
                <a16:creationId xmlns:a16="http://schemas.microsoft.com/office/drawing/2014/main" id="{81FD4E57-16BA-5ADF-A7D9-2EC2A2930705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0558300" y="5956137"/>
            <a:ext cx="1461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14</a:t>
            </a:fld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7" name="Google Shape;107;p13">
            <a:extLst>
              <a:ext uri="{FF2B5EF4-FFF2-40B4-BE49-F238E27FC236}">
                <a16:creationId xmlns:a16="http://schemas.microsoft.com/office/drawing/2014/main" id="{2374FE24-C446-1516-0D36-1853FE14CEE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Gill Sans"/>
              <a:buNone/>
            </a:pP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Biology, Recruitment, and Initial Age Structure</a:t>
            </a: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6468C8F-0272-226C-B23B-07345D80034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81192" y="1892856"/>
            <a:ext cx="6563679" cy="5009237"/>
          </a:xfrm>
        </p:spPr>
        <p:txBody>
          <a:bodyPr>
            <a:normAutofit lnSpcReduction="10000"/>
          </a:bodyPr>
          <a:lstStyle/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Biological parameters input:</a:t>
            </a:r>
          </a:p>
          <a:p>
            <a:pPr lvl="1"/>
            <a:r>
              <a:rPr lang="en-US" sz="1400" dirty="0"/>
              <a:t>Size-age transition matrices (2 blocks pre- and post-1996)</a:t>
            </a:r>
          </a:p>
          <a:p>
            <a:pPr lvl="1"/>
            <a:r>
              <a:rPr lang="en-US" sz="1400" dirty="0"/>
              <a:t>Ageing error matrix</a:t>
            </a:r>
          </a:p>
          <a:p>
            <a:pPr lvl="1"/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Weight-at-age</a:t>
            </a:r>
          </a:p>
          <a:p>
            <a:pPr lvl="1"/>
            <a:r>
              <a:rPr lang="en-US" sz="1400" dirty="0"/>
              <a:t>Maturity-at-age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2000" dirty="0"/>
              <a:t>Natural mortality ‘estimated’ with a prior </a:t>
            </a:r>
            <a:r>
              <a:rPr lang="en-US" sz="2000" i="1" dirty="0"/>
              <a:t>~N</a:t>
            </a:r>
            <a:r>
              <a:rPr lang="en-US" sz="2000" dirty="0"/>
              <a:t>(ln(0.085), 0.1</a:t>
            </a:r>
            <a:r>
              <a:rPr lang="en-US" sz="2000" baseline="30000" dirty="0"/>
              <a:t>2</a:t>
            </a:r>
            <a:r>
              <a:rPr lang="en-US" sz="2000" dirty="0"/>
              <a:t>)</a:t>
            </a:r>
          </a:p>
          <a:p>
            <a:r>
              <a:rPr lang="en-US" sz="2000" dirty="0"/>
              <a:t>Equilibrium age structure with cohort deviations for each initial age</a:t>
            </a:r>
          </a:p>
          <a:p>
            <a:pPr lvl="1"/>
            <a:r>
              <a:rPr lang="en-US" sz="1400" dirty="0"/>
              <a:t>Initial exponential decay assumes 10% of mean fixed gear </a:t>
            </a:r>
            <a:r>
              <a:rPr lang="en-US" sz="1400" i="1" dirty="0"/>
              <a:t>F</a:t>
            </a:r>
          </a:p>
          <a:p>
            <a:pPr lvl="1"/>
            <a:r>
              <a:rPr lang="en-US" sz="1400" dirty="0"/>
              <a:t>Age-specific deviations applied to equilibrium age structure</a:t>
            </a:r>
          </a:p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Recruitment occurs at age</a:t>
            </a:r>
            <a:r>
              <a:rPr lang="en-US" sz="2000" dirty="0"/>
              <a:t>-2 based on average recruitment with deviations</a:t>
            </a:r>
          </a:p>
          <a:p>
            <a:pPr lvl="1"/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Lognormal bias correction integrated (Methot and Taylor, 2011)</a:t>
            </a:r>
          </a:p>
          <a:p>
            <a:pPr lvl="1"/>
            <a:r>
              <a:rPr lang="en-US" sz="1400" dirty="0"/>
              <a:t>No discernible stock-recruit relationship</a:t>
            </a:r>
          </a:p>
          <a:p>
            <a:pPr lvl="1"/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High </a:t>
            </a:r>
            <a:r>
              <a:rPr lang="el-GR" sz="14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σ</a:t>
            </a:r>
            <a:r>
              <a:rPr lang="en-US" sz="1400" i="1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 </a:t>
            </a:r>
            <a:r>
              <a:rPr lang="en-US" sz="1400" dirty="0"/>
              <a:t>(0.9) to allow adequate estimation of spasmodic recruitment events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EEBDCED-0E11-C578-7921-507ADCD0DB2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74346" y="2043952"/>
            <a:ext cx="4645854" cy="46389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0077933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4">
          <a:extLst>
            <a:ext uri="{FF2B5EF4-FFF2-40B4-BE49-F238E27FC236}">
              <a16:creationId xmlns:a16="http://schemas.microsoft.com/office/drawing/2014/main" id="{A6832DF5-FA1A-CB78-C356-1BC16F6578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13">
            <a:extLst>
              <a:ext uri="{FF2B5EF4-FFF2-40B4-BE49-F238E27FC236}">
                <a16:creationId xmlns:a16="http://schemas.microsoft.com/office/drawing/2014/main" id="{34E42C6C-6988-2EDD-0E3C-434FA6518E7F}"/>
              </a:ext>
            </a:extLst>
          </p:cNvPr>
          <p:cNvSpPr/>
          <p:nvPr/>
        </p:nvSpPr>
        <p:spPr>
          <a:xfrm>
            <a:off x="433325" y="609600"/>
            <a:ext cx="11325300" cy="119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orbel"/>
              <a:buNone/>
            </a:pPr>
            <a:endParaRPr sz="1800" b="0" i="0" u="none" strike="noStrike" cap="none" dirty="0">
              <a:solidFill>
                <a:srgbClr val="FFFFFF"/>
              </a:solidFill>
              <a:latin typeface="Times New Roman" panose="02020603050405020304" pitchFamily="18" charset="0"/>
              <a:ea typeface="Corbel"/>
              <a:cs typeface="Times New Roman" panose="02020603050405020304" pitchFamily="18" charset="0"/>
              <a:sym typeface="Corbel"/>
            </a:endParaRPr>
          </a:p>
        </p:txBody>
      </p:sp>
      <p:sp>
        <p:nvSpPr>
          <p:cNvPr id="106" name="Google Shape;106;p13">
            <a:extLst>
              <a:ext uri="{FF2B5EF4-FFF2-40B4-BE49-F238E27FC236}">
                <a16:creationId xmlns:a16="http://schemas.microsoft.com/office/drawing/2014/main" id="{FF4F8C5B-93AF-C1B4-323D-2F9A0AA0AB68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0558300" y="5956137"/>
            <a:ext cx="1461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15</a:t>
            </a:fld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7" name="Google Shape;107;p13">
            <a:extLst>
              <a:ext uri="{FF2B5EF4-FFF2-40B4-BE49-F238E27FC236}">
                <a16:creationId xmlns:a16="http://schemas.microsoft.com/office/drawing/2014/main" id="{D308FF25-1152-2EBB-9BB3-B081F61EC3B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Gill Sans"/>
              <a:buNone/>
            </a:pP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Fishing Dynamics</a:t>
            </a: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2271F0D-AA7A-08B7-D522-998ED266E41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81192" y="1927692"/>
            <a:ext cx="5837537" cy="4786873"/>
          </a:xfrm>
        </p:spPr>
        <p:txBody>
          <a:bodyPr>
            <a:normAutofit/>
          </a:bodyPr>
          <a:lstStyle/>
          <a:p>
            <a:r>
              <a:rPr lang="en-US" sz="2000" dirty="0"/>
              <a:t>Two fleets: fixed gear and trawl</a:t>
            </a:r>
          </a:p>
          <a:p>
            <a:r>
              <a:rPr lang="en-US" sz="2000" dirty="0"/>
              <a:t>Fishing mortality estimated with yearly deviations for each fleet</a:t>
            </a:r>
          </a:p>
          <a:p>
            <a:r>
              <a:rPr lang="en-US" sz="2000" dirty="0"/>
              <a:t>Logistic selectivity assumed for both fleets</a:t>
            </a:r>
          </a:p>
          <a:p>
            <a:pPr lvl="1"/>
            <a:r>
              <a:rPr lang="en-US" dirty="0"/>
              <a:t>Two parameters (i.e., age at 50% selectivity, </a:t>
            </a:r>
            <a:r>
              <a:rPr lang="en-US" i="1" dirty="0"/>
              <a:t>a</a:t>
            </a:r>
            <a:r>
              <a:rPr lang="en-US" i="1" baseline="-25000" dirty="0"/>
              <a:t>50%</a:t>
            </a:r>
            <a:r>
              <a:rPr lang="en-US" dirty="0"/>
              <a:t>, and the slope of the curve, </a:t>
            </a:r>
            <a:r>
              <a:rPr lang="en-US" i="1" dirty="0"/>
              <a:t>k</a:t>
            </a:r>
            <a:r>
              <a:rPr lang="en-US" dirty="0"/>
              <a:t>) for each sex/fleet/ time block</a:t>
            </a:r>
          </a:p>
          <a:p>
            <a:pPr lvl="1"/>
            <a:r>
              <a:rPr lang="en-US" dirty="0"/>
              <a:t>Estimated with loose priors </a:t>
            </a:r>
            <a:r>
              <a:rPr lang="en-US" i="1" dirty="0"/>
              <a:t>~N</a:t>
            </a:r>
            <a:r>
              <a:rPr lang="en-US" dirty="0"/>
              <a:t>(ln(4),1.5</a:t>
            </a:r>
            <a:r>
              <a:rPr lang="en-US" baseline="30000" dirty="0"/>
              <a:t>2</a:t>
            </a:r>
            <a:r>
              <a:rPr lang="en-US" dirty="0"/>
              <a:t>)</a:t>
            </a:r>
          </a:p>
          <a:p>
            <a:r>
              <a:rPr lang="en-US" sz="2000" dirty="0"/>
              <a:t>Two time blocks assumed for the fixed gear fleet (single time block for trawl)</a:t>
            </a:r>
          </a:p>
          <a:p>
            <a:pPr lvl="1"/>
            <a:r>
              <a:rPr lang="en-US" sz="1400" dirty="0"/>
              <a:t>1960 – 2015, 2016+</a:t>
            </a:r>
          </a:p>
          <a:p>
            <a:pPr lvl="1"/>
            <a:r>
              <a:rPr lang="en-US" sz="1400" dirty="0"/>
              <a:t>Corresponds to transition to pot gear (Cheng et al., 2025)</a:t>
            </a:r>
          </a:p>
          <a:p>
            <a:r>
              <a:rPr lang="en-US" sz="2000" dirty="0"/>
              <a:t>Age compositions fit for fixed gear fleet and length compositions fit for the trawl fleet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E8773D02-8EC8-6700-C472-F58BEDDAAE2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52463" y="1892856"/>
            <a:ext cx="4564131" cy="3911681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D63DB345-937B-ACF8-C683-DC329F0824F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78298" y="5804537"/>
            <a:ext cx="4680327" cy="10032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3170311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4">
          <a:extLst>
            <a:ext uri="{FF2B5EF4-FFF2-40B4-BE49-F238E27FC236}">
              <a16:creationId xmlns:a16="http://schemas.microsoft.com/office/drawing/2014/main" id="{3C5ADD47-FB95-22F4-C874-746AA0AF9C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13">
            <a:extLst>
              <a:ext uri="{FF2B5EF4-FFF2-40B4-BE49-F238E27FC236}">
                <a16:creationId xmlns:a16="http://schemas.microsoft.com/office/drawing/2014/main" id="{80202E6D-48A3-D5CF-636E-AC61A31F2F02}"/>
              </a:ext>
            </a:extLst>
          </p:cNvPr>
          <p:cNvSpPr/>
          <p:nvPr/>
        </p:nvSpPr>
        <p:spPr>
          <a:xfrm>
            <a:off x="433325" y="609600"/>
            <a:ext cx="11325300" cy="119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orbel"/>
              <a:buNone/>
            </a:pPr>
            <a:endParaRPr sz="1800" b="0" i="0" u="none" strike="noStrike" cap="none" dirty="0">
              <a:solidFill>
                <a:srgbClr val="FFFFFF"/>
              </a:solidFill>
              <a:latin typeface="Times New Roman" panose="02020603050405020304" pitchFamily="18" charset="0"/>
              <a:ea typeface="Corbel"/>
              <a:cs typeface="Times New Roman" panose="02020603050405020304" pitchFamily="18" charset="0"/>
              <a:sym typeface="Corbel"/>
            </a:endParaRPr>
          </a:p>
        </p:txBody>
      </p:sp>
      <p:sp>
        <p:nvSpPr>
          <p:cNvPr id="106" name="Google Shape;106;p13">
            <a:extLst>
              <a:ext uri="{FF2B5EF4-FFF2-40B4-BE49-F238E27FC236}">
                <a16:creationId xmlns:a16="http://schemas.microsoft.com/office/drawing/2014/main" id="{312D42E5-EA58-3DBE-226A-9029346B1721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0558300" y="5956137"/>
            <a:ext cx="1461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16</a:t>
            </a:fld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7" name="Google Shape;107;p13">
            <a:extLst>
              <a:ext uri="{FF2B5EF4-FFF2-40B4-BE49-F238E27FC236}">
                <a16:creationId xmlns:a16="http://schemas.microsoft.com/office/drawing/2014/main" id="{FE67F8D2-684C-3C6A-4099-090A8236041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Gill Sans"/>
              <a:buNone/>
            </a:pP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Survey Dynamics – Single Region Model</a:t>
            </a: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EE7F0AD-2506-4EE5-809D-F3CD8E3B6FB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81192" y="1954303"/>
            <a:ext cx="5694102" cy="4849176"/>
          </a:xfrm>
        </p:spPr>
        <p:txBody>
          <a:bodyPr>
            <a:normAutofit/>
          </a:bodyPr>
          <a:lstStyle/>
          <a:p>
            <a:r>
              <a:rPr lang="en-US" sz="2000" dirty="0"/>
              <a:t>Two fleets: NOAA LLS and Japanese LLS</a:t>
            </a:r>
          </a:p>
          <a:p>
            <a:r>
              <a:rPr lang="en-US" sz="2000" dirty="0"/>
              <a:t>Single catchability parameter estimated for each fleet</a:t>
            </a:r>
          </a:p>
          <a:p>
            <a:r>
              <a:rPr lang="en-US" sz="2000" dirty="0"/>
              <a:t>Logistic selectivity assumed for both fleets</a:t>
            </a:r>
          </a:p>
          <a:p>
            <a:pPr lvl="1"/>
            <a:r>
              <a:rPr lang="en-US" dirty="0"/>
              <a:t>Estimated with loose priors </a:t>
            </a:r>
            <a:r>
              <a:rPr lang="en-US" i="1" dirty="0"/>
              <a:t>~N</a:t>
            </a:r>
            <a:r>
              <a:rPr lang="en-US" dirty="0"/>
              <a:t>(ln(3),1.5</a:t>
            </a:r>
            <a:r>
              <a:rPr lang="en-US" baseline="30000" dirty="0"/>
              <a:t>2</a:t>
            </a:r>
            <a:r>
              <a:rPr lang="en-US" dirty="0"/>
              <a:t>)</a:t>
            </a:r>
          </a:p>
          <a:p>
            <a:r>
              <a:rPr lang="en-US" sz="2000" dirty="0"/>
              <a:t>Two time blocks assumed for the NOAA Longline Survey (single time block for Japanese LLS)</a:t>
            </a:r>
          </a:p>
          <a:p>
            <a:pPr lvl="1"/>
            <a:r>
              <a:rPr lang="en-US" sz="1400" dirty="0"/>
              <a:t>1960 – 2015, 2016+</a:t>
            </a:r>
          </a:p>
          <a:p>
            <a:pPr lvl="1"/>
            <a:r>
              <a:rPr lang="en-US" sz="1400" dirty="0"/>
              <a:t>Corresponds to apparent changes in availability to LLS of small fish (small fish in deep strata where not historically observed)</a:t>
            </a:r>
          </a:p>
          <a:p>
            <a:r>
              <a:rPr lang="en-US" sz="2000" dirty="0"/>
              <a:t>Age compositions fit for the NOAA LLS and both age and length compositions fit for the Japanese LLS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38270863-CCA0-2833-4719-CD38DD449417}"/>
              </a:ext>
            </a:extLst>
          </p:cNvPr>
          <p:cNvPicPr>
            <a:picLocks noChangeAspect="1"/>
          </p:cNvPicPr>
          <p:nvPr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388051" y="1852753"/>
            <a:ext cx="5109883" cy="2129118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31FBAEEB-6A73-1C66-71C6-8215491B49D5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16173"/>
          <a:stretch>
            <a:fillRect/>
          </a:stretch>
        </p:blipFill>
        <p:spPr>
          <a:xfrm>
            <a:off x="6822141" y="4136722"/>
            <a:ext cx="4241704" cy="26667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0905891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4">
          <a:extLst>
            <a:ext uri="{FF2B5EF4-FFF2-40B4-BE49-F238E27FC236}">
              <a16:creationId xmlns:a16="http://schemas.microsoft.com/office/drawing/2014/main" id="{F101E88C-9C49-F72E-703C-C0F958F049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13">
            <a:extLst>
              <a:ext uri="{FF2B5EF4-FFF2-40B4-BE49-F238E27FC236}">
                <a16:creationId xmlns:a16="http://schemas.microsoft.com/office/drawing/2014/main" id="{BE144A83-D2C2-5467-3976-B03E7272C591}"/>
              </a:ext>
            </a:extLst>
          </p:cNvPr>
          <p:cNvSpPr/>
          <p:nvPr/>
        </p:nvSpPr>
        <p:spPr>
          <a:xfrm>
            <a:off x="433325" y="609600"/>
            <a:ext cx="11325300" cy="119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orbel"/>
              <a:buNone/>
            </a:pPr>
            <a:endParaRPr sz="1800" b="0" i="0" u="none" strike="noStrike" cap="none" dirty="0">
              <a:solidFill>
                <a:srgbClr val="FFFFFF"/>
              </a:solidFill>
              <a:latin typeface="Times New Roman" panose="02020603050405020304" pitchFamily="18" charset="0"/>
              <a:ea typeface="Corbel"/>
              <a:cs typeface="Times New Roman" panose="02020603050405020304" pitchFamily="18" charset="0"/>
              <a:sym typeface="Corbel"/>
            </a:endParaRPr>
          </a:p>
        </p:txBody>
      </p:sp>
      <p:sp>
        <p:nvSpPr>
          <p:cNvPr id="106" name="Google Shape;106;p13">
            <a:extLst>
              <a:ext uri="{FF2B5EF4-FFF2-40B4-BE49-F238E27FC236}">
                <a16:creationId xmlns:a16="http://schemas.microsoft.com/office/drawing/2014/main" id="{7DD6D489-6FCB-50D8-7216-F29891A3BD78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0558300" y="5956137"/>
            <a:ext cx="1461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17</a:t>
            </a:fld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7" name="Google Shape;107;p13">
            <a:extLst>
              <a:ext uri="{FF2B5EF4-FFF2-40B4-BE49-F238E27FC236}">
                <a16:creationId xmlns:a16="http://schemas.microsoft.com/office/drawing/2014/main" id="{21B4421F-CCC0-B4F1-31EB-77F146B249B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Gill Sans"/>
              <a:buNone/>
            </a:pP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Survey Dynamics – FAA Model</a:t>
            </a: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4656FEB-A616-A179-BD8C-DF20D29A776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81192" y="2127622"/>
            <a:ext cx="7119490" cy="4774472"/>
          </a:xfrm>
        </p:spPr>
        <p:txBody>
          <a:bodyPr>
            <a:normAutofit/>
          </a:bodyPr>
          <a:lstStyle/>
          <a:p>
            <a:r>
              <a:rPr lang="en-US" sz="2000" dirty="0"/>
              <a:t>Structured the same as the single region model, but with 3 regional NOAA LLS fleets (BS, AI, GOA)</a:t>
            </a:r>
          </a:p>
          <a:p>
            <a:r>
              <a:rPr lang="en-US" sz="2000" dirty="0"/>
              <a:t>Single catchability parameter estimated for each </a:t>
            </a:r>
            <a:r>
              <a:rPr lang="en-US" sz="2000" i="1" dirty="0"/>
              <a:t>regional</a:t>
            </a:r>
            <a:r>
              <a:rPr lang="en-US" sz="2000" dirty="0"/>
              <a:t> fleet</a:t>
            </a:r>
          </a:p>
          <a:p>
            <a:r>
              <a:rPr lang="en-US" sz="2000" dirty="0"/>
              <a:t>Logistic selectivity assumed for all fleets</a:t>
            </a:r>
          </a:p>
          <a:p>
            <a:pPr lvl="1"/>
            <a:r>
              <a:rPr lang="en-US" dirty="0"/>
              <a:t>Estimated with loose priors </a:t>
            </a:r>
            <a:r>
              <a:rPr lang="en-US" i="1" dirty="0"/>
              <a:t>~N</a:t>
            </a:r>
            <a:r>
              <a:rPr lang="en-US" dirty="0"/>
              <a:t>(ln(3),1.5</a:t>
            </a:r>
            <a:r>
              <a:rPr lang="en-US" baseline="30000" dirty="0"/>
              <a:t>2</a:t>
            </a:r>
            <a:r>
              <a:rPr lang="en-US" dirty="0"/>
              <a:t>)</a:t>
            </a:r>
          </a:p>
          <a:p>
            <a:r>
              <a:rPr lang="en-US" sz="2000" dirty="0"/>
              <a:t>Two time blocks assumed for each </a:t>
            </a:r>
            <a:r>
              <a:rPr lang="en-US" sz="2000" i="1" dirty="0"/>
              <a:t>regional</a:t>
            </a:r>
            <a:r>
              <a:rPr lang="en-US" sz="2000" dirty="0"/>
              <a:t> LLS fleet</a:t>
            </a:r>
          </a:p>
          <a:p>
            <a:pPr lvl="1"/>
            <a:r>
              <a:rPr lang="en-US" sz="1400" dirty="0"/>
              <a:t>1960 – 2015, 2016+</a:t>
            </a:r>
          </a:p>
          <a:p>
            <a:pPr lvl="1"/>
            <a:r>
              <a:rPr lang="en-US" sz="1400" dirty="0"/>
              <a:t>Corresponds to transition to pot gear (Cheng et al., 2025)</a:t>
            </a:r>
          </a:p>
          <a:p>
            <a:r>
              <a:rPr lang="en-US" sz="2000" dirty="0"/>
              <a:t>Age compositions fit disaggregated by </a:t>
            </a:r>
            <a:r>
              <a:rPr lang="en-US" sz="2000" i="1" dirty="0"/>
              <a:t>region</a:t>
            </a:r>
            <a:r>
              <a:rPr lang="en-US" sz="2000" dirty="0"/>
              <a:t> for each </a:t>
            </a:r>
            <a:r>
              <a:rPr lang="en-US" sz="2000" i="1" dirty="0"/>
              <a:t>regional</a:t>
            </a:r>
            <a:r>
              <a:rPr lang="en-US" sz="2000" dirty="0"/>
              <a:t> NOAA LLS fleet</a:t>
            </a:r>
          </a:p>
          <a:p>
            <a:r>
              <a:rPr lang="en-US" sz="2000" dirty="0"/>
              <a:t>Total of 2 extra </a:t>
            </a:r>
            <a:r>
              <a:rPr lang="en-US" sz="2000" i="1" dirty="0"/>
              <a:t>q</a:t>
            </a:r>
            <a:r>
              <a:rPr lang="en-US" sz="2000" dirty="0"/>
              <a:t> parameters and 16 extra selectivity parameters estimated compared to single region model</a:t>
            </a:r>
          </a:p>
          <a:p>
            <a:endParaRPr lang="en-US" sz="200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734E688-AD69-2C37-9EC7-3272DD490A85}"/>
              </a:ext>
            </a:extLst>
          </p:cNvPr>
          <p:cNvPicPr>
            <a:picLocks noChangeAspect="1"/>
          </p:cNvPicPr>
          <p:nvPr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839651" y="1892856"/>
            <a:ext cx="3838292" cy="47744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295380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4">
          <a:extLst>
            <a:ext uri="{FF2B5EF4-FFF2-40B4-BE49-F238E27FC236}">
              <a16:creationId xmlns:a16="http://schemas.microsoft.com/office/drawing/2014/main" id="{666A220F-3DE4-29AE-D02B-AA5B3F9D89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13">
            <a:extLst>
              <a:ext uri="{FF2B5EF4-FFF2-40B4-BE49-F238E27FC236}">
                <a16:creationId xmlns:a16="http://schemas.microsoft.com/office/drawing/2014/main" id="{FDC09B91-688B-CBE6-86BA-0DFBB288BD2B}"/>
              </a:ext>
            </a:extLst>
          </p:cNvPr>
          <p:cNvSpPr/>
          <p:nvPr/>
        </p:nvSpPr>
        <p:spPr>
          <a:xfrm>
            <a:off x="433325" y="609600"/>
            <a:ext cx="11325300" cy="119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orbel"/>
              <a:buNone/>
            </a:pPr>
            <a:endParaRPr sz="1800" b="0" i="0" u="none" strike="noStrike" cap="none" dirty="0">
              <a:solidFill>
                <a:srgbClr val="FFFFFF"/>
              </a:solidFill>
              <a:latin typeface="Times New Roman" panose="02020603050405020304" pitchFamily="18" charset="0"/>
              <a:ea typeface="Corbel"/>
              <a:cs typeface="Times New Roman" panose="02020603050405020304" pitchFamily="18" charset="0"/>
              <a:sym typeface="Corbel"/>
            </a:endParaRPr>
          </a:p>
        </p:txBody>
      </p:sp>
      <p:sp>
        <p:nvSpPr>
          <p:cNvPr id="106" name="Google Shape;106;p13">
            <a:extLst>
              <a:ext uri="{FF2B5EF4-FFF2-40B4-BE49-F238E27FC236}">
                <a16:creationId xmlns:a16="http://schemas.microsoft.com/office/drawing/2014/main" id="{60DB1007-0B67-725B-8978-13B593E28AC7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0558300" y="5956137"/>
            <a:ext cx="1461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18</a:t>
            </a:fld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7" name="Google Shape;107;p13">
            <a:extLst>
              <a:ext uri="{FF2B5EF4-FFF2-40B4-BE49-F238E27FC236}">
                <a16:creationId xmlns:a16="http://schemas.microsoft.com/office/drawing/2014/main" id="{C8852527-D5E9-ADE5-E300-73A3A4D75DE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Gill Sans"/>
              <a:buNone/>
            </a:pP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Observation Models</a:t>
            </a: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60B1CCC-08C2-6C0D-27CB-D6727B3FB37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81192" y="2151529"/>
            <a:ext cx="5272761" cy="4750564"/>
          </a:xfrm>
        </p:spPr>
        <p:txBody>
          <a:bodyPr>
            <a:normAutofit/>
          </a:bodyPr>
          <a:lstStyle/>
          <a:p>
            <a:r>
              <a:rPr lang="en-US" sz="2000" dirty="0"/>
              <a:t>Catch assumes a fixed standard error of 0.05 (lognormal)</a:t>
            </a:r>
          </a:p>
          <a:p>
            <a:r>
              <a:rPr lang="en-US" sz="2000" dirty="0"/>
              <a:t>Survey yearly standard errors calculated from the data (lognormal)</a:t>
            </a:r>
          </a:p>
          <a:p>
            <a:r>
              <a:rPr lang="en-US" sz="2000" dirty="0"/>
              <a:t>Composition (age/length) Input Sample Sizes (ISS) scaled within fleets relative to observed yearly samples (multinomial)</a:t>
            </a:r>
          </a:p>
          <a:p>
            <a:pPr lvl="1"/>
            <a:r>
              <a:rPr lang="en-US" sz="1400" dirty="0"/>
              <a:t>Fleet-specific maximum values</a:t>
            </a:r>
          </a:p>
          <a:p>
            <a:pPr lvl="1"/>
            <a:r>
              <a:rPr lang="en-US" sz="1400" dirty="0"/>
              <a:t>Minimum ISS of 20</a:t>
            </a:r>
          </a:p>
          <a:p>
            <a:pPr lvl="1"/>
            <a:r>
              <a:rPr lang="en-US" sz="1400" dirty="0"/>
              <a:t>For FAA model, scaling of NOAA LLS ISS was across regions to maintain information on relative sample sizes across regions</a:t>
            </a:r>
          </a:p>
          <a:p>
            <a:r>
              <a:rPr lang="en-US" sz="2000" dirty="0"/>
              <a:t>ESS determine from Francis reweighting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811DFCC-BC0D-FE6C-C46E-DC2A13B934F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3399" r="13504"/>
          <a:stretch>
            <a:fillRect/>
          </a:stretch>
        </p:blipFill>
        <p:spPr>
          <a:xfrm>
            <a:off x="5952564" y="2920970"/>
            <a:ext cx="6158753" cy="27447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8686618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4">
          <a:extLst>
            <a:ext uri="{FF2B5EF4-FFF2-40B4-BE49-F238E27FC236}">
              <a16:creationId xmlns:a16="http://schemas.microsoft.com/office/drawing/2014/main" id="{19EC3BB1-A7DF-DA43-F58F-7C0186FD03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13">
            <a:extLst>
              <a:ext uri="{FF2B5EF4-FFF2-40B4-BE49-F238E27FC236}">
                <a16:creationId xmlns:a16="http://schemas.microsoft.com/office/drawing/2014/main" id="{02BF1B82-12DC-64D4-1146-71025C044998}"/>
              </a:ext>
            </a:extLst>
          </p:cNvPr>
          <p:cNvSpPr/>
          <p:nvPr/>
        </p:nvSpPr>
        <p:spPr>
          <a:xfrm>
            <a:off x="433325" y="609600"/>
            <a:ext cx="11325300" cy="119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orbel"/>
              <a:buNone/>
            </a:pPr>
            <a:endParaRPr sz="1800" b="0" i="0" u="none" strike="noStrike" cap="none" dirty="0">
              <a:solidFill>
                <a:srgbClr val="FFFFFF"/>
              </a:solidFill>
              <a:latin typeface="Times New Roman" panose="02020603050405020304" pitchFamily="18" charset="0"/>
              <a:ea typeface="Corbel"/>
              <a:cs typeface="Times New Roman" panose="02020603050405020304" pitchFamily="18" charset="0"/>
              <a:sym typeface="Corbel"/>
            </a:endParaRPr>
          </a:p>
        </p:txBody>
      </p:sp>
      <p:sp>
        <p:nvSpPr>
          <p:cNvPr id="106" name="Google Shape;106;p13">
            <a:extLst>
              <a:ext uri="{FF2B5EF4-FFF2-40B4-BE49-F238E27FC236}">
                <a16:creationId xmlns:a16="http://schemas.microsoft.com/office/drawing/2014/main" id="{5E28405D-433E-295C-9635-19624DCE77CA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0558300" y="5956137"/>
            <a:ext cx="1461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19</a:t>
            </a:fld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7" name="Google Shape;107;p13">
            <a:extLst>
              <a:ext uri="{FF2B5EF4-FFF2-40B4-BE49-F238E27FC236}">
                <a16:creationId xmlns:a16="http://schemas.microsoft.com/office/drawing/2014/main" id="{A3206586-A14B-A9FD-DFB0-CA7246879AB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Gill Sans"/>
              <a:buNone/>
            </a:pP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Priors and Estimated Parameters</a:t>
            </a: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579973D-877F-9093-F6CB-1EFF21048FB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81192" y="2286000"/>
            <a:ext cx="5272761" cy="4616093"/>
          </a:xfrm>
        </p:spPr>
        <p:txBody>
          <a:bodyPr>
            <a:normAutofit/>
          </a:bodyPr>
          <a:lstStyle/>
          <a:p>
            <a:r>
              <a:rPr lang="en-US" sz="2000" dirty="0"/>
              <a:t>MLE with penalized likelihood used to estimate parameters</a:t>
            </a:r>
          </a:p>
          <a:p>
            <a:r>
              <a:rPr lang="en-US" sz="2000" dirty="0"/>
              <a:t>Priors:</a:t>
            </a:r>
          </a:p>
          <a:p>
            <a:pPr lvl="1"/>
            <a:r>
              <a:rPr lang="en-US" sz="1400" dirty="0"/>
              <a:t>Recruitment deviations ~</a:t>
            </a:r>
            <a:r>
              <a:rPr lang="en-US" sz="1400" i="1" dirty="0"/>
              <a:t>N</a:t>
            </a:r>
            <a:r>
              <a:rPr lang="en-US" sz="1400" dirty="0"/>
              <a:t>(0, </a:t>
            </a:r>
            <a:r>
              <a:rPr lang="el-GR" sz="1400" i="1" dirty="0"/>
              <a:t>σ</a:t>
            </a:r>
            <a:r>
              <a:rPr lang="en-US" sz="1400" i="1" baseline="-25000" dirty="0"/>
              <a:t>R</a:t>
            </a:r>
            <a:r>
              <a:rPr lang="en-US" sz="1400" i="1" baseline="30000" dirty="0"/>
              <a:t>2</a:t>
            </a:r>
            <a:r>
              <a:rPr lang="en-US" sz="1400" dirty="0"/>
              <a:t>)</a:t>
            </a:r>
          </a:p>
          <a:p>
            <a:pPr lvl="1"/>
            <a:r>
              <a:rPr lang="en-US" sz="1400" dirty="0"/>
              <a:t>Fishing mortality deviations ~</a:t>
            </a:r>
            <a:r>
              <a:rPr lang="en-US" sz="1400" i="1" dirty="0"/>
              <a:t>N</a:t>
            </a:r>
            <a:r>
              <a:rPr lang="en-US" sz="1400" dirty="0"/>
              <a:t>(0, 0.75</a:t>
            </a:r>
            <a:r>
              <a:rPr lang="en-US" sz="1400" baseline="30000" dirty="0"/>
              <a:t>2</a:t>
            </a:r>
            <a:r>
              <a:rPr lang="en-US" sz="1400" dirty="0"/>
              <a:t>) </a:t>
            </a:r>
          </a:p>
          <a:p>
            <a:pPr lvl="1"/>
            <a:r>
              <a:rPr lang="en-US" sz="1400" dirty="0"/>
              <a:t>Natural morality </a:t>
            </a:r>
            <a:r>
              <a:rPr lang="en-US" sz="1400" i="1" dirty="0"/>
              <a:t>~N</a:t>
            </a:r>
            <a:r>
              <a:rPr lang="en-US" sz="1400" dirty="0"/>
              <a:t>(ln(0.085), 0.1</a:t>
            </a:r>
            <a:r>
              <a:rPr lang="en-US" sz="1400" baseline="30000" dirty="0"/>
              <a:t>2</a:t>
            </a:r>
            <a:r>
              <a:rPr lang="en-US" sz="1400" dirty="0"/>
              <a:t>)</a:t>
            </a:r>
          </a:p>
          <a:p>
            <a:pPr lvl="1"/>
            <a:r>
              <a:rPr lang="en-US" sz="1400" dirty="0"/>
              <a:t>Fishery selectivity parameters </a:t>
            </a:r>
            <a:r>
              <a:rPr lang="en-US" sz="1400" i="1" dirty="0"/>
              <a:t>~N</a:t>
            </a:r>
            <a:r>
              <a:rPr lang="en-US" sz="1400" dirty="0"/>
              <a:t>(ln(4),1.5</a:t>
            </a:r>
            <a:r>
              <a:rPr lang="en-US" sz="1400" baseline="30000" dirty="0"/>
              <a:t>2</a:t>
            </a:r>
            <a:r>
              <a:rPr lang="en-US" sz="1400" dirty="0"/>
              <a:t>)</a:t>
            </a:r>
          </a:p>
          <a:p>
            <a:pPr lvl="1"/>
            <a:r>
              <a:rPr lang="en-US" sz="1400" dirty="0"/>
              <a:t>Survey selectivity parameters </a:t>
            </a:r>
            <a:r>
              <a:rPr lang="en-US" sz="1400" i="1" dirty="0"/>
              <a:t>~N</a:t>
            </a:r>
            <a:r>
              <a:rPr lang="en-US" sz="1400" dirty="0"/>
              <a:t>(ln(3),1.5</a:t>
            </a:r>
            <a:r>
              <a:rPr lang="en-US" sz="1400" baseline="30000" dirty="0"/>
              <a:t>2</a:t>
            </a:r>
            <a:r>
              <a:rPr lang="en-US" sz="1400" dirty="0"/>
              <a:t>)</a:t>
            </a:r>
          </a:p>
          <a:p>
            <a:r>
              <a:rPr lang="en-US" sz="2000" dirty="0"/>
              <a:t>Total estimated parameters</a:t>
            </a:r>
          </a:p>
          <a:p>
            <a:pPr lvl="1"/>
            <a:r>
              <a:rPr lang="en-US" sz="1400" dirty="0"/>
              <a:t>Single region: 253</a:t>
            </a:r>
          </a:p>
          <a:p>
            <a:pPr lvl="1"/>
            <a:r>
              <a:rPr lang="en-US" sz="1400" dirty="0"/>
              <a:t>FAA: 271 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6348D63-6D31-724A-CE63-58A2C5F5A5D7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21832" r="22627"/>
          <a:stretch>
            <a:fillRect/>
          </a:stretch>
        </p:blipFill>
        <p:spPr>
          <a:xfrm>
            <a:off x="5853953" y="2686375"/>
            <a:ext cx="6023026" cy="26117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4403417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4">
          <a:extLst>
            <a:ext uri="{FF2B5EF4-FFF2-40B4-BE49-F238E27FC236}">
              <a16:creationId xmlns:a16="http://schemas.microsoft.com/office/drawing/2014/main" id="{1797F892-AC85-8C5A-F222-36059FE63A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13">
            <a:extLst>
              <a:ext uri="{FF2B5EF4-FFF2-40B4-BE49-F238E27FC236}">
                <a16:creationId xmlns:a16="http://schemas.microsoft.com/office/drawing/2014/main" id="{92B38546-594B-A14C-FF7F-A5E9D515D74C}"/>
              </a:ext>
            </a:extLst>
          </p:cNvPr>
          <p:cNvSpPr/>
          <p:nvPr/>
        </p:nvSpPr>
        <p:spPr>
          <a:xfrm>
            <a:off x="433325" y="609600"/>
            <a:ext cx="11325300" cy="119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orbel"/>
              <a:buNone/>
            </a:pPr>
            <a:endParaRPr sz="1800" b="0" i="0" u="none" strike="noStrike" cap="none" dirty="0">
              <a:solidFill>
                <a:srgbClr val="FFFFFF"/>
              </a:solidFill>
              <a:latin typeface="Times New Roman" panose="02020603050405020304" pitchFamily="18" charset="0"/>
              <a:ea typeface="Corbel"/>
              <a:cs typeface="Times New Roman" panose="02020603050405020304" pitchFamily="18" charset="0"/>
              <a:sym typeface="Corbel"/>
            </a:endParaRPr>
          </a:p>
        </p:txBody>
      </p:sp>
      <p:sp>
        <p:nvSpPr>
          <p:cNvPr id="106" name="Google Shape;106;p13">
            <a:extLst>
              <a:ext uri="{FF2B5EF4-FFF2-40B4-BE49-F238E27FC236}">
                <a16:creationId xmlns:a16="http://schemas.microsoft.com/office/drawing/2014/main" id="{2C86BD58-485B-C273-B8F9-7770941CA2E8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0558300" y="5956137"/>
            <a:ext cx="1461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20</a:t>
            </a:fld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7" name="Google Shape;107;p13">
            <a:extLst>
              <a:ext uri="{FF2B5EF4-FFF2-40B4-BE49-F238E27FC236}">
                <a16:creationId xmlns:a16="http://schemas.microsoft.com/office/drawing/2014/main" id="{BF82ECED-98DC-29B1-6A3C-46E0A4DB0E7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Gill Sans"/>
              <a:buNone/>
            </a:pP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Catch Projections and Reference Points</a:t>
            </a: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" name="Text Placeholder 4">
            <a:extLst>
              <a:ext uri="{FF2B5EF4-FFF2-40B4-BE49-F238E27FC236}">
                <a16:creationId xmlns:a16="http://schemas.microsoft.com/office/drawing/2014/main" id="{9E60A2AA-0C54-32FE-0B1B-2A17AB899E28}"/>
              </a:ext>
            </a:extLst>
          </p:cNvPr>
          <p:cNvSpPr txBox="1">
            <a:spLocks/>
          </p:cNvSpPr>
          <p:nvPr/>
        </p:nvSpPr>
        <p:spPr>
          <a:xfrm>
            <a:off x="581192" y="1800300"/>
            <a:ext cx="6500926" cy="49651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 fontScale="92500"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3756" algn="l" rtl="0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accent2"/>
              </a:buClr>
              <a:buSzPts val="1656"/>
              <a:buFont typeface="Wingdings" panose="05000000000000000000" pitchFamily="2" charset="2"/>
              <a:buChar char="§"/>
              <a:defRPr sz="2400" b="0" i="0" u="none" strike="noStrike" cap="none">
                <a:solidFill>
                  <a:srgbClr val="000000"/>
                </a:solidFill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  <a:sym typeface="Arial"/>
              </a:defRPr>
            </a:lvl1pPr>
            <a:lvl2pPr marL="914400" marR="0" lvl="1" indent="-333756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2"/>
              </a:buClr>
              <a:buSzPts val="1656"/>
              <a:buFont typeface="Wingdings" panose="05000000000000000000" pitchFamily="2" charset="2"/>
              <a:buChar char="§"/>
              <a:defRPr sz="1800" b="0" i="0" u="none" strike="noStrike" cap="none">
                <a:solidFill>
                  <a:srgbClr val="000000"/>
                </a:solidFill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  <a:sym typeface="Arial"/>
              </a:defRPr>
            </a:lvl2pPr>
            <a:lvl3pPr marL="1371600" marR="0" lvl="2" indent="-333756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2"/>
              </a:buClr>
              <a:buSzPts val="1656"/>
              <a:buFont typeface="Wingdings" panose="05000000000000000000" pitchFamily="2" charset="2"/>
              <a:buChar char="§"/>
              <a:defRPr sz="1400" b="0" i="0" u="none" strike="noStrike" cap="none">
                <a:solidFill>
                  <a:srgbClr val="000000"/>
                </a:solidFill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  <a:sym typeface="Arial"/>
              </a:defRPr>
            </a:lvl3pPr>
            <a:lvl4pPr marL="1828800" marR="0" lvl="3" indent="-333756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2"/>
              </a:buClr>
              <a:buSzPts val="1656"/>
              <a:buFont typeface="Wingdings" panose="05000000000000000000" pitchFamily="2" charset="2"/>
              <a:buChar char="§"/>
              <a:defRPr sz="1200" b="0" i="0" u="none" strike="noStrike" cap="none">
                <a:solidFill>
                  <a:srgbClr val="000000"/>
                </a:solidFill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  <a:sym typeface="Arial"/>
              </a:defRPr>
            </a:lvl4pPr>
            <a:lvl5pPr marL="2286000" marR="0" lvl="4" indent="-333756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000000"/>
              </a:buClr>
              <a:buSzPts val="1656"/>
              <a:buFont typeface="Arial"/>
              <a:buChar char="◼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33756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000000"/>
              </a:buClr>
              <a:buSzPts val="1656"/>
              <a:buFont typeface="Arial"/>
              <a:buChar char="◼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33756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000000"/>
              </a:buClr>
              <a:buSzPts val="1656"/>
              <a:buFont typeface="Arial"/>
              <a:buChar char="◼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33756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000000"/>
              </a:buClr>
              <a:buSzPts val="1656"/>
              <a:buFont typeface="Arial"/>
              <a:buChar char="◼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33756" algn="l" rtl="0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Clr>
                <a:srgbClr val="000000"/>
              </a:buClr>
              <a:buSzPts val="1656"/>
              <a:buFont typeface="Arial"/>
              <a:buChar char="◼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en-US" sz="2000" dirty="0"/>
              <a:t>Standard methods for reference points (per-recruit) and associated catch projections used by all AFSC assessments</a:t>
            </a:r>
          </a:p>
          <a:p>
            <a:r>
              <a:rPr lang="en-US" sz="2000" dirty="0"/>
              <a:t>Parameters (e.g., relative fishing mortality among fishing fleets, selectivity, natural mortality, and biological inputs) are taken from the terminal year of the assessment</a:t>
            </a:r>
          </a:p>
          <a:p>
            <a:r>
              <a:rPr lang="en-US" sz="2000" dirty="0"/>
              <a:t>Biomass reference points (B40%) are calculated from per-recruit reference points based on average recruitment (1979 – terminal assessment year - 2) </a:t>
            </a:r>
          </a:p>
          <a:p>
            <a:pPr lvl="1"/>
            <a:r>
              <a:rPr lang="en-US" sz="1400" dirty="0"/>
              <a:t>F</a:t>
            </a:r>
            <a:r>
              <a:rPr lang="en-US" sz="1400" baseline="-25000" dirty="0"/>
              <a:t>ABC</a:t>
            </a:r>
            <a:r>
              <a:rPr lang="en-US" sz="1400" dirty="0"/>
              <a:t> is defined as F40% and F</a:t>
            </a:r>
            <a:r>
              <a:rPr lang="en-US" sz="1400" baseline="-25000" dirty="0"/>
              <a:t>OFL</a:t>
            </a:r>
            <a:r>
              <a:rPr lang="en-US" sz="1400" dirty="0"/>
              <a:t> is defined as F35%, except when reduced by the NPFMC threshold/sloped HCR due to SSB falling below SSB</a:t>
            </a:r>
            <a:r>
              <a:rPr lang="en-US" sz="1400" baseline="-25000" dirty="0"/>
              <a:t>OFL</a:t>
            </a:r>
            <a:r>
              <a:rPr lang="en-US" sz="1400" dirty="0"/>
              <a:t> (B35%) </a:t>
            </a:r>
          </a:p>
          <a:p>
            <a:r>
              <a:rPr lang="en-US" sz="2000" dirty="0"/>
              <a:t>For projections:</a:t>
            </a:r>
          </a:p>
          <a:p>
            <a:pPr lvl="1"/>
            <a:r>
              <a:rPr lang="en-US" sz="1400" dirty="0"/>
              <a:t>Start from the terminal year numbers-at-age</a:t>
            </a:r>
          </a:p>
          <a:p>
            <a:pPr lvl="1"/>
            <a:r>
              <a:rPr lang="en-US" sz="1400" dirty="0"/>
              <a:t>Recruitment is simulated as an inverse Gaussian distribution parameterized using based on average recruitment and variance (1,000 simulations) </a:t>
            </a:r>
          </a:p>
          <a:p>
            <a:r>
              <a:rPr lang="en-US" dirty="0"/>
              <a:t>A standard set of seven projections is required for each stock </a:t>
            </a:r>
            <a:endParaRPr lang="en-US" sz="2000" dirty="0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169FDD6C-9153-00B5-4E2A-ECCEFFE191CE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565" t="6306" r="7344" b="7241"/>
          <a:stretch>
            <a:fillRect/>
          </a:stretch>
        </p:blipFill>
        <p:spPr bwMode="auto">
          <a:xfrm>
            <a:off x="7382385" y="2381112"/>
            <a:ext cx="4722929" cy="31466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07166168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4">
          <a:extLst>
            <a:ext uri="{FF2B5EF4-FFF2-40B4-BE49-F238E27FC236}">
              <a16:creationId xmlns:a16="http://schemas.microsoft.com/office/drawing/2014/main" id="{826D82BC-0547-A213-A39D-D23F944A6D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13">
            <a:extLst>
              <a:ext uri="{FF2B5EF4-FFF2-40B4-BE49-F238E27FC236}">
                <a16:creationId xmlns:a16="http://schemas.microsoft.com/office/drawing/2014/main" id="{A31447EF-BBCF-E0A6-D9A1-833AEC88EA16}"/>
              </a:ext>
            </a:extLst>
          </p:cNvPr>
          <p:cNvSpPr/>
          <p:nvPr/>
        </p:nvSpPr>
        <p:spPr>
          <a:xfrm>
            <a:off x="433325" y="609600"/>
            <a:ext cx="11325300" cy="119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orbel"/>
              <a:buNone/>
            </a:pPr>
            <a:endParaRPr sz="1800" b="0" i="0" u="none" strike="noStrike" cap="none" dirty="0">
              <a:solidFill>
                <a:srgbClr val="FFFFFF"/>
              </a:solidFill>
              <a:latin typeface="Times New Roman" panose="02020603050405020304" pitchFamily="18" charset="0"/>
              <a:ea typeface="Corbel"/>
              <a:cs typeface="Times New Roman" panose="02020603050405020304" pitchFamily="18" charset="0"/>
              <a:sym typeface="Corbel"/>
            </a:endParaRPr>
          </a:p>
        </p:txBody>
      </p:sp>
      <p:sp>
        <p:nvSpPr>
          <p:cNvPr id="106" name="Google Shape;106;p13">
            <a:extLst>
              <a:ext uri="{FF2B5EF4-FFF2-40B4-BE49-F238E27FC236}">
                <a16:creationId xmlns:a16="http://schemas.microsoft.com/office/drawing/2014/main" id="{474C55D1-C806-A94F-476F-6BF129CA02A1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0558300" y="5956137"/>
            <a:ext cx="1461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21</a:t>
            </a:fld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7" name="Google Shape;107;p13">
            <a:extLst>
              <a:ext uri="{FF2B5EF4-FFF2-40B4-BE49-F238E27FC236}">
                <a16:creationId xmlns:a16="http://schemas.microsoft.com/office/drawing/2014/main" id="{841F38D3-6F56-9F20-746D-95EFA1E5FC5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Gill Sans"/>
              <a:buNone/>
            </a:pP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Summary</a:t>
            </a: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EBAECEE-3A1C-3ACB-1FF6-AD82A061BB0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81192" y="2187388"/>
            <a:ext cx="5926531" cy="4714705"/>
          </a:xfrm>
        </p:spPr>
        <p:txBody>
          <a:bodyPr>
            <a:normAutofit/>
          </a:bodyPr>
          <a:lstStyle/>
          <a:p>
            <a:r>
              <a:rPr lang="en-US" sz="2000" dirty="0"/>
              <a:t>All models developed in the </a:t>
            </a:r>
            <a:r>
              <a:rPr lang="en-US" sz="2000" dirty="0" err="1"/>
              <a:t>SPoRC</a:t>
            </a:r>
            <a:r>
              <a:rPr lang="en-US" sz="2000" dirty="0"/>
              <a:t> generalized assessment package</a:t>
            </a:r>
          </a:p>
          <a:p>
            <a:r>
              <a:rPr lang="en-US" sz="2000" dirty="0"/>
              <a:t>Two primary models to be compared:</a:t>
            </a:r>
            <a:endParaRPr lang="en-US" sz="800" dirty="0"/>
          </a:p>
          <a:p>
            <a:pPr lvl="1"/>
            <a:r>
              <a:rPr lang="en-US" sz="1400" i="1" dirty="0"/>
              <a:t>26.1_1Reg</a:t>
            </a:r>
            <a:r>
              <a:rPr lang="en-US" sz="1400" dirty="0"/>
              <a:t>: Single region panmictic model</a:t>
            </a:r>
          </a:p>
          <a:p>
            <a:pPr lvl="1"/>
            <a:r>
              <a:rPr lang="en-US" sz="1400" i="1" dirty="0"/>
              <a:t>26.2_FAA</a:t>
            </a:r>
            <a:r>
              <a:rPr lang="en-US" sz="1400" dirty="0"/>
              <a:t>: FAA model with regional NOAA LLS fleets</a:t>
            </a:r>
          </a:p>
          <a:p>
            <a:r>
              <a:rPr lang="en-US" sz="2000" dirty="0"/>
              <a:t>Structure between the two models are essentially identical except for LLS fleet parametrization (and associated data fitting)</a:t>
            </a:r>
          </a:p>
          <a:p>
            <a:r>
              <a:rPr lang="en-US" sz="2000" dirty="0"/>
              <a:t>Rationale for the two models and associated model building steps (including simulation analyses) to be presented tomorrow</a:t>
            </a:r>
          </a:p>
          <a:p>
            <a:endParaRPr lang="en-US" sz="200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A62957E-CF3A-5218-87DB-0199A23FDA25}"/>
              </a:ext>
            </a:extLst>
          </p:cNvPr>
          <p:cNvPicPr>
            <a:picLocks noChangeAspect="1"/>
          </p:cNvPicPr>
          <p:nvPr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8592580" y="3915782"/>
            <a:ext cx="2369131" cy="2946975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06A93B52-AB99-D518-2775-2F41885DD6E9}"/>
              </a:ext>
            </a:extLst>
          </p:cNvPr>
          <p:cNvPicPr>
            <a:picLocks noChangeAspect="1"/>
          </p:cNvPicPr>
          <p:nvPr/>
        </p:nvPicPr>
        <p:blipFill>
          <a:blip r:embed="rId4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132837" y="1892856"/>
            <a:ext cx="4625788" cy="1927412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E3C7AF84-5E2E-A9E4-1641-9E9629AA024B}"/>
              </a:ext>
            </a:extLst>
          </p:cNvPr>
          <p:cNvPicPr>
            <a:picLocks noChangeAspect="1"/>
          </p:cNvPicPr>
          <p:nvPr/>
        </p:nvPicPr>
        <p:blipFill>
          <a:blip r:embed="rId5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832276" y="4299901"/>
            <a:ext cx="1435751" cy="16562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7109169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4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6" name="Google Shape;446;p50"/>
          <p:cNvSpPr/>
          <p:nvPr/>
        </p:nvSpPr>
        <p:spPr>
          <a:xfrm>
            <a:off x="446534" y="457200"/>
            <a:ext cx="3703200" cy="951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447" name="Google Shape;447;p50"/>
          <p:cNvSpPr/>
          <p:nvPr/>
        </p:nvSpPr>
        <p:spPr>
          <a:xfrm>
            <a:off x="8042147" y="453643"/>
            <a:ext cx="3703200" cy="987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448" name="Google Shape;448;p50"/>
          <p:cNvSpPr/>
          <p:nvPr/>
        </p:nvSpPr>
        <p:spPr>
          <a:xfrm>
            <a:off x="4241830" y="457200"/>
            <a:ext cx="3703200" cy="915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pic>
        <p:nvPicPr>
          <p:cNvPr id="455" name="Google Shape;455;p50"/>
          <p:cNvPicPr preferRelativeResize="0"/>
          <p:nvPr/>
        </p:nvPicPr>
        <p:blipFill rotWithShape="1">
          <a:blip r:embed="rId3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3811523" y="859287"/>
            <a:ext cx="4631279" cy="5139426"/>
          </a:xfrm>
          <a:prstGeom prst="rect">
            <a:avLst/>
          </a:prstGeom>
          <a:noFill/>
          <a:ln>
            <a:noFill/>
          </a:ln>
        </p:spPr>
      </p:pic>
      <p:sp>
        <p:nvSpPr>
          <p:cNvPr id="456" name="Google Shape;456;p50"/>
          <p:cNvSpPr txBox="1">
            <a:spLocks noGrp="1"/>
          </p:cNvSpPr>
          <p:nvPr>
            <p:ph type="title"/>
          </p:nvPr>
        </p:nvSpPr>
        <p:spPr>
          <a:xfrm>
            <a:off x="3746322" y="782202"/>
            <a:ext cx="5526900" cy="2784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000"/>
              <a:buFont typeface="Gill Sans"/>
              <a:buNone/>
            </a:pPr>
            <a:r>
              <a:rPr lang="en-US" sz="6000" dirty="0">
                <a:solidFill>
                  <a:schemeClr val="lt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QUESTIONS?</a:t>
            </a:r>
            <a:endParaRPr dirty="0">
              <a:solidFill>
                <a:schemeClr val="lt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 rotWithShape="1">
          <a:blip r:embed="rId4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8803638" y="2715232"/>
            <a:ext cx="1627328" cy="2412723"/>
          </a:xfrm>
          <a:prstGeom prst="rect">
            <a:avLst/>
          </a:prstGeom>
        </p:spPr>
      </p:pic>
      <p:pic>
        <p:nvPicPr>
          <p:cNvPr id="6" name="Picture 5"/>
          <p:cNvPicPr>
            <a:picLocks noChangeAspect="1"/>
          </p:cNvPicPr>
          <p:nvPr/>
        </p:nvPicPr>
        <p:blipFill rotWithShape="1">
          <a:blip r:embed="rId5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8803638" y="859287"/>
            <a:ext cx="1627328" cy="1796193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6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806479" y="3281388"/>
            <a:ext cx="1667674" cy="1744782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8BFBCE48-C775-4227-8A72-EDF4197FDDBE}"/>
              </a:ext>
            </a:extLst>
          </p:cNvPr>
          <p:cNvPicPr>
            <a:picLocks noChangeAspect="1"/>
          </p:cNvPicPr>
          <p:nvPr/>
        </p:nvPicPr>
        <p:blipFill rotWithShape="1">
          <a:blip r:embed="rId7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806479" y="859287"/>
            <a:ext cx="1660811" cy="2223699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theme/theme1.xml><?xml version="1.0" encoding="utf-8"?>
<a:theme xmlns:a="http://schemas.openxmlformats.org/drawingml/2006/main" name="Dividend">
  <a:themeElements>
    <a:clrScheme name="Dividend">
      <a:dk1>
        <a:srgbClr val="000000"/>
      </a:dk1>
      <a:lt1>
        <a:srgbClr val="FFFFFF"/>
      </a:lt1>
      <a:dk2>
        <a:srgbClr val="3D3D3D"/>
      </a:dk2>
      <a:lt2>
        <a:srgbClr val="EBEBEB"/>
      </a:lt2>
      <a:accent1>
        <a:srgbClr val="1A3260"/>
      </a:accent1>
      <a:accent2>
        <a:srgbClr val="4590B8"/>
      </a:accent2>
      <a:accent3>
        <a:srgbClr val="45CBE8"/>
      </a:accent3>
      <a:accent4>
        <a:srgbClr val="969FA7"/>
      </a:accent4>
      <a:accent5>
        <a:srgbClr val="A2C777"/>
      </a:accent5>
      <a:accent6>
        <a:srgbClr val="42955F"/>
      </a:accent6>
      <a:hlink>
        <a:srgbClr val="828282"/>
      </a:hlink>
      <a:folHlink>
        <a:srgbClr val="A5A5A5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6816</TotalTime>
  <Words>1961</Words>
  <Application>Microsoft Office PowerPoint</Application>
  <PresentationFormat>Widescreen</PresentationFormat>
  <Paragraphs>257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31" baseType="lpstr">
      <vt:lpstr>Aptos</vt:lpstr>
      <vt:lpstr>Arial</vt:lpstr>
      <vt:lpstr>Calibri</vt:lpstr>
      <vt:lpstr>Cambria Math</vt:lpstr>
      <vt:lpstr>Corbel</vt:lpstr>
      <vt:lpstr>Gill Sans</vt:lpstr>
      <vt:lpstr>Times New Roman</vt:lpstr>
      <vt:lpstr>Wingdings</vt:lpstr>
      <vt:lpstr>Dividend</vt:lpstr>
      <vt:lpstr>Sablefish Assessment General Methodology 2026 CIE Review</vt:lpstr>
      <vt:lpstr>Agenda</vt:lpstr>
      <vt:lpstr>Order of Operations</vt:lpstr>
      <vt:lpstr>Assessment Biological and Fishery Considerations</vt:lpstr>
      <vt:lpstr>Assessment Data and Modeling Considerations</vt:lpstr>
      <vt:lpstr>The SPoRC Assessment Package</vt:lpstr>
      <vt:lpstr>The SPoRC Assessment Package</vt:lpstr>
      <vt:lpstr>SPoRC Bridging From ADMB</vt:lpstr>
      <vt:lpstr>Data Integration and Observation Processes</vt:lpstr>
      <vt:lpstr>Spatial and Fleet Structure</vt:lpstr>
      <vt:lpstr>Data Summary</vt:lpstr>
      <vt:lpstr>Data Summary</vt:lpstr>
      <vt:lpstr>General Model Structure</vt:lpstr>
      <vt:lpstr>Biology, Recruitment, and Initial Age Structure</vt:lpstr>
      <vt:lpstr>Fishing Dynamics</vt:lpstr>
      <vt:lpstr>Survey Dynamics – Single Region Model</vt:lpstr>
      <vt:lpstr>Survey Dynamics – FAA Model</vt:lpstr>
      <vt:lpstr>Observation Models</vt:lpstr>
      <vt:lpstr>Priors and Estimated Parameters</vt:lpstr>
      <vt:lpstr>Catch Projections and Reference Points</vt:lpstr>
      <vt:lpstr>Summary</vt:lpstr>
      <vt:lpstr>QUESTIONS?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Sablefish</dc:title>
  <dc:creator>Daniel.Goethel</dc:creator>
  <cp:lastModifiedBy>Daniel.Goethel</cp:lastModifiedBy>
  <cp:revision>266</cp:revision>
  <dcterms:modified xsi:type="dcterms:W3CDTF">2026-06-15T17:52:27Z</dcterms:modified>
</cp:coreProperties>
</file>