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 bookmarkIdSeed="5">
  <p:sldMasterIdLst>
    <p:sldMasterId id="2147483658" r:id="rId1"/>
  </p:sldMasterIdLst>
  <p:notesMasterIdLst>
    <p:notesMasterId r:id="rId29"/>
  </p:notesMasterIdLst>
  <p:sldIdLst>
    <p:sldId id="256" r:id="rId2"/>
    <p:sldId id="324" r:id="rId3"/>
    <p:sldId id="371" r:id="rId4"/>
    <p:sldId id="257" r:id="rId5"/>
    <p:sldId id="372" r:id="rId6"/>
    <p:sldId id="391" r:id="rId7"/>
    <p:sldId id="295" r:id="rId8"/>
    <p:sldId id="383" r:id="rId9"/>
    <p:sldId id="373" r:id="rId10"/>
    <p:sldId id="375" r:id="rId11"/>
    <p:sldId id="374" r:id="rId12"/>
    <p:sldId id="376" r:id="rId13"/>
    <p:sldId id="377" r:id="rId14"/>
    <p:sldId id="301" r:id="rId15"/>
    <p:sldId id="302" r:id="rId16"/>
    <p:sldId id="385" r:id="rId17"/>
    <p:sldId id="380" r:id="rId18"/>
    <p:sldId id="384" r:id="rId19"/>
    <p:sldId id="379" r:id="rId20"/>
    <p:sldId id="381" r:id="rId21"/>
    <p:sldId id="382" r:id="rId22"/>
    <p:sldId id="392" r:id="rId23"/>
    <p:sldId id="294" r:id="rId24"/>
    <p:sldId id="387" r:id="rId25"/>
    <p:sldId id="390" r:id="rId26"/>
    <p:sldId id="389" r:id="rId27"/>
    <p:sldId id="388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AA9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2442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CE3D802-E2EC-DDC0-BE2C-523527A30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288EC860-B54C-0D33-9D93-CF9CB97657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E36C126F-E617-E537-20FE-22AFB40AC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F72CC066-2994-7E6A-C521-30F085F133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024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6A5299F-337B-0886-1E9D-5BAF60285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40F451E4-C43F-786F-89C7-564F55FDDA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29657032-1185-185A-2F8C-DCB163AEFC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E569BAEF-36C1-7137-3152-0099599FD3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5046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D47CA8C-AA5E-0E38-80BF-9501FC52E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CD54A64C-71EE-07DB-C2E5-BEF5534FA9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E9E9E997-814E-9258-2AA9-C1ACE18FDC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C3187B46-121A-8B29-CD74-18F731D323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1021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202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9AE6101-6032-6470-046A-0DBFA8B20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8850E77C-E05A-40AC-0382-48167EF12F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923DBE9D-FA17-26FE-B7EA-64D558DC78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915E1A75-0CBD-9CD7-4C0C-30BFCA11A3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61906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7176B62-E2FC-110F-9271-E605CB0DB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980710C6-03E7-660D-AD11-D68050391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F95B67C5-4D17-EF6E-4F2E-A5E54042D0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23E02DD1-A225-183B-3006-AF22200F54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6170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42BDAE4-A2BB-5953-1B4E-28C4CA78C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B1DFB3F4-FBA5-7338-6129-67BB0B7AE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A5BFD12F-F766-8C8E-DECE-4F49299D9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903D99D0-B378-E4E8-B1E0-3CA0ACDDB5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98732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F49F8F0-1C9E-4375-B3ED-D50BC455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F1E1944A-85AA-B65C-60C2-16EFE9AC24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B9328B14-3F77-5814-E3AB-480EA14EAA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E2E79180-5EE2-CA24-C067-4A9B70FC30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8899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5716C5E-FAEA-5CAB-C2B0-F319E7028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CEE5408C-0781-F7EB-E11B-3E3A4E0B20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A12B94E0-B8ED-BA91-BA94-53C8198180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3282A1A0-3FD5-ECBC-A0B2-40ADA5E3B2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5988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A939935-0565-3538-A349-AD107A5A5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D84DA844-6148-5B2F-D4E0-54339F1EE2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7FFF3991-5432-9760-445F-23E432EBE2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583331E4-1FA9-44A8-43B2-945FE38677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22455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69098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35681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15C68DF-6446-E378-BA0B-5149EEBD8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18780D9D-4F90-9D4C-99CC-156865A4E8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44CD7F06-5B6E-699C-C800-15633128C7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55C05892-812B-AE97-ED85-493E216661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81686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3353817-A771-89F5-3EFC-2E0DC1DFA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DE67C47A-52A2-AF2E-2CD5-205350224F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F3E53138-AE2D-1397-06DB-70CE78A259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2E30953D-7847-A354-1028-CC60361B1B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73859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500D25D-6558-B6B6-0CED-79D35C8EA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2F4320AA-2B53-8DC5-2693-31EFEB18AF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8D12E660-AB7D-50AE-2E06-012FD4FEAB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D6FF5304-83B7-2F7A-035D-96BD273FED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03421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57FD63F-CDD3-953E-C102-C691A2011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14427AB6-26FC-95A7-6CCA-77EC43C52D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3876656A-FF65-6C74-6D33-E374C20514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600E3FD4-66A4-148E-F452-D45BF31704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07202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7071FC9-8C07-E713-DDAD-BA6B7A575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888EFE98-B4FF-9922-6C2B-BEEE174B33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397F2373-F652-3A01-5C8E-643337B21C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F46C41C9-D54E-46A0-CD50-07EC01237D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22798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9569F7C-A9E6-3C3D-8AD8-E3FF00A0D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F23423DA-542A-F1A1-8E04-947E9B975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E1A9800E-AF92-ABDB-1470-4422448294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B84ACBE7-41A0-CD92-A291-5024ED50D1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05363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0058D76-856B-828A-D413-96CBFE4D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2AA50DA5-B1C8-6F12-AABA-13652BA989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9217C4BC-FB00-2F04-F6B5-BC492A9B4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0F1FB95A-2B39-1652-DD26-3D5AE031E4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10622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5e58772ac3_4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4" name="Google Shape;444;g15e58772ac3_4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0593D97-92F4-75DB-9807-99C53A51F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2D4527DD-ED33-5018-FB81-E1D5BDF567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E39007A2-DEEA-0BF1-0D8C-4B6ACB3F09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C47BB473-53DE-3519-28AF-90FA01B257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96093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7FA3725-B067-9DBB-C574-096F15922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CC18CF77-67D2-987F-309C-E987934218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375A6B68-F25D-78A4-1B7D-E072E3AFF6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AC7D9378-677D-B365-B671-084B7D04EC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79873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660391F-379B-9D9A-A2DE-00BEC34AC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A7C49CF9-9736-5095-5AE3-8B1E769AAC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A1EAF740-8781-8B62-4DC7-3A47FFCA10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7F5FD9FF-0028-6925-E563-0A29B3E8D7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09912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197A821-B8DB-657D-5A63-B9672EB34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253A5B5A-8D71-899C-F6FB-B11A8A1870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6992CD92-AE7B-F01F-A25F-E26E207B25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0B1333B5-E792-8FC0-0BD5-A451A1723B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9304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656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656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56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460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2D58A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lang="en-US" dirty="0"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10174778" y="5956137"/>
            <a:ext cx="13999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Google Shape;23;p2"/>
          <p:cNvSpPr>
            <a:spLocks noGrp="1"/>
          </p:cNvSpPr>
          <p:nvPr>
            <p:ph type="pic" idx="2"/>
          </p:nvPr>
        </p:nvSpPr>
        <p:spPr>
          <a:xfrm>
            <a:off x="446534" y="5681499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 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7605952" y="5956137"/>
            <a:ext cx="23776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2D58A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lang="en-US" dirty="0"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10133216" y="5956137"/>
            <a:ext cx="14775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5346" y="5956136"/>
            <a:ext cx="413332" cy="348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ill Sans"/>
              <a:buNone/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dirty="0"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lang="en-US" dirty="0"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0558298" y="5951811"/>
            <a:ext cx="1470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Google Shape;13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86740" y="5978817"/>
            <a:ext cx="413332" cy="34811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6534" y="6791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400" b="0" i="0" u="none" strike="noStrike" cap="none">
          <a:solidFill>
            <a:schemeClr val="bg1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88392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CPtVN73IzRbvjc4CoOoir5nq02bsLND0/view?usp=drive_link" TargetMode="External"/><Relationship Id="rId3" Type="http://schemas.openxmlformats.org/officeDocument/2006/relationships/hyperlink" Target="https://github.com/dgoethel-noaa/2026_Sablefish_CIE/tree/main" TargetMode="External"/><Relationship Id="rId7" Type="http://schemas.openxmlformats.org/officeDocument/2006/relationships/hyperlink" Target="https://drive.google.com/file/d/1ybWQ6SSQJN-SGUks7QRq6mgFWdr-xpEX/view?usp=drive_lin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rive.google.com/file/d/1gqZJMDWLl5HTc_cITPUVrDGEMHHWfzI6/view?usp=drive_link" TargetMode="External"/><Relationship Id="rId11" Type="http://schemas.openxmlformats.org/officeDocument/2006/relationships/hyperlink" Target="https://drive.google.com/file/d/1I_Am92l0MgT-YvuuRj36__bZstgAe4sx/view?usp=drive_link" TargetMode="External"/><Relationship Id="rId5" Type="http://schemas.openxmlformats.org/officeDocument/2006/relationships/hyperlink" Target="https://drive.google.com/drive/folders/1McLweTG3S1V4XLKnwH-NG0NQF063ktet?usp=drive_link" TargetMode="External"/><Relationship Id="rId10" Type="http://schemas.openxmlformats.org/officeDocument/2006/relationships/hyperlink" Target="https://drive.google.com/file/d/1sEia9amaiMQWjvaZTwWO9kiUSfTxQE2C/view?usp=drive_link" TargetMode="External"/><Relationship Id="rId4" Type="http://schemas.openxmlformats.org/officeDocument/2006/relationships/hyperlink" Target="https://drive.google.com/drive/folders/1LB7eJd90IGOIImOwkEZntPfykbwmA7I7?usp=sharing" TargetMode="External"/><Relationship Id="rId9" Type="http://schemas.openxmlformats.org/officeDocument/2006/relationships/hyperlink" Target="https://drive.google.com/file/d/1Dybq6aPieHo00DRFyhTrbHuDmJFOU7-f/view?usp=drive_link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emf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emf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t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7" Type="http://schemas.openxmlformats.org/officeDocument/2006/relationships/image" Target="../media/image4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jpeg"/><Relationship Id="rId5" Type="http://schemas.openxmlformats.org/officeDocument/2006/relationships/image" Target="../media/image47.jpeg"/><Relationship Id="rId4" Type="http://schemas.openxmlformats.org/officeDocument/2006/relationships/image" Target="../media/image4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2405" y="3622990"/>
            <a:ext cx="3509818" cy="2632363"/>
          </a:xfrm>
          <a:prstGeom prst="rect">
            <a:avLst/>
          </a:prstGeom>
        </p:spPr>
      </p:pic>
      <p:sp>
        <p:nvSpPr>
          <p:cNvPr id="94" name="Google Shape;94;p12"/>
          <p:cNvSpPr txBox="1">
            <a:spLocks noGrp="1"/>
          </p:cNvSpPr>
          <p:nvPr>
            <p:ph type="ctrTitle"/>
          </p:nvPr>
        </p:nvSpPr>
        <p:spPr>
          <a:xfrm>
            <a:off x="572386" y="602647"/>
            <a:ext cx="8024962" cy="155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4000"/>
              <a:buFont typeface="Gill Sans"/>
              <a:buNone/>
            </a:pPr>
            <a:r>
              <a:rPr lang="en-US" sz="3100" b="1" dirty="0">
                <a:latin typeface="Arial"/>
                <a:ea typeface="Arial"/>
                <a:cs typeface="Arial"/>
                <a:sym typeface="Arial"/>
              </a:rPr>
              <a:t>Sablefish Background, Biology, and Key Uncertainties</a:t>
            </a:r>
            <a:endParaRPr sz="3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4000"/>
              <a:buFont typeface="Gill Sans"/>
              <a:buNone/>
            </a:pPr>
            <a:r>
              <a:rPr lang="en-US" sz="2700" dirty="0">
                <a:latin typeface="Arial"/>
                <a:ea typeface="Arial"/>
                <a:cs typeface="Arial"/>
                <a:sym typeface="Arial"/>
              </a:rPr>
              <a:t>2026 CIE Review</a:t>
            </a:r>
            <a:endParaRPr sz="27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2"/>
          <p:cNvSpPr txBox="1">
            <a:spLocks noGrp="1"/>
          </p:cNvSpPr>
          <p:nvPr>
            <p:ph type="subTitle" idx="1"/>
          </p:nvPr>
        </p:nvSpPr>
        <p:spPr>
          <a:xfrm>
            <a:off x="447261" y="2160494"/>
            <a:ext cx="7599459" cy="91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Daniel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Goethel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 and Matt Cheng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effectLst/>
              </a:rPr>
              <a:t>Contributors: Kevin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effectLst/>
              </a:rPr>
              <a:t>Siwicke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and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effectLst/>
              </a:rPr>
              <a:t> Katy Echave</a:t>
            </a:r>
          </a:p>
        </p:txBody>
      </p:sp>
      <p:pic>
        <p:nvPicPr>
          <p:cNvPr id="96" name="Google Shape;96;p12"/>
          <p:cNvPicPr preferRelativeResize="0"/>
          <p:nvPr/>
        </p:nvPicPr>
        <p:blipFill rotWithShape="1">
          <a:blip r:embed="rId4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19136" y="932441"/>
            <a:ext cx="3733985" cy="314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2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05691" y="5513990"/>
            <a:ext cx="1556418" cy="54319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2"/>
          <p:cNvSpPr txBox="1"/>
          <p:nvPr/>
        </p:nvSpPr>
        <p:spPr>
          <a:xfrm>
            <a:off x="2329361" y="3103632"/>
            <a:ext cx="245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June 2026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9" name="Picture 2" descr="USS Sablefish SS-303 Patch | Flying Tigers Surplus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2386" y="3611512"/>
            <a:ext cx="2643870" cy="263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71709" y="3622990"/>
            <a:ext cx="3502805" cy="26271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1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230D923-5B34-43AA-9365-6642888C1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560" y="2329654"/>
            <a:ext cx="6368034" cy="339852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97C9435-178B-1344-E77A-831E27C0F540}"/>
              </a:ext>
            </a:extLst>
          </p:cNvPr>
          <p:cNvSpPr/>
          <p:nvPr/>
        </p:nvSpPr>
        <p:spPr>
          <a:xfrm>
            <a:off x="3173506" y="2868708"/>
            <a:ext cx="5477435" cy="2330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7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56BF5499-7FD6-5E45-F4D3-740B60C65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844132BD-75DA-BCF0-7851-977792915B7C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4DEC0854-9471-39EB-7FDA-3985A54A94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and Materials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08;p13">
            <a:extLst>
              <a:ext uri="{FF2B5EF4-FFF2-40B4-BE49-F238E27FC236}">
                <a16:creationId xmlns:a16="http://schemas.microsoft.com/office/drawing/2014/main" id="{F455DF11-52A1-AAE5-A02D-9065DBD2C8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2029970"/>
            <a:ext cx="4734879" cy="454284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CIE GitHub Repo:</a:t>
            </a:r>
          </a:p>
          <a:p>
            <a:pPr lvl="1"/>
            <a:r>
              <a:rPr lang="en-US" dirty="0">
                <a:hlinkClick r:id="rId3"/>
              </a:rPr>
              <a:t>https://github.com/dgoethel-noaa/2026_Sablefish_CIE/tree/main</a:t>
            </a:r>
            <a:endParaRPr lang="en-US" dirty="0"/>
          </a:p>
          <a:p>
            <a:pPr lvl="1"/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Contains model runs and model outputs</a:t>
            </a:r>
          </a:p>
          <a:p>
            <a:r>
              <a:rPr lang="en-US" dirty="0"/>
              <a:t>CIE Doc Repo:</a:t>
            </a:r>
          </a:p>
          <a:p>
            <a:pPr lvl="1"/>
            <a:r>
              <a:rPr lang="en-US" dirty="0">
                <a:hlinkClick r:id="rId4"/>
              </a:rPr>
              <a:t>https://drive.google.com/drive/folders/1LB7eJd90IGOIImOwkEZntPfykbwmA7I7?usp=sharing</a:t>
            </a:r>
            <a:endParaRPr lang="en-US" dirty="0"/>
          </a:p>
          <a:p>
            <a:pPr lvl="1"/>
            <a:r>
              <a:rPr lang="en-US" dirty="0"/>
              <a:t>Contains files for review and background files</a:t>
            </a:r>
          </a:p>
          <a:p>
            <a:pPr lvl="1"/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lvl="1">
              <a:spcBef>
                <a:spcPts val="1000"/>
              </a:spcBef>
              <a:spcAft>
                <a:spcPts val="1000"/>
              </a:spcAft>
            </a:pPr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7" name="Google Shape;108;p13">
            <a:extLst>
              <a:ext uri="{FF2B5EF4-FFF2-40B4-BE49-F238E27FC236}">
                <a16:creationId xmlns:a16="http://schemas.microsoft.com/office/drawing/2014/main" id="{A3B8891E-4B51-8EC6-B268-76D3B6385655}"/>
              </a:ext>
            </a:extLst>
          </p:cNvPr>
          <p:cNvSpPr txBox="1">
            <a:spLocks/>
          </p:cNvSpPr>
          <p:nvPr/>
        </p:nvSpPr>
        <p:spPr>
          <a:xfrm>
            <a:off x="5421985" y="1771290"/>
            <a:ext cx="5924258" cy="4542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18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12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56"/>
              <a:buFont typeface="Arial"/>
              <a:buChar char="◼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56"/>
              <a:buFont typeface="Arial"/>
              <a:buChar char="◼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56"/>
              <a:buFont typeface="Arial"/>
              <a:buChar char="◼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56"/>
              <a:buFont typeface="Arial"/>
              <a:buChar char="◼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656"/>
              <a:buFont typeface="Arial"/>
              <a:buChar char="◼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3444" indent="0" algn="ctr">
              <a:buNone/>
            </a:pPr>
            <a:r>
              <a:rPr lang="en-US" b="1" dirty="0"/>
              <a:t>Documents For Review (available </a:t>
            </a:r>
            <a:r>
              <a:rPr lang="en-US" b="1" u="sng" dirty="0">
                <a:hlinkClick r:id="rId5"/>
              </a:rPr>
              <a:t>here</a:t>
            </a:r>
            <a:r>
              <a:rPr lang="en-US" b="1" dirty="0"/>
              <a:t>)</a:t>
            </a:r>
            <a:endParaRPr lang="en-US" dirty="0"/>
          </a:p>
          <a:p>
            <a:pPr lvl="0"/>
            <a:r>
              <a:rPr lang="en-US" b="1" dirty="0"/>
              <a:t>2026 Assessment of the Sablefish Stock in Alaska: 2026 Center for Independent Experts (CIE) Review Document (</a:t>
            </a:r>
            <a:r>
              <a:rPr lang="en-US" b="1" u="sng" dirty="0">
                <a:hlinkClick r:id="rId6"/>
              </a:rPr>
              <a:t>here</a:t>
            </a:r>
            <a:r>
              <a:rPr lang="en-US" b="1" dirty="0"/>
              <a:t>)</a:t>
            </a:r>
          </a:p>
          <a:p>
            <a:pPr lvl="0"/>
            <a:r>
              <a:rPr lang="en-US" dirty="0"/>
              <a:t>Appendix 3A. The Spatial Population over Regional Components (</a:t>
            </a:r>
            <a:r>
              <a:rPr lang="en-US" dirty="0" err="1"/>
              <a:t>SPoRC</a:t>
            </a:r>
            <a:r>
              <a:rPr lang="en-US" dirty="0"/>
              <a:t>) Model: Technical Description of the Assessment Model for Sablefish (</a:t>
            </a:r>
            <a:r>
              <a:rPr lang="en-US" u="sng" dirty="0">
                <a:hlinkClick r:id="rId7"/>
              </a:rPr>
              <a:t>here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Appendix 3B. Model Building and Bridging Exercise for the Sablefish Single Region Models (Bridging from Model </a:t>
            </a:r>
            <a:r>
              <a:rPr lang="en-US" i="1" dirty="0"/>
              <a:t>25.12</a:t>
            </a:r>
            <a:r>
              <a:rPr lang="en-US" dirty="0"/>
              <a:t> to </a:t>
            </a:r>
            <a:r>
              <a:rPr lang="en-US" i="1" dirty="0"/>
              <a:t>26.1_1Reg</a:t>
            </a:r>
            <a:r>
              <a:rPr lang="en-US" dirty="0"/>
              <a:t>) (</a:t>
            </a:r>
            <a:r>
              <a:rPr lang="en-US" u="sng" dirty="0">
                <a:hlinkClick r:id="rId8"/>
              </a:rPr>
              <a:t>here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Appendix 3C. Development of a Fleets-as-Areas (FAA) Stock Assessment Model for Alaska Sablefish (</a:t>
            </a:r>
            <a:r>
              <a:rPr lang="en-US" i="1" dirty="0"/>
              <a:t>Model 26.2_FAA</a:t>
            </a:r>
            <a:r>
              <a:rPr lang="en-US" dirty="0"/>
              <a:t>) (</a:t>
            </a:r>
            <a:r>
              <a:rPr lang="en-US" u="sng" dirty="0">
                <a:hlinkClick r:id="rId9"/>
              </a:rPr>
              <a:t>here</a:t>
            </a:r>
            <a:r>
              <a:rPr lang="en-US" dirty="0"/>
              <a:t>)</a:t>
            </a:r>
          </a:p>
          <a:p>
            <a:pPr lvl="0"/>
            <a:r>
              <a:rPr lang="en-US" b="1" dirty="0"/>
              <a:t>Appendix 3D. Results of Spatial Stock Assessment Models for Alaska Sablefish (</a:t>
            </a:r>
            <a:r>
              <a:rPr lang="en-US" b="1" u="sng" dirty="0">
                <a:hlinkClick r:id="rId10"/>
              </a:rPr>
              <a:t>here</a:t>
            </a:r>
            <a:r>
              <a:rPr lang="en-US" b="1" dirty="0"/>
              <a:t>)</a:t>
            </a:r>
          </a:p>
          <a:p>
            <a:pPr lvl="0"/>
            <a:r>
              <a:rPr lang="en-US" b="1" dirty="0"/>
              <a:t>Appendix 3E. Evaluating Alternative Assessment Structures for Alaska Sablefish Under Survey Design Changes via Closed-Loop Simulation (</a:t>
            </a:r>
            <a:r>
              <a:rPr lang="en-US" b="1" u="sng" dirty="0">
                <a:hlinkClick r:id="rId11"/>
              </a:rPr>
              <a:t>here</a:t>
            </a:r>
            <a:r>
              <a:rPr lang="en-US" b="1" dirty="0"/>
              <a:t>)</a:t>
            </a:r>
          </a:p>
          <a:p>
            <a:pPr lvl="1"/>
            <a:endParaRPr lang="en-US" dirty="0"/>
          </a:p>
          <a:p>
            <a:pPr lvl="1">
              <a:spcBef>
                <a:spcPts val="1000"/>
              </a:spcBef>
              <a:spcAft>
                <a:spcPts val="1000"/>
              </a:spcAft>
            </a:pPr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5707C5A-3F97-B8C2-8ECF-5BEF9111ABAA}"/>
              </a:ext>
            </a:extLst>
          </p:cNvPr>
          <p:cNvSpPr/>
          <p:nvPr/>
        </p:nvSpPr>
        <p:spPr>
          <a:xfrm>
            <a:off x="5889807" y="2088770"/>
            <a:ext cx="6133272" cy="134022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71DA8BC-C7F9-D415-BF76-1D75BC4DEBFD}"/>
              </a:ext>
            </a:extLst>
          </p:cNvPr>
          <p:cNvSpPr/>
          <p:nvPr/>
        </p:nvSpPr>
        <p:spPr>
          <a:xfrm>
            <a:off x="5889807" y="4782810"/>
            <a:ext cx="6133272" cy="44819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977E18-37AB-5417-D49B-5160A9A9EE51}"/>
              </a:ext>
            </a:extLst>
          </p:cNvPr>
          <p:cNvSpPr txBox="1"/>
          <p:nvPr/>
        </p:nvSpPr>
        <p:spPr>
          <a:xfrm>
            <a:off x="11225220" y="4831150"/>
            <a:ext cx="797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Day 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3FCF30-564A-468A-4FF6-049B1C691F29}"/>
              </a:ext>
            </a:extLst>
          </p:cNvPr>
          <p:cNvSpPr txBox="1"/>
          <p:nvPr/>
        </p:nvSpPr>
        <p:spPr>
          <a:xfrm>
            <a:off x="11259666" y="5421809"/>
            <a:ext cx="797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Day 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EE9D37-08F5-2CCD-A10C-10B7E823535C}"/>
              </a:ext>
            </a:extLst>
          </p:cNvPr>
          <p:cNvSpPr txBox="1"/>
          <p:nvPr/>
        </p:nvSpPr>
        <p:spPr>
          <a:xfrm>
            <a:off x="11225220" y="2154110"/>
            <a:ext cx="797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Days 1-2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882DB2F-B0A8-F890-D0B9-D9C531C0898A}"/>
              </a:ext>
            </a:extLst>
          </p:cNvPr>
          <p:cNvSpPr/>
          <p:nvPr/>
        </p:nvSpPr>
        <p:spPr>
          <a:xfrm>
            <a:off x="5889807" y="5271154"/>
            <a:ext cx="6133272" cy="66347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E2A2E14-B383-B141-0242-EE35CDA9CEC3}"/>
              </a:ext>
            </a:extLst>
          </p:cNvPr>
          <p:cNvSpPr/>
          <p:nvPr/>
        </p:nvSpPr>
        <p:spPr>
          <a:xfrm>
            <a:off x="5886928" y="3452406"/>
            <a:ext cx="6133272" cy="130537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408F9DF-0C35-E306-DC19-F59BE7C87A96}"/>
              </a:ext>
            </a:extLst>
          </p:cNvPr>
          <p:cNvSpPr txBox="1"/>
          <p:nvPr/>
        </p:nvSpPr>
        <p:spPr>
          <a:xfrm>
            <a:off x="11259665" y="3966972"/>
            <a:ext cx="797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Day 2</a:t>
            </a:r>
          </a:p>
        </p:txBody>
      </p:sp>
    </p:spTree>
    <p:extLst>
      <p:ext uri="{BB962C8B-B14F-4D97-AF65-F5344CB8AC3E}">
        <p14:creationId xmlns:p14="http://schemas.microsoft.com/office/powerpoint/2010/main" val="130188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Sablefish Concerns (foreshadowing)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3"/>
          <p:cNvSpPr txBox="1">
            <a:spLocks noGrp="1"/>
          </p:cNvSpPr>
          <p:nvPr>
            <p:ph type="body" idx="1"/>
          </p:nvPr>
        </p:nvSpPr>
        <p:spPr>
          <a:xfrm>
            <a:off x="581192" y="2214283"/>
            <a:ext cx="8870626" cy="439270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>
                <a:ea typeface="Arial"/>
              </a:rPr>
              <a:t>How best to handle recent changes in NOAA Longline Survey (LLS) design?</a:t>
            </a:r>
          </a:p>
          <a:p>
            <a:r>
              <a:rPr lang="en-US" dirty="0"/>
              <a:t>Should a fleets-as-areas (FAA) model be used to avoid extrapolating LLS indices? (</a:t>
            </a:r>
            <a:r>
              <a:rPr lang="en-US" dirty="0" err="1"/>
              <a:t>ToR</a:t>
            </a:r>
            <a:r>
              <a:rPr lang="en-US" dirty="0"/>
              <a:t> 1+2)</a:t>
            </a:r>
          </a:p>
          <a:p>
            <a:r>
              <a:rPr lang="en-US" dirty="0"/>
              <a:t>How can the spatial model be improved for potential future use as the basis of management advice? (</a:t>
            </a:r>
            <a:r>
              <a:rPr lang="en-US" dirty="0" err="1"/>
              <a:t>ToR</a:t>
            </a:r>
            <a:r>
              <a:rPr lang="en-US" dirty="0"/>
              <a:t> 3)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80A7C-FAB3-4956-8CCD-EFD9153514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14909" y="618654"/>
            <a:ext cx="2677092" cy="26949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59FD7D-E71A-4ECB-9C29-AC6B9E843E8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18314" y="3177766"/>
            <a:ext cx="2673686" cy="20537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9305BB-AEFE-4C02-964D-5455EBDF9DE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19191" y="5231495"/>
            <a:ext cx="2672809" cy="16265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27AB8E-35EB-7BB0-70E9-A691A71111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8342" y="4967395"/>
            <a:ext cx="6736325" cy="1281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46BD0CB0-5615-750E-52E2-ADAB596F8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5193559E-0F9C-72B0-39CC-27790D4C663F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EA607C43-0D67-7F3D-5965-C26D411C13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Sablefish Concerns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3">
            <a:extLst>
              <a:ext uri="{FF2B5EF4-FFF2-40B4-BE49-F238E27FC236}">
                <a16:creationId xmlns:a16="http://schemas.microsoft.com/office/drawing/2014/main" id="{658319AC-0EB5-2B42-EF58-138D387BF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2554941"/>
            <a:ext cx="5918220" cy="40452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Are best practices for modeling sex- and fleet-structure being used in the assessment?</a:t>
            </a:r>
          </a:p>
          <a:p>
            <a:r>
              <a:rPr lang="en-US" dirty="0"/>
              <a:t>Which data should be included in the assessment (e.g., indices, length compositions)?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B15D77-257B-1CE7-92C0-6D4FB1E9E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345" y="5212561"/>
            <a:ext cx="5015420" cy="1169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66CEE9-348C-76AE-4F41-8541E7FA0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498" y="3026463"/>
            <a:ext cx="5015419" cy="10750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21ED7E-0537-5804-6081-C2BCF1A555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9429" y="2052914"/>
            <a:ext cx="5004536" cy="8891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6CB67C-8151-DC53-BD16-6EAF5A53DB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6345" y="4244897"/>
            <a:ext cx="5015420" cy="83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33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214DE0FF-C5B1-285F-2F04-0DBDBD4A8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CD3C5032-7847-94DF-161E-AC97FFBC394A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954E8D71-B086-29AE-56BD-7FAEEF28DC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3">
            <a:extLst>
              <a:ext uri="{FF2B5EF4-FFF2-40B4-BE49-F238E27FC236}">
                <a16:creationId xmlns:a16="http://schemas.microsoft.com/office/drawing/2014/main" id="{21E0AD38-8B5F-D5F4-B9F6-C9A6E5DDF2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7028" y="1945341"/>
            <a:ext cx="7836668" cy="430305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Throughout the documents/presentations:</a:t>
            </a:r>
          </a:p>
          <a:p>
            <a:pPr lvl="1"/>
            <a:r>
              <a:rPr lang="en-US" dirty="0"/>
              <a:t>Mass (i.e., for spawning stock biomass, SSB, biomass, and catch) is reported in metric tons </a:t>
            </a:r>
          </a:p>
          <a:p>
            <a:pPr lvl="2"/>
            <a:r>
              <a:rPr lang="en-US" dirty="0"/>
              <a:t>Abbreviated as either mt or t (equivalent to a </a:t>
            </a:r>
            <a:r>
              <a:rPr lang="en-US" dirty="0" err="1"/>
              <a:t>tonne</a:t>
            </a:r>
            <a:r>
              <a:rPr lang="en-US" dirty="0"/>
              <a:t>) or kilotons (kt; equivalent to 1,000 metric tons).</a:t>
            </a:r>
          </a:p>
          <a:p>
            <a:pPr lvl="2"/>
            <a:r>
              <a:rPr lang="en-US" dirty="0"/>
              <a:t>mt is standard notation in US to avoid confusion with short ton or long ton.</a:t>
            </a:r>
          </a:p>
          <a:p>
            <a:pPr lvl="1"/>
            <a:r>
              <a:rPr lang="en-US" dirty="0"/>
              <a:t>Recruitment (age-2) and abundance are in millions of fish </a:t>
            </a:r>
          </a:p>
          <a:p>
            <a:pPr lvl="1"/>
            <a:r>
              <a:rPr lang="en-US" dirty="0"/>
              <a:t>Fishing and natural mortality are instantaneous rates (year</a:t>
            </a:r>
            <a:r>
              <a:rPr lang="en-US" baseline="30000" dirty="0"/>
              <a:t>-1</a:t>
            </a:r>
            <a:r>
              <a:rPr lang="en-US" dirty="0"/>
              <a:t>).</a:t>
            </a:r>
          </a:p>
        </p:txBody>
      </p:sp>
      <p:pic>
        <p:nvPicPr>
          <p:cNvPr id="1026" name="Picture 2" descr="Great intro to measurement">
            <a:extLst>
              <a:ext uri="{FF2B5EF4-FFF2-40B4-BE49-F238E27FC236}">
                <a16:creationId xmlns:a16="http://schemas.microsoft.com/office/drawing/2014/main" id="{1B16048D-DBA6-CE9E-8E60-A06A039857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80" b="12606"/>
          <a:stretch>
            <a:fillRect/>
          </a:stretch>
        </p:blipFill>
        <p:spPr bwMode="auto">
          <a:xfrm>
            <a:off x="3260832" y="4814047"/>
            <a:ext cx="2489060" cy="1864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 unit meme : r/sciencememes">
            <a:extLst>
              <a:ext uri="{FF2B5EF4-FFF2-40B4-BE49-F238E27FC236}">
                <a16:creationId xmlns:a16="http://schemas.microsoft.com/office/drawing/2014/main" id="{B903D9FF-C360-43DA-0B8E-46617D3B9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273" y="2097741"/>
            <a:ext cx="3359035" cy="4480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64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Structure and Spatial Distribution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3"/>
          <p:cNvSpPr txBox="1">
            <a:spLocks noGrp="1"/>
          </p:cNvSpPr>
          <p:nvPr>
            <p:ph type="body" idx="1"/>
          </p:nvPr>
        </p:nvSpPr>
        <p:spPr>
          <a:xfrm>
            <a:off x="433326" y="2265866"/>
            <a:ext cx="6907777" cy="43500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Distributed across northwestern Pacific from Mexico through Japan</a:t>
            </a:r>
          </a:p>
          <a:p>
            <a:pPr lvl="1"/>
            <a:r>
              <a:rPr lang="en-US" dirty="0"/>
              <a:t>Highest concentrations in Alaska</a:t>
            </a:r>
          </a:p>
          <a:p>
            <a:r>
              <a:rPr lang="en-US" dirty="0">
                <a:ea typeface="Arial"/>
              </a:rPr>
              <a:t>No significant genetic structure across their range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High mobility and dispersal</a:t>
            </a:r>
          </a:p>
          <a:p>
            <a:r>
              <a:rPr lang="en-US" dirty="0">
                <a:ea typeface="Arial"/>
              </a:rPr>
              <a:t>Assessed and managed as separate stocks on:</a:t>
            </a:r>
          </a:p>
          <a:p>
            <a:pPr lvl="1"/>
            <a:r>
              <a:rPr lang="en-US" dirty="0">
                <a:ea typeface="Arial"/>
              </a:rPr>
              <a:t>US West Coast (Pacific Council)</a:t>
            </a:r>
          </a:p>
          <a:p>
            <a:pPr lvl="1"/>
            <a:r>
              <a:rPr lang="en-US" dirty="0">
                <a:ea typeface="Arial"/>
              </a:rPr>
              <a:t>Canadian British Columbia (DFO)</a:t>
            </a:r>
          </a:p>
          <a:p>
            <a:pPr lvl="1"/>
            <a:r>
              <a:rPr lang="en-US" b="1" dirty="0">
                <a:ea typeface="Arial"/>
              </a:rPr>
              <a:t>Alaska Federal Waters (North Pacific Council)</a:t>
            </a:r>
            <a:endParaRPr lang="en-US" b="1" dirty="0"/>
          </a:p>
          <a:p>
            <a:pPr lvl="1"/>
            <a:r>
              <a:rPr lang="en-US" dirty="0">
                <a:ea typeface="Arial"/>
              </a:rPr>
              <a:t>Alaska State Waters (ADFG)</a:t>
            </a:r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lvl="1"/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3D1846-57FA-9D93-DE1F-76B3BEB5FE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4078" y="1955611"/>
            <a:ext cx="4285036" cy="1838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0BA849-48F4-08E9-ACD6-8D4D5295FF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07017" y="2328621"/>
            <a:ext cx="918433" cy="839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D2E300-22A2-ABA4-34ED-7551AC619AFD}"/>
              </a:ext>
            </a:extLst>
          </p:cNvPr>
          <p:cNvSpPr txBox="1"/>
          <p:nvPr/>
        </p:nvSpPr>
        <p:spPr>
          <a:xfrm>
            <a:off x="10570769" y="1989354"/>
            <a:ext cx="1390927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Mateo et al. (2018)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75903F-8B1E-68B7-6002-AA1F3D1769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656" t="5011" r="2504" b="13439"/>
          <a:stretch>
            <a:fillRect/>
          </a:stretch>
        </p:blipFill>
        <p:spPr>
          <a:xfrm>
            <a:off x="8741956" y="3974428"/>
            <a:ext cx="3330104" cy="23557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3019E4-E3B1-CC26-85A0-38F4594784F7}"/>
              </a:ext>
            </a:extLst>
          </p:cNvPr>
          <p:cNvSpPr txBox="1"/>
          <p:nvPr/>
        </p:nvSpPr>
        <p:spPr>
          <a:xfrm>
            <a:off x="8601832" y="5143350"/>
            <a:ext cx="2050999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AK</a:t>
            </a:r>
          </a:p>
          <a:p>
            <a:r>
              <a:rPr lang="en-US" sz="2400" dirty="0">
                <a:solidFill>
                  <a:srgbClr val="FFC000"/>
                </a:solidFill>
              </a:rPr>
              <a:t>DFO</a:t>
            </a:r>
          </a:p>
          <a:p>
            <a:r>
              <a:rPr lang="en-US" sz="2400" dirty="0">
                <a:solidFill>
                  <a:srgbClr val="C00000"/>
                </a:solidFill>
              </a:rPr>
              <a:t>US WC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5B9903-FD4E-F37A-9CF8-597D5074B999}"/>
              </a:ext>
            </a:extLst>
          </p:cNvPr>
          <p:cNvSpPr txBox="1"/>
          <p:nvPr/>
        </p:nvSpPr>
        <p:spPr>
          <a:xfrm>
            <a:off x="9425932" y="6416604"/>
            <a:ext cx="196215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Kapur et al. (2024)</a:t>
            </a:r>
          </a:p>
        </p:txBody>
      </p:sp>
    </p:spTree>
    <p:extLst>
      <p:ext uri="{BB962C8B-B14F-4D97-AF65-F5344CB8AC3E}">
        <p14:creationId xmlns:p14="http://schemas.microsoft.com/office/powerpoint/2010/main" val="316966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6D10D89B-8BCB-3898-7C2C-2DC85AB53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C6CB147C-2CA1-2627-EFB1-FC02B33D8EAA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815768B9-EE89-69E9-91B5-0E180D917B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75292782-F2CE-07B4-C102-7A3045EC8E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Structure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3">
            <a:extLst>
              <a:ext uri="{FF2B5EF4-FFF2-40B4-BE49-F238E27FC236}">
                <a16:creationId xmlns:a16="http://schemas.microsoft.com/office/drawing/2014/main" id="{FFACA078-7C60-B4FC-DEE3-C6E9A3633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33325" y="2179543"/>
            <a:ext cx="6907777" cy="414169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>
                <a:ea typeface="Arial"/>
              </a:rPr>
              <a:t>Only AK-wide managed stock for NPFMC</a:t>
            </a:r>
          </a:p>
          <a:p>
            <a:r>
              <a:rPr lang="en-US" dirty="0">
                <a:ea typeface="Arial"/>
              </a:rPr>
              <a:t>Spans 3 large marine ecosystems: </a:t>
            </a:r>
          </a:p>
          <a:p>
            <a:pPr lvl="1"/>
            <a:r>
              <a:rPr lang="en-US" dirty="0">
                <a:ea typeface="Arial"/>
              </a:rPr>
              <a:t>Bering Sea (BS) </a:t>
            </a:r>
          </a:p>
          <a:p>
            <a:pPr lvl="1"/>
            <a:r>
              <a:rPr lang="en-US" dirty="0">
                <a:ea typeface="Arial"/>
              </a:rPr>
              <a:t>Aleutian Islands (AI)</a:t>
            </a:r>
          </a:p>
          <a:p>
            <a:pPr lvl="1"/>
            <a:r>
              <a:rPr lang="en-US" dirty="0">
                <a:ea typeface="Arial"/>
              </a:rPr>
              <a:t>Gulf of Alaska (GOA)</a:t>
            </a:r>
          </a:p>
          <a:p>
            <a:r>
              <a:rPr lang="en-US" dirty="0"/>
              <a:t>Alaska-wide Acceptable Biological Catch (ABC) is apportioned to the 6 management regions:</a:t>
            </a:r>
          </a:p>
          <a:p>
            <a:pPr lvl="1"/>
            <a:r>
              <a:rPr lang="en-US" dirty="0"/>
              <a:t>BS, AI, WG, CG, EG (WY/SEO) </a:t>
            </a:r>
            <a:endParaRPr lang="en-US" dirty="0">
              <a:ea typeface="Arial"/>
            </a:endParaRPr>
          </a:p>
          <a:p>
            <a:pPr lvl="1"/>
            <a:r>
              <a:rPr lang="en-US" dirty="0"/>
              <a:t>Based on moving 5 year average of LLS biomass proportions across regions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Attempts to distribute fishing pressure proportional to biomass</a:t>
            </a:r>
          </a:p>
          <a:p>
            <a:pPr lvl="1"/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lvl="1"/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0BC382-70E6-8F2C-C371-93C2EEC2304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41102" y="2865233"/>
            <a:ext cx="4799131" cy="277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8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48D00B69-072C-4D42-741A-1A3DC8ABE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B9719C6D-8E3D-A5BA-541C-F0AF0DC38630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58E74D56-17A3-4249-EC1F-A7BC4BAB7D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History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3">
            <a:extLst>
              <a:ext uri="{FF2B5EF4-FFF2-40B4-BE49-F238E27FC236}">
                <a16:creationId xmlns:a16="http://schemas.microsoft.com/office/drawing/2014/main" id="{8D23F4C0-54F4-48B0-1BA2-F5BD3A712C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33326" y="2294965"/>
            <a:ext cx="5525813" cy="43209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Long-lived (&gt; 90 years) </a:t>
            </a:r>
          </a:p>
          <a:p>
            <a:r>
              <a:rPr lang="en-US" dirty="0"/>
              <a:t>Deep-dwelling (100 – 1500 m)</a:t>
            </a:r>
          </a:p>
          <a:p>
            <a:r>
              <a:rPr lang="en-US" dirty="0"/>
              <a:t>Sexually dimorphic growth</a:t>
            </a:r>
          </a:p>
          <a:p>
            <a:pPr lvl="1"/>
            <a:r>
              <a:rPr lang="en-US" dirty="0"/>
              <a:t>Fast growing as juveniles</a:t>
            </a:r>
          </a:p>
          <a:p>
            <a:r>
              <a:rPr lang="en-US" dirty="0"/>
              <a:t>Late maturation </a:t>
            </a:r>
          </a:p>
          <a:p>
            <a:pPr lvl="1"/>
            <a:r>
              <a:rPr lang="en-US" i="1" dirty="0"/>
              <a:t>a</a:t>
            </a:r>
            <a:r>
              <a:rPr lang="en-US" i="1" baseline="-25000" dirty="0"/>
              <a:t>50%</a:t>
            </a:r>
            <a:r>
              <a:rPr lang="en-US" baseline="-25000" dirty="0"/>
              <a:t> </a:t>
            </a:r>
            <a:r>
              <a:rPr lang="en-US" dirty="0"/>
              <a:t>~ age-7</a:t>
            </a:r>
          </a:p>
          <a:p>
            <a:pPr lvl="1"/>
            <a:r>
              <a:rPr lang="en-US" dirty="0"/>
              <a:t>Fully mature ~ age-12</a:t>
            </a:r>
          </a:p>
          <a:p>
            <a:r>
              <a:rPr lang="en-US" dirty="0"/>
              <a:t>Spasmodic recruitment</a:t>
            </a:r>
          </a:p>
          <a:p>
            <a:r>
              <a:rPr lang="en-US" dirty="0"/>
              <a:t>Juveniles migrate from shallow </a:t>
            </a:r>
            <a:br>
              <a:rPr lang="en-US" dirty="0"/>
            </a:br>
            <a:r>
              <a:rPr lang="en-US" dirty="0"/>
              <a:t>inshore to deep offshore habitat</a:t>
            </a:r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lvl="1"/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541C4B4-6C50-9364-2089-E2E43AC4C493}"/>
              </a:ext>
            </a:extLst>
          </p:cNvPr>
          <p:cNvGrpSpPr>
            <a:grpSpLocks noChangeAspect="1"/>
          </p:cNvGrpSpPr>
          <p:nvPr/>
        </p:nvGrpSpPr>
        <p:grpSpPr>
          <a:xfrm>
            <a:off x="6232862" y="2156632"/>
            <a:ext cx="5959138" cy="3705860"/>
            <a:chOff x="-890734" y="1120287"/>
            <a:chExt cx="7108773" cy="4420794"/>
          </a:xfrm>
        </p:grpSpPr>
        <p:pic>
          <p:nvPicPr>
            <p:cNvPr id="6" name="Picture 2" descr="Life history of a sablefish">
              <a:extLst>
                <a:ext uri="{FF2B5EF4-FFF2-40B4-BE49-F238E27FC236}">
                  <a16:creationId xmlns:a16="http://schemas.microsoft.com/office/drawing/2014/main" id="{C8DF59BA-F952-3312-9C6A-46DAA3EDC3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890734" y="1120287"/>
              <a:ext cx="7108773" cy="4002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AC5EEE5-8A02-4315-0A55-BB624D873D98}"/>
                </a:ext>
              </a:extLst>
            </p:cNvPr>
            <p:cNvSpPr txBox="1"/>
            <p:nvPr/>
          </p:nvSpPr>
          <p:spPr>
            <a:xfrm>
              <a:off x="1186541" y="5122527"/>
              <a:ext cx="3053038" cy="41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80" dirty="0"/>
                <a:t>Shotwell et al. (2023)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431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42AFC09E-C88D-124D-CFC0-27D94E729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01301E3C-45D5-BF38-51D4-2C700F6E4052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340968B3-A25C-D501-30C0-F7A093A5DE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Life History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3">
            <a:extLst>
              <a:ext uri="{FF2B5EF4-FFF2-40B4-BE49-F238E27FC236}">
                <a16:creationId xmlns:a16="http://schemas.microsoft.com/office/drawing/2014/main" id="{4D8D9DA4-1586-ACF9-37F1-C80D830594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33326" y="1999129"/>
            <a:ext cx="5525813" cy="46168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US" dirty="0"/>
              <a:t>Adults are found predominately on the continental slope &gt; 200m</a:t>
            </a:r>
          </a:p>
          <a:p>
            <a:r>
              <a:rPr lang="en-US" dirty="0"/>
              <a:t>Spawning occurs offshore in late winter and early spring (Jan – Mar)</a:t>
            </a:r>
          </a:p>
          <a:p>
            <a:pPr lvl="1"/>
            <a:r>
              <a:rPr lang="en-US" dirty="0"/>
              <a:t>Location of spawning is unknown but may be associated with seamounts</a:t>
            </a:r>
          </a:p>
          <a:p>
            <a:pPr lvl="1"/>
            <a:r>
              <a:rPr lang="en-US" dirty="0"/>
              <a:t>Batch spawners </a:t>
            </a:r>
          </a:p>
          <a:p>
            <a:pPr lvl="1"/>
            <a:r>
              <a:rPr lang="en-US" dirty="0"/>
              <a:t>Potential for skipped spawning especially at younger ages </a:t>
            </a:r>
          </a:p>
          <a:p>
            <a:r>
              <a:rPr lang="en-US" dirty="0"/>
              <a:t>Pelagic eggs and larvae are transported to nearshore waters</a:t>
            </a:r>
          </a:p>
          <a:p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Juveniles settle on continental shelf in nearshore bays (SE AK) and eastern BS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57E020-5A31-812C-D5F4-EE4CC89469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97" t="5789" r="1877" b="3903"/>
          <a:stretch>
            <a:fillRect/>
          </a:stretch>
        </p:blipFill>
        <p:spPr>
          <a:xfrm>
            <a:off x="7444491" y="1026307"/>
            <a:ext cx="3555609" cy="2254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E911C5-A97B-0127-98B1-6BA50D55C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63" y="3281082"/>
            <a:ext cx="5814131" cy="357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2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F588FD78-A28B-9C5A-DE6C-FF9B34AB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CFA7F004-7FAD-DEDD-7680-CE043CCDEEF2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9DEB6B42-EFF5-BD8D-EF00-6C588ACBEA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C9E12A0F-DB6F-56CC-A139-3629105132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Movement and Migration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3">
            <a:extLst>
              <a:ext uri="{FF2B5EF4-FFF2-40B4-BE49-F238E27FC236}">
                <a16:creationId xmlns:a16="http://schemas.microsoft.com/office/drawing/2014/main" id="{6141B938-E940-AE5D-7904-273BAC2E8C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5373" y="1944583"/>
            <a:ext cx="4721907" cy="472309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r>
              <a:rPr lang="en-US" dirty="0"/>
              <a:t>One of the longest running mark-recapture programs in the US</a:t>
            </a:r>
          </a:p>
          <a:p>
            <a:r>
              <a:rPr lang="en-US" b="1" dirty="0"/>
              <a:t>Generally demonstrate a counter-clockwise ontogenetic movement pattern in Alaska</a:t>
            </a:r>
          </a:p>
          <a:p>
            <a:r>
              <a:rPr lang="en-US" dirty="0"/>
              <a:t>BS likely represents a historic nursery area for large cohorts</a:t>
            </a:r>
          </a:p>
          <a:p>
            <a:r>
              <a:rPr lang="en-US" dirty="0"/>
              <a:t>Migrate to adult habitat (offshore slope) between ages 2 and 5</a:t>
            </a:r>
          </a:p>
          <a:p>
            <a:r>
              <a:rPr lang="en-US" dirty="0"/>
              <a:t>Mature sablefish tend to be found in the CG/EG and western AI</a:t>
            </a:r>
          </a:p>
          <a:p>
            <a:r>
              <a:rPr lang="en-US" dirty="0"/>
              <a:t>Extensive transboundary movement 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2DF559-6228-F60C-9598-0AD59331916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7280" y="2048039"/>
            <a:ext cx="6720491" cy="461964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5ED50DB-5FB6-046B-6F9A-68D5097DC5B2}"/>
              </a:ext>
            </a:extLst>
          </p:cNvPr>
          <p:cNvCxnSpPr>
            <a:cxnSpLocks/>
          </p:cNvCxnSpPr>
          <p:nvPr/>
        </p:nvCxnSpPr>
        <p:spPr>
          <a:xfrm flipV="1">
            <a:off x="6985997" y="4751294"/>
            <a:ext cx="3296521" cy="129091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5F9ACAE-08A1-27D0-1A81-B91E299E1C30}"/>
              </a:ext>
            </a:extLst>
          </p:cNvPr>
          <p:cNvSpPr txBox="1"/>
          <p:nvPr/>
        </p:nvSpPr>
        <p:spPr>
          <a:xfrm>
            <a:off x="8225281" y="5623954"/>
            <a:ext cx="2541330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Mature Fish Move Eastward</a:t>
            </a:r>
          </a:p>
          <a:p>
            <a:endParaRPr lang="en-US" b="1" dirty="0">
              <a:solidFill>
                <a:srgbClr val="FFC000"/>
              </a:solidFill>
            </a:endParaRPr>
          </a:p>
          <a:p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13" name="Arrow: Curved Down 12">
            <a:extLst>
              <a:ext uri="{FF2B5EF4-FFF2-40B4-BE49-F238E27FC236}">
                <a16:creationId xmlns:a16="http://schemas.microsoft.com/office/drawing/2014/main" id="{A47A7AE8-BC2A-F215-8E56-EE9306604D35}"/>
              </a:ext>
            </a:extLst>
          </p:cNvPr>
          <p:cNvSpPr/>
          <p:nvPr/>
        </p:nvSpPr>
        <p:spPr>
          <a:xfrm rot="14146996">
            <a:off x="7461332" y="4657483"/>
            <a:ext cx="1069661" cy="559796"/>
          </a:xfrm>
          <a:prstGeom prst="curvedDownArrow">
            <a:avLst>
              <a:gd name="adj1" fmla="val 25000"/>
              <a:gd name="adj2" fmla="val 70994"/>
              <a:gd name="adj3" fmla="val 25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09AE28-149D-281C-0915-7541B6788841}"/>
              </a:ext>
            </a:extLst>
          </p:cNvPr>
          <p:cNvSpPr txBox="1"/>
          <p:nvPr/>
        </p:nvSpPr>
        <p:spPr>
          <a:xfrm>
            <a:off x="6216195" y="3765236"/>
            <a:ext cx="269920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Juvenile Fish Move Westward </a:t>
            </a:r>
            <a:b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(BS Nursery Area?)</a:t>
            </a:r>
            <a:endParaRPr 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16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E02792B2-1A1E-D6CF-4D38-42B6DE60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ED4163D6-3AE4-8089-15A6-BA0162F7764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4547" y="2412837"/>
            <a:ext cx="5669282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B9C29033-58AB-5B75-7254-6B1E650733BD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B6DAF5E8-D07C-65B7-00FC-FB0F850DF6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A25ED1D3-8E2B-33E1-3090-796808212A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and Long-term Trends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3">
            <a:extLst>
              <a:ext uri="{FF2B5EF4-FFF2-40B4-BE49-F238E27FC236}">
                <a16:creationId xmlns:a16="http://schemas.microsoft.com/office/drawing/2014/main" id="{DCB7E0B8-1A51-DCC3-28E7-CD8028FC8A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5373" y="1944583"/>
            <a:ext cx="5302082" cy="472309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Spasmodic recruitment occurs in pulses, rapidly increasing biomass and quotas</a:t>
            </a:r>
          </a:p>
          <a:p>
            <a:pPr lvl="1"/>
            <a:r>
              <a:rPr lang="en-US" dirty="0"/>
              <a:t>Late 1970s, early 2000s, and since 2015</a:t>
            </a:r>
          </a:p>
          <a:p>
            <a:r>
              <a:rPr lang="en-US" dirty="0"/>
              <a:t>Maturing fish must sustain SSB and fishery for 15+ years</a:t>
            </a:r>
          </a:p>
          <a:p>
            <a:r>
              <a:rPr lang="en-US" dirty="0"/>
              <a:t>Stock was on a long-term downward trend until recently </a:t>
            </a:r>
          </a:p>
          <a:p>
            <a:r>
              <a:rPr lang="en-US" dirty="0"/>
              <a:t>Recent increases coincide with onset of marine heatwaves, indicating sablefish might be a ‘climate winner’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97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1C76177A-EFF1-D4BF-F776-F023ED01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BE3B4594-0A4B-B004-969D-FB09C29D0CB5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3CAA163C-66DA-29A9-F34F-24A7860436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Fishery Background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2EDE7-6A88-68B1-D644-B5C1CA076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1947257"/>
            <a:ext cx="6008704" cy="4592939"/>
          </a:xfrm>
        </p:spPr>
        <p:txBody>
          <a:bodyPr>
            <a:normAutofit/>
          </a:bodyPr>
          <a:lstStyle/>
          <a:p>
            <a:r>
              <a:rPr lang="en-US" dirty="0"/>
              <a:t>Japanese fishery started in the 1960s in BS and expanded into the GOA in 1970s</a:t>
            </a:r>
          </a:p>
          <a:p>
            <a:pPr lvl="1"/>
            <a:r>
              <a:rPr lang="en-US" dirty="0"/>
              <a:t>Fully domestic fleet by 1982</a:t>
            </a:r>
          </a:p>
          <a:p>
            <a:r>
              <a:rPr lang="en-US" dirty="0"/>
              <a:t>Traditionally hook and line gear, but recent and rapid transition to longline slinky pots </a:t>
            </a:r>
          </a:p>
          <a:p>
            <a:pPr lvl="1"/>
            <a:r>
              <a:rPr lang="en-US" dirty="0"/>
              <a:t>IFQs since 1995</a:t>
            </a:r>
          </a:p>
          <a:p>
            <a:pPr lvl="1"/>
            <a:r>
              <a:rPr lang="en-US" dirty="0"/>
              <a:t>Full retention fishery </a:t>
            </a:r>
          </a:p>
          <a:p>
            <a:pPr lvl="1"/>
            <a:r>
              <a:rPr lang="en-US" dirty="0"/>
              <a:t>Primarily in GOA, with moderate BS/AI catch</a:t>
            </a:r>
          </a:p>
          <a:p>
            <a:r>
              <a:rPr lang="en-US" dirty="0"/>
              <a:t>Moderate trawl catch from two fleets – pelagic trawl (BS) and bottom trawl (AI + GOA)</a:t>
            </a: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63967953-9AA7-4BDD-35F5-61B97251A7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5" descr="https://lh4.googleusercontent.com/IML3lfX0VVD5g_UNSKU_SyFmoq1L2kLEVgoANkdc5dNiE_ESBfQafEmEiGa_s25SlmbYE9AJCMa3cdVBgHaJxVUxfK4pduMnk4GRAuAeVev9SnkS5wB4MkcTSDQSR8h_Nke1Fy-BwJWYeooT3fjY7s_hIriaZx6zeTE3ZP7gXnP2qKJ9z5zSWNgkwn42mV0b">
            <a:extLst>
              <a:ext uri="{FF2B5EF4-FFF2-40B4-BE49-F238E27FC236}">
                <a16:creationId xmlns:a16="http://schemas.microsoft.com/office/drawing/2014/main" id="{7A894A89-A22B-1C5F-C19E-020787DB8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64500" y="1950551"/>
            <a:ext cx="2320615" cy="141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548BA27-82BD-2750-4876-DD03EE2434E9}"/>
              </a:ext>
            </a:extLst>
          </p:cNvPr>
          <p:cNvGrpSpPr>
            <a:grpSpLocks noChangeAspect="1"/>
          </p:cNvGrpSpPr>
          <p:nvPr/>
        </p:nvGrpSpPr>
        <p:grpSpPr>
          <a:xfrm>
            <a:off x="6688709" y="1947257"/>
            <a:ext cx="1383244" cy="1419524"/>
            <a:chOff x="8815526" y="1296140"/>
            <a:chExt cx="2707690" cy="2778710"/>
          </a:xfrm>
        </p:grpSpPr>
        <p:pic>
          <p:nvPicPr>
            <p:cNvPr id="13" name="Picture 2" descr="https://lh6.googleusercontent.com/TwfL3R6fkfyWxsOeI9kdSEV2Rq__zGljZ3H0jnVeL05l2K5SP5YJhB_uxlXJLKXHkPli-DoNwRjsYiqlBvB3Ktyoid_A-8hmj8CgL-sKpcAvzd9tHEVXyVk4dSBiaKU7hT76x7wSlrx5eVgYmUxqkM8n-2hS4Lp1UlmtfVfXCzHRTQpvEPh2NXinnsKmvtKY">
              <a:extLst>
                <a:ext uri="{FF2B5EF4-FFF2-40B4-BE49-F238E27FC236}">
                  <a16:creationId xmlns:a16="http://schemas.microsoft.com/office/drawing/2014/main" id="{73E660D3-E19C-3D68-DCA8-B73C593D750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815526" y="1296140"/>
              <a:ext cx="2707690" cy="2778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880ED7F-7911-F629-A3AA-D85BF6CDAE5C}"/>
                </a:ext>
              </a:extLst>
            </p:cNvPr>
            <p:cNvSpPr/>
            <p:nvPr/>
          </p:nvSpPr>
          <p:spPr>
            <a:xfrm rot="20873318">
              <a:off x="10589660" y="3242376"/>
              <a:ext cx="529461" cy="355106"/>
            </a:xfrm>
            <a:prstGeom prst="rect">
              <a:avLst/>
            </a:prstGeom>
            <a:gradFill flip="none" rotWithShape="1">
              <a:gsLst>
                <a:gs pos="0">
                  <a:srgbClr val="3D3D3D">
                    <a:lumMod val="20000"/>
                    <a:lumOff val="80000"/>
                    <a:shade val="30000"/>
                    <a:satMod val="115000"/>
                  </a:srgbClr>
                </a:gs>
                <a:gs pos="50000">
                  <a:srgbClr val="3D3D3D">
                    <a:lumMod val="20000"/>
                    <a:lumOff val="80000"/>
                    <a:shade val="67500"/>
                    <a:satMod val="115000"/>
                  </a:srgbClr>
                </a:gs>
                <a:gs pos="100000">
                  <a:srgbClr val="3D3D3D">
                    <a:lumMod val="20000"/>
                    <a:lumOff val="80000"/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097280">
                <a:buClrTx/>
                <a:defRPr/>
              </a:pPr>
              <a:endParaRPr lang="en-US" sz="2160" dirty="0">
                <a:solidFill>
                  <a:srgbClr val="FFFFFF"/>
                </a:solidFill>
                <a:ea typeface="+mn-ea"/>
                <a:cs typeface="+mn-cs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F82403C-00FC-1D56-93EB-79600EBD80B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83927" y="1947257"/>
            <a:ext cx="1386241" cy="14195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99427CA-5191-2AA3-036A-58A12C733A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73294" y="3630702"/>
            <a:ext cx="5163677" cy="322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8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Whale Depredation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81193" y="1892856"/>
            <a:ext cx="6402314" cy="457069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Fishery whale depredation on hook-and-line gear </a:t>
            </a:r>
            <a:r>
              <a:rPr lang="en-US" dirty="0"/>
              <a:t>had been increasing rapidly throughout the 2000s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Primarily killer whales in the western regions (AI, BS, and WG) and sperm whales in the eastern regions (CG, EG)</a:t>
            </a:r>
          </a:p>
          <a:p>
            <a:r>
              <a:rPr lang="en-US" dirty="0"/>
              <a:t>Depredation lower in AI and BS due to use of pot gear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pot gear was legalized in the GOA depredation has decreased rapidly as the fishery has shifted to primarily to slinky pots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507" y="2332116"/>
            <a:ext cx="4947530" cy="3092205"/>
          </a:xfrm>
          <a:prstGeom prst="rect">
            <a:avLst/>
          </a:prstGeom>
        </p:spPr>
      </p:pic>
      <p:sp>
        <p:nvSpPr>
          <p:cNvPr id="106" name="Google Shape;106;p1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39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81193" y="1981200"/>
            <a:ext cx="6142336" cy="464371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Estimate VBGF based on paired age-lengths from LLS since 1996 (beginning of random sampling)</a:t>
            </a:r>
          </a:p>
          <a:p>
            <a:pPr lvl="1"/>
            <a:r>
              <a:rPr lang="en-US" dirty="0"/>
              <a:t>A pre-1996 growth curve is used for fitting historic Japanese LLS lengths based on bias-corrected length-stratified data (see Echave 2021)</a:t>
            </a:r>
          </a:p>
          <a:p>
            <a:r>
              <a:rPr lang="en-US" dirty="0"/>
              <a:t>Strong sexual dimorphism, </a:t>
            </a:r>
          </a:p>
          <a:p>
            <a:pPr lvl="1"/>
            <a:r>
              <a:rPr lang="en-US" dirty="0"/>
              <a:t>Similar growth patterns until ~ age-5</a:t>
            </a:r>
          </a:p>
          <a:p>
            <a:pPr lvl="1"/>
            <a:r>
              <a:rPr lang="en-US" dirty="0"/>
              <a:t>Much larger asymptotic sizes for females (82 cm vs. 68 cm)</a:t>
            </a:r>
          </a:p>
          <a:p>
            <a:r>
              <a:rPr lang="en-US" dirty="0"/>
              <a:t>Assessment uses size-age transition matrix to convert predicted age compositions to length compositions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F7755E-19A7-C38A-73A3-3DB922C78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493" y="2348752"/>
            <a:ext cx="5459507" cy="363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96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3CCCE4A1-008A-873C-5C27-793908A30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EE7E8FC3-D389-366A-EB24-48C2F8FAE813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745F0A5F-05CA-535A-1C89-63B59C10EE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E11D5-3596-1A0F-6654-145FE91A1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1" y="1843820"/>
            <a:ext cx="10884667" cy="4312024"/>
          </a:xfrm>
        </p:spPr>
        <p:txBody>
          <a:bodyPr>
            <a:normAutofit/>
          </a:bodyPr>
          <a:lstStyle/>
          <a:p>
            <a:r>
              <a:rPr lang="en-US" dirty="0"/>
              <a:t>Estimated based on paired length-weight observations from LLS since 1996 (beginning of weight sampling)</a:t>
            </a:r>
          </a:p>
          <a:p>
            <a:pPr lvl="1"/>
            <a:r>
              <a:rPr lang="en-US" dirty="0"/>
              <a:t>A single weight-at-age curve is used in the assessment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24050A-A932-4B16-25BF-0FD265D17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282" y="3251195"/>
            <a:ext cx="8032387" cy="334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088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42873588-E751-6F5A-48E5-923D64186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5CA7AE2F-C18B-E85D-F134-C2D08F821F52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A75DEBE0-BBB1-F052-8B3F-35DB62B178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Density-Dependence(?)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5E403B-BFA9-7726-CBC3-9BA1DEEB5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2088776"/>
            <a:ext cx="5891325" cy="4329953"/>
          </a:xfrm>
        </p:spPr>
        <p:txBody>
          <a:bodyPr>
            <a:normAutofit/>
          </a:bodyPr>
          <a:lstStyle/>
          <a:p>
            <a:r>
              <a:rPr lang="en-US" dirty="0"/>
              <a:t>Reduced length- and weight-at-age coincides with recent high recruitment events</a:t>
            </a:r>
          </a:p>
          <a:p>
            <a:pPr lvl="1"/>
            <a:r>
              <a:rPr lang="en-US" dirty="0"/>
              <a:t>Likely coupled with environmental drivers</a:t>
            </a:r>
          </a:p>
          <a:p>
            <a:r>
              <a:rPr lang="en-US" dirty="0"/>
              <a:t>Time-varying growth could complicate the use of length compositions in the assessment if not adequately modeled</a:t>
            </a:r>
          </a:p>
          <a:p>
            <a:r>
              <a:rPr lang="en-US" dirty="0"/>
              <a:t>Time-varying weight could have implications for BRPs, SSB, and catch advice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479C94-BA2B-4604-4518-A3905E20A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433" y="1808412"/>
            <a:ext cx="3864005" cy="39703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B23D9E-6044-97A2-D849-5246A3DFB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010" y="5870870"/>
            <a:ext cx="4438623" cy="8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9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137A317E-5A48-88BD-44B3-1B48A4DC4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86DCFFD4-D463-A0B1-A5BB-A5E243591B9F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8CED1C81-6DB7-F81C-0148-651BEDA919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Maturity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D974E-D9DB-5D59-0793-787E36679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1808412"/>
            <a:ext cx="11168130" cy="2040913"/>
          </a:xfrm>
        </p:spPr>
        <p:txBody>
          <a:bodyPr>
            <a:normAutofit/>
          </a:bodyPr>
          <a:lstStyle/>
          <a:p>
            <a:r>
              <a:rPr lang="en-US" dirty="0"/>
              <a:t>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aturity time block based on histological samples</a:t>
            </a:r>
          </a:p>
          <a:p>
            <a:pPr lvl="1"/>
            <a:r>
              <a:rPr lang="en-US" i="1" dirty="0"/>
              <a:t>a</a:t>
            </a:r>
            <a:r>
              <a:rPr lang="en-US" i="1" baseline="-25000" dirty="0"/>
              <a:t>50%</a:t>
            </a:r>
            <a:r>
              <a:rPr lang="en-US" baseline="-25000" dirty="0"/>
              <a:t> </a:t>
            </a:r>
            <a:r>
              <a:rPr lang="en-US" dirty="0"/>
              <a:t>~ age-7</a:t>
            </a:r>
          </a:p>
          <a:p>
            <a:pPr lvl="1"/>
            <a:r>
              <a:rPr lang="en-US" dirty="0"/>
              <a:t>Fully mature ~ age-12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D23700-DF8A-87EF-049D-99C24287B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8941" y="2922736"/>
            <a:ext cx="5047130" cy="377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30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45322EF3-A436-9AFA-BA80-E3682521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EE230849-182F-A407-0D0D-D3C01DAD5804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4C372567-0EC8-3257-56B7-1FBC78DE3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at Recruitment and Sex Ratio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AF63DD-5902-B6A3-C237-E94715B5B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2133600"/>
            <a:ext cx="6877442" cy="4470986"/>
          </a:xfrm>
        </p:spPr>
        <p:txBody>
          <a:bodyPr>
            <a:normAutofit/>
          </a:bodyPr>
          <a:lstStyle/>
          <a:p>
            <a:r>
              <a:rPr lang="en-US" dirty="0"/>
              <a:t>Sablefish appear on continental slope around age-2 at fork length of 45 cm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appear in LLS and LLF around the same age/size, but in relatively low freque</a:t>
            </a:r>
            <a:r>
              <a:rPr lang="en-US" dirty="0"/>
              <a:t>ncy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interactions with </a:t>
            </a:r>
            <a:r>
              <a:rPr lang="en-US" dirty="0"/>
              <a:t>pelagic trawl fishery in the EBS at smaller sizes</a:t>
            </a:r>
          </a:p>
          <a:p>
            <a:r>
              <a:rPr lang="en-US" dirty="0"/>
              <a:t>Assessment models age-2+, length 40 cm+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</a:t>
            </a:r>
            <a:r>
              <a:rPr lang="en-US" dirty="0"/>
              <a:t>ndication of a strong divergence from 50:50 sex ratio based on LLS sampling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325BD8-9A4D-7CA5-A7FA-824E326C42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669"/>
          <a:stretch>
            <a:fillRect/>
          </a:stretch>
        </p:blipFill>
        <p:spPr>
          <a:xfrm>
            <a:off x="9804262" y="1892856"/>
            <a:ext cx="2126218" cy="47961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56CF41-F6F4-3913-CDBD-782637D87E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1606"/>
          <a:stretch>
            <a:fillRect/>
          </a:stretch>
        </p:blipFill>
        <p:spPr>
          <a:xfrm>
            <a:off x="7800684" y="1902934"/>
            <a:ext cx="1845339" cy="480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55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065E926A-33A2-2595-CF5E-8728F3FD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1C73BDD0-1C4C-4FD5-6DC1-D57AA205F6C9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615EF36B-2357-66D7-7E6C-B3CCA783CC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Ageing Error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58373C-59C6-0457-ACC0-1812C18A1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2200275"/>
            <a:ext cx="5638632" cy="4155700"/>
          </a:xfrm>
        </p:spPr>
        <p:txBody>
          <a:bodyPr>
            <a:normAutofit/>
          </a:bodyPr>
          <a:lstStyle/>
          <a:p>
            <a:r>
              <a:rPr lang="en-US" dirty="0"/>
              <a:t>Sablefish are difficult to age</a:t>
            </a:r>
          </a:p>
          <a:p>
            <a:r>
              <a:rPr lang="en-US" dirty="0"/>
              <a:t>Ageing error matrix developed based on 172 known-age otoliths from age-1 tagging studies</a:t>
            </a:r>
          </a:p>
          <a:p>
            <a:r>
              <a:rPr lang="en-US" dirty="0"/>
              <a:t>The ageing error matrix is directly incorporated into the assessment predictions of age compositions to account for uncertainty in the ageing process.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2EAB1A-CCA2-9E35-E171-3C44A9688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060" y="2333136"/>
            <a:ext cx="5114693" cy="35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038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1B1F5AD2-54A1-9C47-DF97-FD778C2A7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100D7E88-F9DA-6548-6C78-8DD41BEDE018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CADCD46E-10F1-E788-9E53-9E4259EDD7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Mortality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53C9A1-0A8D-A26D-F98E-8CFA7E3C1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1963271"/>
            <a:ext cx="5900857" cy="4654229"/>
          </a:xfrm>
        </p:spPr>
        <p:txBody>
          <a:bodyPr>
            <a:normAutofit/>
          </a:bodyPr>
          <a:lstStyle/>
          <a:p>
            <a:r>
              <a:rPr lang="en-US" dirty="0"/>
              <a:t>Natural mortality is difficult to estimate in the assessment</a:t>
            </a:r>
          </a:p>
          <a:p>
            <a:pPr lvl="1"/>
            <a:r>
              <a:rPr lang="en-US" i="1" dirty="0" err="1"/>
              <a:t>a</a:t>
            </a:r>
            <a:r>
              <a:rPr lang="en-US" i="1" baseline="-25000" dirty="0" err="1"/>
              <a:t>max</a:t>
            </a:r>
            <a:r>
              <a:rPr lang="en-US" dirty="0"/>
              <a:t> ~ 94 years in AK (~102 for WC)</a:t>
            </a:r>
          </a:p>
          <a:p>
            <a:pPr lvl="1"/>
            <a:r>
              <a:rPr lang="en-US" dirty="0"/>
              <a:t>Only 6 fish &gt; 70 years old in LLS age compositions</a:t>
            </a:r>
          </a:p>
          <a:p>
            <a:r>
              <a:rPr lang="en-US" i="1" dirty="0"/>
              <a:t>M</a:t>
            </a:r>
            <a:r>
              <a:rPr lang="en-US" dirty="0"/>
              <a:t> estimated to be 0.085 from tagging data</a:t>
            </a:r>
          </a:p>
          <a:p>
            <a:r>
              <a:rPr lang="en-US" dirty="0"/>
              <a:t>An average longevity of 65 years equates to </a:t>
            </a:r>
            <a:r>
              <a:rPr lang="en-US" i="1" dirty="0"/>
              <a:t>M</a:t>
            </a:r>
            <a:r>
              <a:rPr lang="en-US" dirty="0"/>
              <a:t> ~ 0.085</a:t>
            </a:r>
          </a:p>
          <a:p>
            <a:r>
              <a:rPr lang="en-US" dirty="0"/>
              <a:t>WC and BC assessments estimate </a:t>
            </a:r>
            <a:r>
              <a:rPr lang="en-US" i="1" dirty="0"/>
              <a:t>M</a:t>
            </a:r>
            <a:r>
              <a:rPr lang="en-US" dirty="0"/>
              <a:t> ~ 0.09.</a:t>
            </a:r>
          </a:p>
          <a:p>
            <a:r>
              <a:rPr lang="en-US" dirty="0"/>
              <a:t> Current assessment </a:t>
            </a:r>
            <a:r>
              <a:rPr lang="en-US" i="1" dirty="0"/>
              <a:t>M</a:t>
            </a:r>
            <a:r>
              <a:rPr lang="en-US" dirty="0"/>
              <a:t> prior is </a:t>
            </a:r>
            <a:r>
              <a:rPr lang="en-US" i="1" dirty="0"/>
              <a:t>~N</a:t>
            </a:r>
            <a:r>
              <a:rPr lang="en-US" dirty="0"/>
              <a:t>(ln(0.085), 0.1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person holding a large fish&#10;&#10;Description automatically generated">
            <a:extLst>
              <a:ext uri="{FF2B5EF4-FFF2-40B4-BE49-F238E27FC236}">
                <a16:creationId xmlns:a16="http://schemas.microsoft.com/office/drawing/2014/main" id="{08B93E56-5C04-0416-5773-CFB5AB3AC3D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694" b="16160"/>
          <a:stretch>
            <a:fillRect/>
          </a:stretch>
        </p:blipFill>
        <p:spPr>
          <a:xfrm>
            <a:off x="8955742" y="2643595"/>
            <a:ext cx="3111436" cy="288190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1574525-0EDE-6A37-8F64-525D85E17609}"/>
              </a:ext>
            </a:extLst>
          </p:cNvPr>
          <p:cNvGrpSpPr/>
          <p:nvPr/>
        </p:nvGrpSpPr>
        <p:grpSpPr>
          <a:xfrm>
            <a:off x="6546567" y="2218890"/>
            <a:ext cx="2814917" cy="4398611"/>
            <a:chOff x="9612496" y="2227855"/>
            <a:chExt cx="2814917" cy="439861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D0C4533-3102-09B2-5C28-38B878464C60}"/>
                </a:ext>
              </a:extLst>
            </p:cNvPr>
            <p:cNvGrpSpPr/>
            <p:nvPr/>
          </p:nvGrpSpPr>
          <p:grpSpPr>
            <a:xfrm>
              <a:off x="9612496" y="2227855"/>
              <a:ext cx="2814917" cy="4398611"/>
              <a:chOff x="9612496" y="2227855"/>
              <a:chExt cx="2814917" cy="4398611"/>
            </a:xfrm>
          </p:grpSpPr>
          <p:pic>
            <p:nvPicPr>
              <p:cNvPr id="3" name="Picture 2" descr="Plot object">
                <a:extLst>
                  <a:ext uri="{FF2B5EF4-FFF2-40B4-BE49-F238E27FC236}">
                    <a16:creationId xmlns:a16="http://schemas.microsoft.com/office/drawing/2014/main" id="{3B503021-994A-E1FC-B1D2-E911BF730D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10059884" y="2539186"/>
                <a:ext cx="1550808" cy="38413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5AA507-2AC9-716F-C78E-410A6E0352CC}"/>
                  </a:ext>
                </a:extLst>
              </p:cNvPr>
              <p:cNvSpPr txBox="1"/>
              <p:nvPr/>
            </p:nvSpPr>
            <p:spPr>
              <a:xfrm>
                <a:off x="9612496" y="6203273"/>
                <a:ext cx="2814917" cy="423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Cope: </a:t>
                </a:r>
                <a:r>
                  <a:rPr lang="en-US" sz="1000" dirty="0"/>
                  <a:t>http://barefootecologist.com.au/shiny_m</a:t>
                </a:r>
                <a:endParaRPr lang="en-US" sz="1100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B74B30-0C25-D33D-C7D2-62839990A774}"/>
                  </a:ext>
                </a:extLst>
              </p:cNvPr>
              <p:cNvSpPr txBox="1"/>
              <p:nvPr/>
            </p:nvSpPr>
            <p:spPr>
              <a:xfrm>
                <a:off x="9958958" y="2227855"/>
                <a:ext cx="212199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2"/>
                    </a:solidFill>
                  </a:rPr>
                  <a:t>Longevity = 65 </a:t>
                </a:r>
                <a:r>
                  <a:rPr lang="en-US" sz="1200" b="1" dirty="0" err="1">
                    <a:solidFill>
                      <a:schemeClr val="accent2"/>
                    </a:solidFill>
                  </a:rPr>
                  <a:t>yrs</a:t>
                </a:r>
                <a:endParaRPr lang="en-US" sz="1200" b="1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D2B807-2796-9E71-688E-CEE15AF71CA0}"/>
                </a:ext>
              </a:extLst>
            </p:cNvPr>
            <p:cNvSpPr/>
            <p:nvPr/>
          </p:nvSpPr>
          <p:spPr>
            <a:xfrm>
              <a:off x="11019956" y="3328184"/>
              <a:ext cx="590736" cy="8011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5191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ED938C9F-5BB3-6805-89C9-B681DE7F1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BE1F5991-5B77-8000-D385-9092B8EE473B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C9965E06-17DC-F8B2-1082-585CC57E30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/>
              <a:t>Key Considerations for Assessment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38854-E7AF-A7C8-09F3-0ED36E1DF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1892856"/>
            <a:ext cx="8213183" cy="482170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Long-lived (low </a:t>
            </a:r>
            <a:r>
              <a:rPr lang="en-US" i="1" dirty="0"/>
              <a:t>M</a:t>
            </a:r>
            <a:r>
              <a:rPr lang="en-US" dirty="0"/>
              <a:t>), difficult to age (aging error matrix integrated), and relatively late maturation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distributed (AK-wide assessment) but no population structure (single population)</a:t>
            </a:r>
          </a:p>
          <a:p>
            <a:r>
              <a:rPr lang="en-US" dirty="0"/>
              <a:t>High mobility with ontogenetic migrations (differential availability to fishery/surveys across regions)</a:t>
            </a:r>
          </a:p>
          <a:p>
            <a:r>
              <a:rPr lang="en-US" dirty="0"/>
              <a:t>Spasmodic and cyclic recruitment, likely influenced by environmental factors (lack of a well-defined SRR)</a:t>
            </a:r>
          </a:p>
          <a:p>
            <a:r>
              <a:rPr lang="en-US" dirty="0"/>
              <a:t>Sexually dimorphic (sex-specific growth/selectivity)</a:t>
            </a:r>
          </a:p>
          <a:p>
            <a:r>
              <a:rPr lang="en-US" dirty="0"/>
              <a:t>Multiple fisheries with different interactions with sablefish (multiple fleets with different selectivity)</a:t>
            </a:r>
          </a:p>
          <a:p>
            <a:pPr lvl="1"/>
            <a:r>
              <a:rPr lang="en-US" dirty="0"/>
              <a:t>Rapid changes in fixed gear fishery (time-varying selectivity)</a:t>
            </a:r>
          </a:p>
          <a:p>
            <a:pPr lvl="1"/>
            <a:r>
              <a:rPr lang="en-US" dirty="0"/>
              <a:t>Depredation has been high but decreased due to pot gear usage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72177C7-C1EB-718A-2DF5-C21A9CA32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0366" y="3890681"/>
            <a:ext cx="2907927" cy="2904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BD138DC-8886-C854-5F1D-9FB15111C1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71" t="12993" r="23529" b="21542"/>
          <a:stretch>
            <a:fillRect/>
          </a:stretch>
        </p:blipFill>
        <p:spPr bwMode="auto">
          <a:xfrm>
            <a:off x="9135955" y="143435"/>
            <a:ext cx="2902337" cy="233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E08800-5102-8D9B-765D-4BC39E816592}"/>
              </a:ext>
            </a:extLst>
          </p:cNvPr>
          <p:cNvSpPr txBox="1"/>
          <p:nvPr/>
        </p:nvSpPr>
        <p:spPr>
          <a:xfrm>
            <a:off x="9768394" y="143435"/>
            <a:ext cx="1990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National Fisherman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18DBEA-3585-CDFA-FE34-3FF6BAD71036}"/>
              </a:ext>
            </a:extLst>
          </p:cNvPr>
          <p:cNvSpPr txBox="1"/>
          <p:nvPr/>
        </p:nvSpPr>
        <p:spPr>
          <a:xfrm>
            <a:off x="10416988" y="6406788"/>
            <a:ext cx="6723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ALFA</a:t>
            </a:r>
          </a:p>
        </p:txBody>
      </p:sp>
      <p:pic>
        <p:nvPicPr>
          <p:cNvPr id="1032" name="Picture 8" descr="Swarmed by Sablefish | NA128">
            <a:extLst>
              <a:ext uri="{FF2B5EF4-FFF2-40B4-BE49-F238E27FC236}">
                <a16:creationId xmlns:a16="http://schemas.microsoft.com/office/drawing/2014/main" id="{C6436156-1D3C-4186-A17A-1F341B09D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9331" y="2428717"/>
            <a:ext cx="2902336" cy="163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05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0"/>
          <p:cNvSpPr/>
          <p:nvPr/>
        </p:nvSpPr>
        <p:spPr>
          <a:xfrm>
            <a:off x="446534" y="457200"/>
            <a:ext cx="3703200" cy="9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7" name="Google Shape;447;p50"/>
          <p:cNvSpPr/>
          <p:nvPr/>
        </p:nvSpPr>
        <p:spPr>
          <a:xfrm>
            <a:off x="8042147" y="453643"/>
            <a:ext cx="3703200" cy="98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8" name="Google Shape;448;p50"/>
          <p:cNvSpPr/>
          <p:nvPr/>
        </p:nvSpPr>
        <p:spPr>
          <a:xfrm>
            <a:off x="4241830" y="457200"/>
            <a:ext cx="3703200" cy="91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55" name="Google Shape;455;p50"/>
          <p:cNvPicPr preferRelativeResize="0"/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1523" y="859287"/>
            <a:ext cx="4631279" cy="5139426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0"/>
          <p:cNvSpPr txBox="1">
            <a:spLocks noGrp="1"/>
          </p:cNvSpPr>
          <p:nvPr>
            <p:ph type="title"/>
          </p:nvPr>
        </p:nvSpPr>
        <p:spPr>
          <a:xfrm>
            <a:off x="3746322" y="782202"/>
            <a:ext cx="5526900" cy="27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ill Sans"/>
              <a:buNone/>
            </a:pPr>
            <a:r>
              <a:rPr lang="en-US" sz="60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  <a:endParaRPr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03638" y="2715232"/>
            <a:ext cx="1627328" cy="24127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03638" y="859287"/>
            <a:ext cx="1627328" cy="17961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6479" y="3281388"/>
            <a:ext cx="1667674" cy="17447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FBCE48-C775-4227-8A72-EDF4197FDDB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6479" y="859287"/>
            <a:ext cx="1660811" cy="22236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CA496CEB-2022-3AE2-A357-86CEF2A7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9E2819E5-E734-8FA2-0601-A3FD81D47D3E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47E24765-8B00-D6A8-681B-43A829230A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Estimation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D32517-7312-EF49-92EC-B4DD6E6BD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227" y="1808412"/>
            <a:ext cx="5284116" cy="49769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ABB3AA-891B-901F-5F89-87A7D3371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428" y="1892856"/>
            <a:ext cx="5925826" cy="493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71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9FD3798A-A6BF-01DA-E66F-83167D61F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7EA90E24-8745-134D-E33D-C2CDFC0321A0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935DF54B-739D-AAB8-65C6-5E7FDDACF8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Size-Age Transition Matrix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B35D3A-9848-7027-CC3D-AABA72E1B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25" y="2050217"/>
            <a:ext cx="5450296" cy="4371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284F2A-A5A1-94AC-1F35-313705E19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257" y="1999129"/>
            <a:ext cx="6262743" cy="447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96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594872D7-7EF9-1335-F7CF-06F7565D0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67862DD0-D0D7-DC36-859A-F1A028CC9E9C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1717C214-2610-E22A-782F-EB34F7ADE5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Length-Weight Estimation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6B8D0-DB67-EB08-7514-7BC1357E5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54" y="2132833"/>
            <a:ext cx="5492972" cy="44382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6DAA67-0029-D67D-69CE-B655EED73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5524" y="2209404"/>
            <a:ext cx="6427694" cy="428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5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E09FF9D6-48F9-E7E2-919F-AB8B9DE17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CF964DAA-93F1-85AB-46BC-F77C3266AAEF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C4124C25-D371-9DA2-A95E-4A61706989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Weight-at-Age Estimation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F9B081-FC38-F39E-9D18-63C97BE3B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1892856"/>
            <a:ext cx="6596444" cy="248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6A2FC8-2D60-8CA7-9585-B76F3205C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616" y="4029001"/>
            <a:ext cx="6508384" cy="271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66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6383</TotalTime>
  <Words>1517</Words>
  <Application>Microsoft Office PowerPoint</Application>
  <PresentationFormat>Widescreen</PresentationFormat>
  <Paragraphs>198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Corbel</vt:lpstr>
      <vt:lpstr>Gill Sans</vt:lpstr>
      <vt:lpstr>Times New Roman</vt:lpstr>
      <vt:lpstr>Wingdings</vt:lpstr>
      <vt:lpstr>Dividend</vt:lpstr>
      <vt:lpstr>Sablefish Background, Biology, and Key Uncertainties 2026 CIE Review</vt:lpstr>
      <vt:lpstr>Agenda</vt:lpstr>
      <vt:lpstr>Documents and Materials</vt:lpstr>
      <vt:lpstr>Primary Sablefish Concerns (foreshadowing)</vt:lpstr>
      <vt:lpstr>Secondary Sablefish Concerns</vt:lpstr>
      <vt:lpstr>Units</vt:lpstr>
      <vt:lpstr>Population Structure and Spatial Distribution</vt:lpstr>
      <vt:lpstr>Management Structure</vt:lpstr>
      <vt:lpstr>Life History</vt:lpstr>
      <vt:lpstr>Early Life History</vt:lpstr>
      <vt:lpstr>Movement and Migration</vt:lpstr>
      <vt:lpstr>Recruitment and Long-term Trends</vt:lpstr>
      <vt:lpstr>Fishery Background</vt:lpstr>
      <vt:lpstr>Whale Depredation</vt:lpstr>
      <vt:lpstr>Growth</vt:lpstr>
      <vt:lpstr>Weight</vt:lpstr>
      <vt:lpstr>Density-Dependence(?)</vt:lpstr>
      <vt:lpstr>Maturity</vt:lpstr>
      <vt:lpstr>Age at Recruitment and Sex Ratio</vt:lpstr>
      <vt:lpstr>Ageing Error</vt:lpstr>
      <vt:lpstr>Natural Mortality</vt:lpstr>
      <vt:lpstr>Key Considerations for Assessment</vt:lpstr>
      <vt:lpstr>QUESTIONS?</vt:lpstr>
      <vt:lpstr>Growth Estimation</vt:lpstr>
      <vt:lpstr>Size-Age Transition Matrix</vt:lpstr>
      <vt:lpstr>Length-Weight Estimation</vt:lpstr>
      <vt:lpstr>Weight-at-Age Estimation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Sablefish</dc:title>
  <dc:creator>Daniel.Goethel</dc:creator>
  <cp:lastModifiedBy>Daniel.Goethel</cp:lastModifiedBy>
  <cp:revision>255</cp:revision>
  <dcterms:modified xsi:type="dcterms:W3CDTF">2026-06-11T21:01:34Z</dcterms:modified>
</cp:coreProperties>
</file>