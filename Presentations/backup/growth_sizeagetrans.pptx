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  <p:sldId id="260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3CA12-5C85-8E6D-7A94-1A53CDFBB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450086-3C64-F6E9-D225-E77CA18A15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CF216-57C0-C352-4AD2-24E08AF8F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BFCAD-5DE5-9D47-B6AD-581E926B133F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242AC-8C72-8AD1-6BF3-F4496D4A1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F8FDE-4044-B890-3219-B4AEE3C11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5610D-B109-CC48-9D0E-EE3D16470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922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C2265-868C-0FB7-CD14-089329C74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CC8A2-D330-3326-1296-550AE43C6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553E1-B56C-F9C3-92CF-7D30FEB85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BFCAD-5DE5-9D47-B6AD-581E926B133F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CC608-0406-7823-0318-166259E24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F4D48-9B7A-5F0B-063C-836F88792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5610D-B109-CC48-9D0E-EE3D16470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461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14AB0-F4D8-AD42-5429-E6548171E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A5C40-B5F4-B894-F1B6-465C5AAD5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C9C0A-0BD5-085C-496D-F53574210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BFCAD-5DE5-9D47-B6AD-581E926B133F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03C5E-C67E-307B-876D-D0EA19F90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12C4E-BD27-4F8B-38B2-69CA98D62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5610D-B109-CC48-9D0E-EE3D16470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0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B76B5-AE7E-34E1-2CD4-FFB745C06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F93D2-98BE-A797-55FD-8D6DBBF645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1BA7AD-2CF0-103C-D1F1-BB830AB1B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E9E88-9D10-13E3-4A1D-3D9BB1BD6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BFCAD-5DE5-9D47-B6AD-581E926B133F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53A63-B33F-D7C4-F5CE-06A04CDFF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CF8E7-CFB9-AD13-3786-CEA5E9849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5610D-B109-CC48-9D0E-EE3D16470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658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747E1-45A5-7AF4-17AC-05D3A971A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96394-812E-08CF-DB82-B3CC82C3F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C4D670-B9C8-1650-6111-2E46521439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5F9DD5-F78D-BBDA-3D05-4DE87F82B2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C20DB-9877-3A12-D2AF-82BD5F1BF3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81C8AB-1853-347E-63C8-0E6443B5B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BFCAD-5DE5-9D47-B6AD-581E926B133F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C5C24B-8214-B9E8-46F8-BA28E8FFD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1EC2FA-650A-F7F7-5410-9BCAF4085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5610D-B109-CC48-9D0E-EE3D16470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434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2ECA1-D064-CD9F-DC1B-8A9C6F201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57E6E1-90E0-2005-D1BD-5455E8DA0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BFCAD-5DE5-9D47-B6AD-581E926B133F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23B974-E5EA-84CE-E6DB-38EB1ECEC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C39022-2B28-46BB-2167-F7A4CCE81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5610D-B109-CC48-9D0E-EE3D16470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184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6268AA-9C97-E605-87B0-D283B98FD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BFCAD-5DE5-9D47-B6AD-581E926B133F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61B5E8-F6C5-369F-9D7F-0BE1657AE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C9544-77A3-B75B-EB63-6B0A7C86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5610D-B109-CC48-9D0E-EE3D16470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618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62435-B794-00D2-F3F1-C3A681F49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B7055-1002-698B-F0CE-3BBB95A95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066F00-F7A1-5758-F9D1-06F5CDD28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0C7DE-9868-B61E-0802-ABFF7E591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BFCAD-5DE5-9D47-B6AD-581E926B133F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66ED4A-C43E-C3C6-F4B2-4202B5D50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56F0C3-C24D-E3AB-BD32-38857E467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5610D-B109-CC48-9D0E-EE3D16470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09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3F1F6-ADD8-11F3-01CF-61BECA220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A7D418-6355-799C-CE00-3B63521472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E5E1E-41DA-E3B2-6469-9AD630AE7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400894-59D7-B91E-22BC-3EE39B849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BFCAD-5DE5-9D47-B6AD-581E926B133F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C5AFC-B15C-CF97-3300-FF9639E2F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3D711-8B39-E84C-DB9D-F46E5947D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5610D-B109-CC48-9D0E-EE3D16470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720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D71F2-22EE-86FD-EA0C-71808550E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0C9F1-C352-AB4B-4FEC-1C9EFD87D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09192-DBC5-7DBE-E470-A9926AA91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BFCAD-5DE5-9D47-B6AD-581E926B133F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C81BF-89BF-3089-EC05-3854CEE4D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FDB0E-4E41-90E9-4340-8CBA74527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5610D-B109-CC48-9D0E-EE3D16470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63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498583-3849-4014-E18A-8060990B1A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911450-6719-6B15-65D5-4C0D5C3EC4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5D495-EE51-B141-EB0D-363B98400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BFCAD-5DE5-9D47-B6AD-581E926B133F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B232F-81A7-C001-2F7D-D22E74876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319A2-538A-612D-285B-E7AC2031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5610D-B109-CC48-9D0E-EE3D16470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54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6099EF-20EF-5492-E3D8-DEA9C453B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F1D10-D8C0-BD8E-B170-168CF2B16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27B54-9714-220E-784D-CAB88EE70A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5BFCAD-5DE5-9D47-B6AD-581E926B133F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F9776-6909-2967-CB4D-D1E7B774D7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67277-4530-4B17-166F-DA6FFAC279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E5610D-B109-CC48-9D0E-EE3D16470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863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B09F4-BFB7-758F-7601-1B1A6D058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Length-at-age estimation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53381E-EABA-502A-A5E4-409FD44951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5777170" cy="4872887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Expected length: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𝐿</m:t>
                        </m:r>
                      </m:e>
                      <m:sub>
                        <m:r>
                          <a:rPr lang="en-US" i="1"/>
                          <m:t>𝑎</m:t>
                        </m:r>
                      </m:sub>
                    </m:sSub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𝐿</m:t>
                        </m:r>
                      </m:e>
                      <m:sub>
                        <m:r>
                          <a:rPr lang="en-US"/>
                          <m:t>∞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/>
                          <m:t>1−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𝑒</m:t>
                            </m:r>
                          </m:e>
                          <m:sup>
                            <m:r>
                              <a:rPr lang="en-US"/>
                              <m:t>−</m:t>
                            </m:r>
                            <m:r>
                              <a:rPr lang="en-US" i="1"/>
                              <m:t>𝑘</m:t>
                            </m:r>
                            <m:d>
                              <m:dPr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𝑎</m:t>
                                </m:r>
                                <m:r>
                                  <a:rPr lang="en-US"/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i="1"/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/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​= predicted mean length at age </a:t>
                </a:r>
                <a14:m>
                  <m:oMath xmlns:m="http://schemas.openxmlformats.org/officeDocument/2006/math">
                    <m:r>
                      <a:rPr lang="en-US" i="1"/>
                      <m:t>𝑎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𝐿</m:t>
                        </m:r>
                      </m:e>
                      <m:sub>
                        <m:r>
                          <a:rPr lang="en-US"/>
                          <m:t>∞</m:t>
                        </m:r>
                      </m:sub>
                    </m:sSub>
                  </m:oMath>
                </a14:m>
                <a:r>
                  <a:rPr lang="en-US" dirty="0"/>
                  <a:t>= asymptotic length; </a:t>
                </a:r>
                <a14:m>
                  <m:oMath xmlns:m="http://schemas.openxmlformats.org/officeDocument/2006/math">
                    <m:r>
                      <a:rPr lang="en-US" i="1"/>
                      <m:t>𝑘</m:t>
                    </m:r>
                  </m:oMath>
                </a14:m>
                <a:r>
                  <a:rPr lang="en-US" dirty="0"/>
                  <a:t>= growth rate;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𝑡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= theoretical age at length 0</a:t>
                </a:r>
              </a:p>
              <a:p>
                <a:r>
                  <a:rPr lang="en-US" dirty="0"/>
                  <a:t>Residual variance scales with predicted length: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𝜎</m:t>
                        </m:r>
                      </m:e>
                      <m:sub>
                        <m:r>
                          <a:rPr lang="en-US" i="1"/>
                          <m:t>𝑎</m:t>
                        </m:r>
                      </m:sub>
                    </m:sSub>
                    <m:r>
                      <a:rPr lang="en-US"/>
                      <m:t>=</m:t>
                    </m:r>
                    <m:r>
                      <a:rPr lang="en-US" i="1"/>
                      <m:t>𝜎</m:t>
                    </m:r>
                    <m:r>
                      <a:rPr lang="en-US"/>
                      <m:t>⋅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/>
                            </m:ctrlPr>
                          </m:accPr>
                          <m:e>
                            <m:r>
                              <a:rPr lang="en-US" i="1"/>
                              <m:t>𝐿</m:t>
                            </m:r>
                          </m:e>
                        </m:acc>
                      </m:e>
                      <m:sub>
                        <m:r>
                          <a:rPr lang="en-US" i="1"/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(heteroskedastic)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= baseline CV;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𝜎</m:t>
                        </m:r>
                      </m:e>
                      <m:sub>
                        <m:r>
                          <a:rPr lang="en-US" i="1"/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= length-specific SD (larger fish, more spread)</a:t>
                </a:r>
              </a:p>
              <a:p>
                <a:r>
                  <a:rPr lang="en-US" dirty="0"/>
                  <a:t>Minimize: </a:t>
                </a:r>
                <a14:m>
                  <m:oMath xmlns:m="http://schemas.openxmlformats.org/officeDocument/2006/math">
                    <m:r>
                      <a:rPr lang="en-US"/>
                      <m:t>−</m:t>
                    </m:r>
                    <m:func>
                      <m:funcPr>
                        <m:ctrlPr>
                          <a:rPr lang="en-US" i="1"/>
                        </m:ctrlPr>
                      </m:funcPr>
                      <m:fName>
                        <m:nary>
                          <m:naryPr>
                            <m:chr m:val="∑"/>
                            <m:grow m:val="on"/>
                            <m:subHide m:val="on"/>
                            <m:supHide m:val="on"/>
                            <m:ctrlPr>
                              <a:rPr lang="en-US" i="1"/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/>
                              <m:t>log</m:t>
                            </m:r>
                          </m:e>
                        </m:nary>
                      </m:fName>
                      <m:e>
                        <m:r>
                          <a:rPr lang="en-US"/>
                          <m:t>𝒩</m:t>
                        </m:r>
                      </m:e>
                    </m:func>
                    <m:d>
                      <m:dPr>
                        <m:sepChr m:val=","/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𝐿</m:t>
                            </m:r>
                          </m:e>
                          <m:sub>
                            <m:r>
                              <a:rPr lang="en-US" i="1"/>
                              <m:t>𝑜𝑏𝑠</m:t>
                            </m:r>
                          </m:sub>
                        </m:sSub>
                      </m:e>
                      <m:e>
                        <m:r>
                          <a:rPr lang="en-US"/>
                          <m:t>∣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i="1"/>
                                  <m:t>𝐿</m:t>
                                </m:r>
                              </m:e>
                            </m:acc>
                          </m:e>
                          <m:sub>
                            <m:r>
                              <a:rPr lang="en-US" i="1"/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𝜎</m:t>
                            </m:r>
                          </m:e>
                          <m:sub>
                            <m:r>
                              <a:rPr lang="en-US" i="1"/>
                              <m:t>𝑎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𝐿</m:t>
                        </m:r>
                      </m:e>
                      <m:sub>
                        <m:r>
                          <a:rPr lang="en-US" i="1"/>
                          <m:t>𝑜𝑏𝑠</m:t>
                        </m:r>
                      </m:sub>
                    </m:sSub>
                  </m:oMath>
                </a14:m>
                <a:r>
                  <a:rPr lang="en-US" dirty="0"/>
                  <a:t>= observed length of individual fish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53381E-EABA-502A-A5E4-409FD44951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5777170" cy="4872887"/>
              </a:xfrm>
              <a:blipFill>
                <a:blip r:embed="rId2"/>
                <a:stretch>
                  <a:fillRect l="-1978" t="-18701" r="-1099" b="-12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DD32517-7312-EF49-92EC-B4DD6E6BD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370" y="1240391"/>
            <a:ext cx="5576630" cy="525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238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C0C4C-9962-06C5-2B82-3F9B1A347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Length-weight estimation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F3E380-28E0-68F6-4FDB-F7F7E4F73A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</p:spPr>
            <p:txBody>
              <a:bodyPr/>
              <a:lstStyle/>
              <a:p>
                <a:r>
                  <a:rPr lang="en-US" dirty="0"/>
                  <a:t>Allometric model: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/>
                        </m:ctrlPr>
                      </m:accPr>
                      <m:e>
                        <m:r>
                          <a:rPr lang="en-US" i="1"/>
                          <m:t>𝑊</m:t>
                        </m:r>
                      </m:e>
                    </m:acc>
                    <m:r>
                      <a:rPr lang="en-US"/>
                      <m:t>=</m:t>
                    </m:r>
                    <m:r>
                      <a:rPr lang="en-US" i="1"/>
                      <m:t>𝛼</m:t>
                    </m:r>
                    <m:r>
                      <a:rPr lang="en-US"/>
                      <m:t>⋅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𝐿</m:t>
                        </m:r>
                      </m:e>
                      <m:sup>
                        <m:r>
                          <a:rPr lang="en-US" i="1"/>
                          <m:t>𝛽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Fit in log-space with constant CV: </a:t>
                </a:r>
                <a14:m>
                  <m:oMath xmlns:m="http://schemas.openxmlformats.org/officeDocument/2006/math">
                    <m:r>
                      <a:rPr lang="en-US"/>
                      <m:t>−</m:t>
                    </m:r>
                    <m:func>
                      <m:funcPr>
                        <m:ctrlPr>
                          <a:rPr lang="en-US" i="1"/>
                        </m:ctrlPr>
                      </m:funcPr>
                      <m:fName>
                        <m:nary>
                          <m:naryPr>
                            <m:chr m:val="∑"/>
                            <m:grow m:val="on"/>
                            <m:subHide m:val="on"/>
                            <m:supHide m:val="on"/>
                            <m:ctrlPr>
                              <a:rPr lang="en-US" i="1"/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/>
                              <m:t>log</m:t>
                            </m:r>
                          </m:e>
                        </m:nary>
                      </m:fName>
                      <m:e>
                        <m:r>
                          <a:rPr lang="en-US"/>
                          <m:t>𝒩</m:t>
                        </m:r>
                      </m:e>
                    </m:func>
                    <m:d>
                      <m:dPr>
                        <m:sepChr m:val=","/>
                        <m:ctrlPr>
                          <a:rPr lang="en-US" i="1"/>
                        </m:ctrlPr>
                      </m:dPr>
                      <m:e>
                        <m:func>
                          <m:funcPr>
                            <m:ctrlPr>
                              <a:rPr lang="en-US" i="1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/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𝑊</m:t>
                                </m:r>
                              </m:e>
                              <m:sub>
                                <m:r>
                                  <a:rPr lang="en-US" i="1"/>
                                  <m:t>𝑜𝑏𝑠</m:t>
                                </m:r>
                              </m:sub>
                            </m:sSub>
                          </m:e>
                        </m:func>
                      </m:e>
                      <m:e>
                        <m:r>
                          <a:rPr lang="en-US"/>
                          <m:t>∣</m:t>
                        </m:r>
                        <m:func>
                          <m:funcPr>
                            <m:ctrlPr>
                              <a:rPr lang="en-US" i="1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/>
                              <m:t>ln</m:t>
                            </m:r>
                          </m:fName>
                          <m:e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i="1"/>
                                  <m:t>𝑊</m:t>
                                </m:r>
                              </m:e>
                            </m:acc>
                          </m:e>
                        </m:func>
                        <m:r>
                          <a:rPr lang="en-US" i="1"/>
                          <m:t>𝜎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predicted weight; </a:t>
                </a:r>
                <a14:m>
                  <m:oMath xmlns:m="http://schemas.openxmlformats.org/officeDocument/2006/math">
                    <m:r>
                      <a:rPr lang="en-US" i="1"/>
                      <m:t>𝛼</m:t>
                    </m:r>
                  </m:oMath>
                </a14:m>
                <a:r>
                  <a:rPr lang="en-US" dirty="0"/>
                  <a:t>= scaling coefficient; </a:t>
                </a:r>
                <a14:m>
                  <m:oMath xmlns:m="http://schemas.openxmlformats.org/officeDocument/2006/math">
                    <m:r>
                      <a:rPr lang="en-US" i="1"/>
                      <m:t>𝛽</m:t>
                    </m:r>
                  </m:oMath>
                </a14:m>
                <a:r>
                  <a:rPr lang="en-US" dirty="0"/>
                  <a:t>= allometric exponent; </a:t>
                </a:r>
                <a14:m>
                  <m:oMath xmlns:m="http://schemas.openxmlformats.org/officeDocument/2006/math">
                    <m:r>
                      <a:rPr lang="en-US" i="1"/>
                      <m:t>𝐿</m:t>
                    </m:r>
                  </m:oMath>
                </a14:m>
                <a:r>
                  <a:rPr lang="en-US" dirty="0"/>
                  <a:t>= observed length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𝑜𝑏𝑠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 = observed weight; </a:t>
                </a:r>
                <a14:m>
                  <m:oMath xmlns:m="http://schemas.openxmlformats.org/officeDocument/2006/math">
                    <m:r>
                      <a:rPr lang="en-US" i="1"/>
                      <m:t>𝜎</m:t>
                    </m:r>
                  </m:oMath>
                </a14:m>
                <a:r>
                  <a:rPr lang="en-US" dirty="0"/>
                  <a:t>= constant log-scale SD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F3E380-28E0-68F6-4FDB-F7F7E4F73A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  <a:blipFill>
                <a:blip r:embed="rId2"/>
                <a:stretch>
                  <a:fillRect l="-2169" t="-2035" r="-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5799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54E34-53F2-310D-9EAE-7E5DE1EAB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Weight-at-age estimation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2915A2-5931-B084-C0C6-251A7C3070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Composed from VBGF + LW: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𝑊</m:t>
                        </m:r>
                      </m:e>
                      <m:sub>
                        <m:r>
                          <a:rPr lang="en-US" i="1"/>
                          <m:t>𝑎</m:t>
                        </m:r>
                      </m:sub>
                    </m:sSub>
                    <m:r>
                      <a:rPr lang="en-US"/>
                      <m:t>=</m:t>
                    </m:r>
                    <m:r>
                      <a:rPr lang="en-US" i="1"/>
                      <m:t>𝛼</m:t>
                    </m:r>
                    <m:r>
                      <a:rPr lang="en-US"/>
                      <m:t>⋅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/>
                            </m:ctrlPr>
                          </m:accPr>
                          <m:e>
                            <m:r>
                              <a:rPr lang="en-US" i="1"/>
                              <m:t>𝐿</m:t>
                            </m:r>
                          </m:e>
                        </m:acc>
                      </m:e>
                      <m:sub>
                        <m:r>
                          <a:rPr lang="en-US" i="1"/>
                          <m:t>𝑎</m:t>
                        </m:r>
                      </m:sub>
                      <m:sup>
                        <m:r>
                          <a:rPr lang="en-US" i="1"/>
                          <m:t>𝛽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 = predicted weight at age </a:t>
                </a:r>
                <a14:m>
                  <m:oMath xmlns:m="http://schemas.openxmlformats.org/officeDocument/2006/math">
                    <m:r>
                      <a:rPr lang="en-US" i="1"/>
                      <m:t>𝑎</m:t>
                    </m:r>
                  </m:oMath>
                </a14:m>
                <a:r>
                  <a:rPr lang="en-US" dirty="0"/>
                  <a:t>, composed from VBGF + LW</a:t>
                </a:r>
              </a:p>
              <a:p>
                <a:r>
                  <a:rPr lang="en-US" dirty="0"/>
                  <a:t>Asymptotic weight: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𝑊</m:t>
                        </m:r>
                      </m:e>
                      <m:sub>
                        <m:r>
                          <a:rPr lang="en-US"/>
                          <m:t>∞</m:t>
                        </m:r>
                      </m:sub>
                    </m:sSub>
                    <m:r>
                      <a:rPr lang="en-US"/>
                      <m:t>=</m:t>
                    </m:r>
                    <m:r>
                      <a:rPr lang="en-US" i="1"/>
                      <m:t>𝛼</m:t>
                    </m:r>
                    <m:r>
                      <a:rPr lang="en-US"/>
                      <m:t>⋅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𝐿</m:t>
                        </m:r>
                      </m:e>
                      <m:sub>
                        <m:r>
                          <a:rPr lang="en-US"/>
                          <m:t>∞</m:t>
                        </m:r>
                      </m:sub>
                      <m:sup>
                        <m:r>
                          <a:rPr lang="en-US" i="1"/>
                          <m:t>𝛽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asymptotic weight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2915A2-5931-B084-C0C6-251A7C3070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5565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871CE-C20D-BD8F-66DD-5E26F48D0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07503-BCBA-3687-7080-CAAEA4B28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Size-age transition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D14505-D105-2B71-FA83-FFF65F70C6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3331"/>
                <a:ext cx="525780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Bins probability mass of length-at-age into discrete size bins via normal CDF differencing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nor/>
                      </m:rPr>
                      <a:rPr lang="en-US" i="1"/>
                      <m:t> 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/2−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nor/>
                      </m:rPr>
                      <a:rPr lang="en-US" i="1"/>
                      <m:t> 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/2−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i="1" dirty="0"/>
                  <a:t>s </a:t>
                </a:r>
                <a:r>
                  <a:rPr lang="en-US" dirty="0"/>
                  <a:t>= length bin center;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/>
                      <m:t>Δ</m:t>
                    </m:r>
                  </m:oMath>
                </a14:m>
                <a:r>
                  <a:rPr lang="en-US" dirty="0"/>
                  <a:t>= bin width;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/>
                      <m:t>Φ</m:t>
                    </m:r>
                  </m:oMath>
                </a14:m>
                <a:r>
                  <a:rPr lang="en-US" dirty="0"/>
                  <a:t>= standard normal CDF; </a:t>
                </a:r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𝑠</m:t>
                        </m:r>
                        <m:r>
                          <a:rPr lang="en-US"/>
                          <m:t>∣</m:t>
                        </m:r>
                        <m:r>
                          <a:rPr lang="en-US" i="1"/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= probability a fish of age </a:t>
                </a:r>
                <a14:m>
                  <m:oMath xmlns:m="http://schemas.openxmlformats.org/officeDocument/2006/math">
                    <m:r>
                      <a:rPr lang="en-US" i="1"/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falls in bin </a:t>
                </a:r>
                <a14:m>
                  <m:oMath xmlns:m="http://schemas.openxmlformats.org/officeDocument/2006/math">
                    <m:r>
                      <a:rPr lang="en-US" i="1"/>
                      <m:t>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D14505-D105-2B71-FA83-FFF65F70C6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3331"/>
                <a:ext cx="5257800" cy="4351338"/>
              </a:xfrm>
              <a:blipFill>
                <a:blip r:embed="rId2"/>
                <a:stretch>
                  <a:fillRect l="-2169" r="-1687" b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40A6BEE-02D6-F0F3-6391-110B41418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759" y="1253331"/>
            <a:ext cx="5091223" cy="479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613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221</Words>
  <Application>Microsoft Macintosh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Length-at-age estimation</vt:lpstr>
      <vt:lpstr>Length-weight estimation</vt:lpstr>
      <vt:lpstr>Weight-at-age estimation</vt:lpstr>
      <vt:lpstr>Size-age transition matrix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Cheng</dc:creator>
  <cp:lastModifiedBy>Matt Cheng</cp:lastModifiedBy>
  <cp:revision>17</cp:revision>
  <dcterms:created xsi:type="dcterms:W3CDTF">2026-06-08T22:00:01Z</dcterms:created>
  <dcterms:modified xsi:type="dcterms:W3CDTF">2026-06-08T22:16:00Z</dcterms:modified>
</cp:coreProperties>
</file>