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  <p:sldMasterId id="2147483738" r:id="rId2"/>
  </p:sldMasterIdLst>
  <p:sldIdLst>
    <p:sldId id="256" r:id="rId3"/>
    <p:sldId id="257" r:id="rId4"/>
    <p:sldId id="266" r:id="rId5"/>
    <p:sldId id="268" r:id="rId6"/>
    <p:sldId id="262" r:id="rId7"/>
    <p:sldId id="270" r:id="rId8"/>
    <p:sldId id="263" r:id="rId9"/>
    <p:sldId id="260" r:id="rId10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4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03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17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3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03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0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96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0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2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4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757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0589629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834251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747845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55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843169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8096489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810236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9298584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929915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254016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3541859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214636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835107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7097750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889916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5576866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696834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016A4-8BF0-4B64-8A8C-A7F2D9487760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A1320-9232-45CD-A12C-C6E4E5D4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72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74C146B6-0448-4846-855E-F08FC64D75B7}" type="datetimeFigureOut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6/5/2026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167C76E-9144-45A3-8467-851E1FF61C2A}" type="slidenum">
              <a:rPr lang="en-US" smtClean="0">
                <a:gradFill flip="none" rotWithShape="1">
                  <a:gsLst>
                    <a:gs pos="28000">
                      <a:prstClr val="white">
                        <a:lumMod val="93000"/>
                      </a:prstClr>
                    </a:gs>
                    <a:gs pos="0">
                      <a:prstClr val="black">
                        <a:lumMod val="38000"/>
                        <a:lumOff val="62000"/>
                      </a:prstClr>
                    </a:gs>
                    <a:gs pos="100000">
                      <a:srgbClr val="94D7E4">
                        <a:lumMod val="0"/>
                        <a:lumOff val="100000"/>
                      </a:srgbClr>
                    </a:gs>
                  </a:gsLst>
                  <a:lin ang="5400000" scaled="1"/>
                  <a:tileRect/>
                </a:gradFill>
              </a:rPr>
              <a:pPr/>
              <a:t>‹#›</a:t>
            </a:fld>
            <a:endParaRPr lang="en-US">
              <a:gradFill flip="none" rotWithShape="1">
                <a:gsLst>
                  <a:gs pos="28000">
                    <a:prstClr val="white">
                      <a:lumMod val="93000"/>
                    </a:prstClr>
                  </a:gs>
                  <a:gs pos="0">
                    <a:prstClr val="black">
                      <a:lumMod val="38000"/>
                      <a:lumOff val="62000"/>
                    </a:prstClr>
                  </a:gs>
                  <a:gs pos="100000">
                    <a:srgbClr val="94D7E4">
                      <a:lumMod val="0"/>
                      <a:lumOff val="100000"/>
                    </a:srgbClr>
                  </a:gs>
                </a:gsLst>
                <a:lin ang="54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8612948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828" y="1851422"/>
            <a:ext cx="6858000" cy="1790700"/>
          </a:xfrm>
        </p:spPr>
        <p:txBody>
          <a:bodyPr/>
          <a:lstStyle/>
          <a:p>
            <a:r>
              <a:rPr lang="en-US" dirty="0"/>
              <a:t>AFSC Sablefish Tag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Katy B. Echave</a:t>
            </a:r>
          </a:p>
          <a:p>
            <a:r>
              <a:rPr lang="en-US" dirty="0"/>
              <a:t>Sablefish CIE Review 2026</a:t>
            </a:r>
          </a:p>
        </p:txBody>
      </p:sp>
    </p:spTree>
    <p:extLst>
      <p:ext uri="{BB962C8B-B14F-4D97-AF65-F5344CB8AC3E}">
        <p14:creationId xmlns:p14="http://schemas.microsoft.com/office/powerpoint/2010/main" val="791656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8506" y="432849"/>
            <a:ext cx="6421471" cy="440561"/>
          </a:xfrm>
        </p:spPr>
        <p:txBody>
          <a:bodyPr>
            <a:noAutofit/>
          </a:bodyPr>
          <a:lstStyle/>
          <a:p>
            <a:r>
              <a:rPr lang="en-US" sz="4000" u="sng" dirty="0"/>
              <a:t>Extensive Time &amp; Data Series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034966" y="2122812"/>
            <a:ext cx="5109033" cy="3655219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+mj-lt"/>
              </a:rPr>
              <a:t>Tagging with conventional tags since early 1970s: &gt; </a:t>
            </a:r>
            <a:r>
              <a:rPr lang="en-US" sz="3000" b="1" dirty="0">
                <a:latin typeface="+mj-lt"/>
              </a:rPr>
              <a:t>40 </a:t>
            </a:r>
            <a:r>
              <a:rPr lang="en-US" sz="3000" b="1" dirty="0" err="1">
                <a:latin typeface="+mj-lt"/>
              </a:rPr>
              <a:t>yrs</a:t>
            </a:r>
            <a:endParaRPr lang="en-US" sz="3000" b="1" dirty="0">
              <a:latin typeface="+mj-lt"/>
            </a:endParaRPr>
          </a:p>
          <a:p>
            <a:r>
              <a:rPr lang="en-US" sz="3000" b="1" dirty="0">
                <a:latin typeface="+mj-lt"/>
              </a:rPr>
              <a:t>~413,000 TOTAL TAG RELEASES</a:t>
            </a:r>
          </a:p>
          <a:p>
            <a:r>
              <a:rPr lang="en-US" sz="3000" b="1" dirty="0">
                <a:latin typeface="+mj-lt"/>
              </a:rPr>
              <a:t>Data: location, date, length, depth, gear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4184158" y="1360812"/>
            <a:ext cx="3385581" cy="762000"/>
          </a:xfrm>
        </p:spPr>
        <p:txBody>
          <a:bodyPr>
            <a:noAutofit/>
          </a:bodyPr>
          <a:lstStyle/>
          <a:p>
            <a:r>
              <a:rPr lang="en-US" sz="4000" u="sng" dirty="0">
                <a:latin typeface="+mj-lt"/>
              </a:rPr>
              <a:t>TAG RELEASE</a:t>
            </a:r>
          </a:p>
        </p:txBody>
      </p:sp>
      <p:pic>
        <p:nvPicPr>
          <p:cNvPr id="7" name="Picture 2" descr="\\nmfs.local\AKC-ABL\MESA\Juvenile Tagging Cruise Photos\2013\2013 MAY UAF SJBB JIGGING\101CANON\IMG_0488.JPG"/>
          <p:cNvPicPr>
            <a:picLocks noChangeAspect="1" noChangeArrowheads="1"/>
          </p:cNvPicPr>
          <p:nvPr/>
        </p:nvPicPr>
        <p:blipFill>
          <a:blip r:embed="rId2" cstate="print"/>
          <a:srcRect l="13542" t="29167" r="22222" b="39584"/>
          <a:stretch>
            <a:fillRect/>
          </a:stretch>
        </p:blipFill>
        <p:spPr bwMode="auto">
          <a:xfrm>
            <a:off x="377091" y="1454556"/>
            <a:ext cx="3580757" cy="26129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1806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10" y="379344"/>
            <a:ext cx="3942159" cy="658258"/>
          </a:xfrm>
        </p:spPr>
        <p:txBody>
          <a:bodyPr>
            <a:noAutofit/>
          </a:bodyPr>
          <a:lstStyle/>
          <a:p>
            <a:r>
              <a:rPr lang="en-US" sz="4400" u="sng" dirty="0"/>
              <a:t>TAG RELEASE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176" y="1132488"/>
            <a:ext cx="4494609" cy="3811588"/>
          </a:xfrm>
        </p:spPr>
        <p:txBody>
          <a:bodyPr/>
          <a:lstStyle/>
          <a:p>
            <a:r>
              <a:rPr lang="en-US" sz="3200" dirty="0">
                <a:latin typeface="+mj-lt"/>
              </a:rPr>
              <a:t>~ 3,500 </a:t>
            </a:r>
            <a:r>
              <a:rPr lang="en-US" sz="3200" b="1" dirty="0">
                <a:latin typeface="+mj-lt"/>
              </a:rPr>
              <a:t>adult sablefish </a:t>
            </a:r>
            <a:r>
              <a:rPr lang="en-US" sz="3200" dirty="0">
                <a:latin typeface="+mj-lt"/>
              </a:rPr>
              <a:t>tagged/</a:t>
            </a:r>
            <a:r>
              <a:rPr lang="en-US" sz="3200" dirty="0" err="1">
                <a:latin typeface="+mj-lt"/>
              </a:rPr>
              <a:t>yr</a:t>
            </a:r>
            <a:r>
              <a:rPr lang="en-US" sz="3200" dirty="0">
                <a:latin typeface="+mj-lt"/>
              </a:rPr>
              <a:t> on the annual LL survey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8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1673" y="250999"/>
            <a:ext cx="3942159" cy="658258"/>
          </a:xfrm>
        </p:spPr>
        <p:txBody>
          <a:bodyPr>
            <a:noAutofit/>
          </a:bodyPr>
          <a:lstStyle/>
          <a:p>
            <a:r>
              <a:rPr lang="en-US" sz="4400" u="sng" dirty="0"/>
              <a:t>TAG RELEASE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91673" y="1043852"/>
            <a:ext cx="3942158" cy="3811588"/>
          </a:xfrm>
        </p:spPr>
        <p:txBody>
          <a:bodyPr/>
          <a:lstStyle/>
          <a:p>
            <a:r>
              <a:rPr lang="en-US" sz="3200" dirty="0">
                <a:latin typeface="+mj-lt"/>
              </a:rPr>
              <a:t>~ 100 – 1,000 </a:t>
            </a:r>
            <a:r>
              <a:rPr lang="en-US" sz="3200" b="1" dirty="0">
                <a:latin typeface="+mj-lt"/>
              </a:rPr>
              <a:t>juvenile (age-1) sablefish </a:t>
            </a:r>
            <a:r>
              <a:rPr lang="en-US" sz="3200" dirty="0">
                <a:latin typeface="+mj-lt"/>
              </a:rPr>
              <a:t>tagged/</a:t>
            </a:r>
            <a:r>
              <a:rPr lang="en-US" sz="3200" dirty="0" err="1">
                <a:latin typeface="+mj-lt"/>
              </a:rPr>
              <a:t>yr</a:t>
            </a:r>
            <a:r>
              <a:rPr lang="en-US" sz="3200" dirty="0">
                <a:latin typeface="+mj-lt"/>
              </a:rPr>
              <a:t> on juvenile tagging cruise</a:t>
            </a:r>
          </a:p>
          <a:p>
            <a:endParaRPr lang="en-U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84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5001" y="332063"/>
            <a:ext cx="4021139" cy="483967"/>
          </a:xfrm>
        </p:spPr>
        <p:txBody>
          <a:bodyPr>
            <a:noAutofit/>
          </a:bodyPr>
          <a:lstStyle/>
          <a:p>
            <a:r>
              <a:rPr lang="en-US" sz="4400" u="sng" dirty="0"/>
              <a:t>TAG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234" y="749355"/>
            <a:ext cx="6259229" cy="3655219"/>
          </a:xfrm>
        </p:spPr>
        <p:txBody>
          <a:bodyPr>
            <a:normAutofit/>
          </a:bodyPr>
          <a:lstStyle/>
          <a:p>
            <a:r>
              <a:rPr lang="en-US" dirty="0"/>
              <a:t>~38,500 TOTAL RECOVERIES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~450 – 650 NMFS tag recoveries/yr</a:t>
            </a:r>
            <a:endParaRPr lang="en-US" sz="4400" dirty="0">
              <a:latin typeface="+mj-lt"/>
            </a:endParaRPr>
          </a:p>
          <a:p>
            <a:r>
              <a:rPr lang="en-US" dirty="0">
                <a:latin typeface="+mj-lt"/>
              </a:rPr>
              <a:t>Additional 250 BC tags recovered in AK/</a:t>
            </a:r>
            <a:r>
              <a:rPr lang="en-US" dirty="0" err="1">
                <a:latin typeface="+mj-lt"/>
              </a:rPr>
              <a:t>yr</a:t>
            </a:r>
            <a:r>
              <a:rPr lang="en-US" dirty="0">
                <a:latin typeface="+mj-lt"/>
              </a:rPr>
              <a:t> (~25% of total recoveries)</a:t>
            </a:r>
          </a:p>
        </p:txBody>
      </p:sp>
    </p:spTree>
    <p:extLst>
      <p:ext uri="{BB962C8B-B14F-4D97-AF65-F5344CB8AC3E}">
        <p14:creationId xmlns:p14="http://schemas.microsoft.com/office/powerpoint/2010/main" val="4062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5976" y="314810"/>
            <a:ext cx="4021139" cy="483967"/>
          </a:xfrm>
        </p:spPr>
        <p:txBody>
          <a:bodyPr>
            <a:noAutofit/>
          </a:bodyPr>
          <a:lstStyle/>
          <a:p>
            <a:r>
              <a:rPr lang="en-US" sz="4400" u="sng" dirty="0"/>
              <a:t>TAG RECOVERIES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5976" y="798777"/>
            <a:ext cx="5372864" cy="3655219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+mj-lt"/>
              </a:rPr>
              <a:t>DATA:</a:t>
            </a:r>
          </a:p>
          <a:p>
            <a:pPr lvl="1"/>
            <a:r>
              <a:rPr lang="en-US" b="1" dirty="0">
                <a:latin typeface="+mj-lt"/>
              </a:rPr>
              <a:t>Release/recovery locations- great circle distance traveled</a:t>
            </a:r>
          </a:p>
          <a:p>
            <a:pPr lvl="1"/>
            <a:r>
              <a:rPr lang="en-US" b="1" dirty="0">
                <a:latin typeface="+mj-lt"/>
              </a:rPr>
              <a:t>Time at liberty</a:t>
            </a:r>
          </a:p>
          <a:p>
            <a:pPr lvl="1"/>
            <a:r>
              <a:rPr lang="en-US" b="1" dirty="0">
                <a:latin typeface="+mj-lt"/>
              </a:rPr>
              <a:t>Depth – @ release and capture</a:t>
            </a:r>
          </a:p>
          <a:p>
            <a:pPr lvl="1"/>
            <a:r>
              <a:rPr lang="en-US" b="1" dirty="0">
                <a:latin typeface="+mj-lt"/>
              </a:rPr>
              <a:t>Size - growth</a:t>
            </a:r>
          </a:p>
          <a:p>
            <a:pPr lvl="1"/>
            <a:r>
              <a:rPr lang="en-US" b="1" dirty="0">
                <a:latin typeface="+mj-lt"/>
              </a:rPr>
              <a:t>Otoliths- age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169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270" y="334490"/>
            <a:ext cx="4014501" cy="501329"/>
          </a:xfrm>
        </p:spPr>
        <p:txBody>
          <a:bodyPr>
            <a:noAutofit/>
          </a:bodyPr>
          <a:lstStyle/>
          <a:p>
            <a:r>
              <a:rPr lang="en-US" sz="3300" u="sng" dirty="0"/>
              <a:t>Tag Data used for</a:t>
            </a:r>
            <a:r>
              <a:rPr lang="en-US" sz="3300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658" y="835819"/>
            <a:ext cx="4629150" cy="4873625"/>
          </a:xfrm>
        </p:spPr>
        <p:txBody>
          <a:bodyPr/>
          <a:lstStyle/>
          <a:p>
            <a:r>
              <a:rPr lang="en-US" dirty="0"/>
              <a:t>Estimating growth</a:t>
            </a:r>
          </a:p>
          <a:p>
            <a:r>
              <a:rPr lang="en-US" dirty="0"/>
              <a:t>Known-age studies</a:t>
            </a:r>
          </a:p>
          <a:p>
            <a:r>
              <a:rPr lang="en-US" dirty="0"/>
              <a:t>Movement rates</a:t>
            </a:r>
          </a:p>
          <a:p>
            <a:r>
              <a:rPr lang="en-US" dirty="0"/>
              <a:t>Geographic apportionment of harvest rates</a:t>
            </a:r>
          </a:p>
          <a:p>
            <a:r>
              <a:rPr lang="en-US" dirty="0"/>
              <a:t>Decipher general movement patterns</a:t>
            </a:r>
          </a:p>
          <a:p>
            <a:endParaRPr 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 cstate="print"/>
          <a:srcRect l="6625" t="16223" r="6343" b="36129"/>
          <a:stretch/>
        </p:blipFill>
        <p:spPr bwMode="auto">
          <a:xfrm>
            <a:off x="4269771" y="152770"/>
            <a:ext cx="4772183" cy="384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L:\MISC\PICS\TRABAJAR\JIGGING\ST_JAMES_BAY_SB\2007\DSCN8615.JPG"/>
          <p:cNvPicPr>
            <a:picLocks noChangeAspect="1" noChangeArrowheads="1"/>
          </p:cNvPicPr>
          <p:nvPr/>
        </p:nvPicPr>
        <p:blipFill>
          <a:blip r:embed="rId3" cstate="print">
            <a:lum bright="-15000" contrast="20000"/>
          </a:blip>
          <a:srcRect t="-446" b="4338"/>
          <a:stretch>
            <a:fillRect/>
          </a:stretch>
        </p:blipFill>
        <p:spPr bwMode="auto">
          <a:xfrm>
            <a:off x="5025571" y="4145434"/>
            <a:ext cx="3382177" cy="2437874"/>
          </a:xfrm>
          <a:prstGeom prst="ellipse">
            <a:avLst/>
          </a:prstGeom>
          <a:noFill/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760360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0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3" y="199356"/>
            <a:ext cx="4148315" cy="49743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Sablefish Move….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3" cstate="print"/>
          <a:srcRect l="2613" t="26765" r="41776" b="11228"/>
          <a:stretch/>
        </p:blipFill>
        <p:spPr>
          <a:xfrm>
            <a:off x="4522889" y="116277"/>
            <a:ext cx="4543993" cy="3789456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04213" y="1777698"/>
            <a:ext cx="2211884" cy="3312152"/>
          </a:xfrm>
        </p:spPr>
        <p:txBody>
          <a:bodyPr/>
          <a:lstStyle/>
          <a:p>
            <a:endParaRPr lang="en-US" dirty="0"/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dirty="0"/>
          </a:p>
          <a:p>
            <a:pPr marL="214313" indent="-214313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-16268" y="707801"/>
            <a:ext cx="450610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prstClr val="black"/>
                </a:solidFill>
                <a:latin typeface="Calibri Light" panose="020F0302020204030204" pitchFamily="34" charset="0"/>
              </a:rPr>
              <a:t>A LOT!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latin typeface="+mj-lt"/>
              </a:rPr>
              <a:t>Average distance of 340 nm</a:t>
            </a:r>
          </a:p>
          <a:p>
            <a:pPr algn="ctr"/>
            <a:r>
              <a:rPr lang="en-US" sz="3000" b="1" dirty="0">
                <a:solidFill>
                  <a:prstClr val="black"/>
                </a:solidFill>
                <a:latin typeface="Calibri Light"/>
              </a:rPr>
              <a:t>FAR!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latin typeface="+mj-lt"/>
              </a:rPr>
              <a:t>Furthest recovery: 2,586 nm – 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latin typeface="+mj-lt"/>
              </a:rPr>
              <a:t>tagged off Washington and recovered in the Aleutian Islands 6 years later</a:t>
            </a:r>
          </a:p>
          <a:p>
            <a:pPr algn="ctr"/>
            <a:endParaRPr lang="en-US" sz="800" dirty="0">
              <a:solidFill>
                <a:prstClr val="black"/>
              </a:solidFill>
              <a:latin typeface="+mj-lt"/>
            </a:endParaRPr>
          </a:p>
          <a:p>
            <a:pPr algn="ctr"/>
            <a:r>
              <a:rPr lang="en-US" sz="3000" b="1" dirty="0">
                <a:solidFill>
                  <a:prstClr val="black"/>
                </a:solidFill>
                <a:latin typeface="Calibri Light"/>
              </a:rPr>
              <a:t>QUICKLY!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latin typeface="+mj-lt"/>
              </a:rPr>
              <a:t>Traveled 116 nm in 6 days</a:t>
            </a:r>
          </a:p>
          <a:p>
            <a:pPr algn="ctr"/>
            <a:endParaRPr lang="en-US" sz="800" dirty="0">
              <a:solidFill>
                <a:prstClr val="black"/>
              </a:solidFill>
              <a:latin typeface="+mj-lt"/>
            </a:endParaRPr>
          </a:p>
          <a:p>
            <a:pPr algn="ctr"/>
            <a:r>
              <a:rPr lang="en-US" sz="3000" b="1" dirty="0">
                <a:solidFill>
                  <a:prstClr val="black"/>
                </a:solidFill>
                <a:latin typeface="Calibri Light"/>
              </a:rPr>
              <a:t>FOR LONG PERIODS!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latin typeface="+mj-lt"/>
              </a:rPr>
              <a:t>Longest time at liberty &gt;39 </a:t>
            </a:r>
            <a:r>
              <a:rPr lang="en-US" sz="2400" dirty="0" err="1">
                <a:solidFill>
                  <a:prstClr val="black"/>
                </a:solidFill>
                <a:latin typeface="+mj-lt"/>
              </a:rPr>
              <a:t>yrs</a:t>
            </a:r>
            <a:endParaRPr lang="en-US" sz="2400" dirty="0">
              <a:solidFill>
                <a:prstClr val="black"/>
              </a:solidFill>
              <a:latin typeface="+mj-lt"/>
            </a:endParaRPr>
          </a:p>
          <a:p>
            <a:pPr algn="ctr"/>
            <a:endParaRPr lang="en-US" sz="800" dirty="0">
              <a:solidFill>
                <a:prstClr val="black"/>
              </a:solidFill>
              <a:latin typeface="+mj-lt"/>
            </a:endParaRPr>
          </a:p>
          <a:p>
            <a:pPr algn="ctr"/>
            <a:r>
              <a:rPr lang="en-US" sz="3000" b="1" dirty="0">
                <a:solidFill>
                  <a:prstClr val="black"/>
                </a:solidFill>
                <a:latin typeface="Calibri Light"/>
              </a:rPr>
              <a:t>BUT….</a:t>
            </a:r>
          </a:p>
          <a:p>
            <a:pPr algn="ctr"/>
            <a:r>
              <a:rPr lang="en-US" sz="2400" dirty="0">
                <a:solidFill>
                  <a:prstClr val="black"/>
                </a:solidFill>
                <a:latin typeface="+mj-lt"/>
              </a:rPr>
              <a:t>We don’t know why.</a:t>
            </a:r>
            <a:endParaRPr lang="en-US" sz="135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523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-22360"/>
            <a:ext cx="6858000" cy="1231118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latin typeface="David" panose="020E0502060401010101" pitchFamily="34" charset="-79"/>
                <a:cs typeface="David" panose="020E0502060401010101" pitchFamily="34" charset="-79"/>
              </a:rPr>
              <a:t>REWARD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9989" y="781629"/>
            <a:ext cx="8037242" cy="565519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David" panose="020E0502060401010101" pitchFamily="34" charset="-79"/>
                <a:cs typeface="David" panose="020E0502060401010101" pitchFamily="34" charset="-79"/>
              </a:rPr>
              <a:t>FOR TAGGED SABLEFISH</a:t>
            </a:r>
          </a:p>
        </p:txBody>
      </p:sp>
      <p:pic>
        <p:nvPicPr>
          <p:cNvPr id="4" name="Picture 3" descr="sablefish with photoshopped tag"/>
          <p:cNvPicPr/>
          <p:nvPr/>
        </p:nvPicPr>
        <p:blipFill rotWithShape="1">
          <a:blip r:embed="rId2" cstate="print"/>
          <a:srcRect l="23384" b="35235"/>
          <a:stretch/>
        </p:blipFill>
        <p:spPr bwMode="auto">
          <a:xfrm>
            <a:off x="2692866" y="1347148"/>
            <a:ext cx="3622475" cy="2003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SablefishTag"/>
          <p:cNvPicPr/>
          <p:nvPr/>
        </p:nvPicPr>
        <p:blipFill rotWithShape="1">
          <a:blip r:embed="rId3" cstate="print"/>
          <a:srcRect l="7023"/>
          <a:stretch/>
        </p:blipFill>
        <p:spPr bwMode="auto">
          <a:xfrm>
            <a:off x="6514897" y="1479976"/>
            <a:ext cx="2270180" cy="128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1" t="3471" r="2466" b="-1"/>
          <a:stretch/>
        </p:blipFill>
        <p:spPr bwMode="auto">
          <a:xfrm>
            <a:off x="259267" y="1479976"/>
            <a:ext cx="2256706" cy="14341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92947" y="3390881"/>
            <a:ext cx="88884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U.S. National Marine Fisheries Service Auke Bay Laboratory in Juneau, AK tags sablefish (</a:t>
            </a:r>
            <a:r>
              <a:rPr lang="en-US" sz="1400" dirty="0" err="1"/>
              <a:t>blackcod</a:t>
            </a:r>
            <a:r>
              <a:rPr lang="en-US" sz="1400" dirty="0"/>
              <a:t>) in the Gulf of Alaska, Bering Sea and Aleutian Islands in order to study distribution and migration.</a:t>
            </a:r>
          </a:p>
          <a:p>
            <a:endParaRPr lang="en-US" sz="1400" dirty="0"/>
          </a:p>
          <a:p>
            <a:r>
              <a:rPr lang="en-US" sz="1400" dirty="0"/>
              <a:t>Tags may be yellow, red, or orange and are usually located below the first dorsal fin on the left side of the fish.  In addition, sablefish are being tagged with ¾ inch diameter x 2 ¼  inch long electronic tags placed inside the fish with a 3 inch long fluorescent green and pink tag located near the dorsal fin of the fish.  The external tag reads – “Reward for Depth Sensor Inside Fish.”  These electronic tags are worth monetary rewards of up to $500 if returned. </a:t>
            </a:r>
          </a:p>
          <a:p>
            <a:endParaRPr lang="en-US" sz="1050" dirty="0"/>
          </a:p>
          <a:p>
            <a:r>
              <a:rPr lang="en-US" sz="1400" dirty="0"/>
              <a:t>Postage-paid envelopes are available in most areas.  For a reward and information on the tagged fish, please send tags with as much of the following information as possible:</a:t>
            </a:r>
          </a:p>
          <a:p>
            <a:r>
              <a:rPr lang="en-US" sz="1400" dirty="0"/>
              <a:t>        </a:t>
            </a:r>
          </a:p>
          <a:p>
            <a:r>
              <a:rPr lang="en-US" sz="1400" dirty="0"/>
              <a:t>        Name of vessel			Date of recovery     </a:t>
            </a:r>
          </a:p>
          <a:p>
            <a:r>
              <a:rPr lang="en-US" sz="1400" dirty="0"/>
              <a:t>        Location of recovery		   	Sex of the fish 				</a:t>
            </a:r>
          </a:p>
          <a:p>
            <a:r>
              <a:rPr lang="en-US" sz="1400" dirty="0"/>
              <a:t>        Fork length (from tip of snout to fork in tail)	Round weight 			</a:t>
            </a:r>
          </a:p>
          <a:p>
            <a:r>
              <a:rPr lang="en-US" sz="1400" dirty="0"/>
              <a:t>        Depth fished 			Type of gear</a:t>
            </a:r>
          </a:p>
          <a:p>
            <a:endParaRPr lang="en-US" sz="1400" dirty="0"/>
          </a:p>
          <a:p>
            <a:endParaRPr lang="en-US" sz="1350" dirty="0"/>
          </a:p>
        </p:txBody>
      </p:sp>
      <p:sp>
        <p:nvSpPr>
          <p:cNvPr id="17" name="TextBox 16"/>
          <p:cNvSpPr txBox="1"/>
          <p:nvPr/>
        </p:nvSpPr>
        <p:spPr>
          <a:xfrm>
            <a:off x="5486400" y="5478010"/>
            <a:ext cx="3418318" cy="107721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Sablefish Tag Program</a:t>
            </a:r>
          </a:p>
          <a:p>
            <a:pPr algn="ctr"/>
            <a:r>
              <a:rPr lang="en-US" sz="1600" dirty="0"/>
              <a:t>NOAA/NMFS Auke Bay Laboratories</a:t>
            </a:r>
          </a:p>
          <a:p>
            <a:pPr algn="ctr"/>
            <a:r>
              <a:rPr lang="en-US" sz="1600" dirty="0"/>
              <a:t>17109 Pt. Lena Loop Rd.</a:t>
            </a:r>
          </a:p>
          <a:p>
            <a:pPr algn="ctr"/>
            <a:r>
              <a:rPr lang="en-US" sz="1600" dirty="0"/>
              <a:t>Juneau, AK 99801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582" y="72339"/>
            <a:ext cx="1254668" cy="1347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9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458</Words>
  <Application>Microsoft Office PowerPoint</Application>
  <PresentationFormat>On-screen Show (4:3)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Light</vt:lpstr>
      <vt:lpstr>Corbel</vt:lpstr>
      <vt:lpstr>David</vt:lpstr>
      <vt:lpstr>Wingdings</vt:lpstr>
      <vt:lpstr>Office Theme</vt:lpstr>
      <vt:lpstr>Depth</vt:lpstr>
      <vt:lpstr>AFSC Sablefish Tag Program</vt:lpstr>
      <vt:lpstr>Extensive Time &amp; Data Series</vt:lpstr>
      <vt:lpstr>TAG RELEASE</vt:lpstr>
      <vt:lpstr>TAG RELEASE</vt:lpstr>
      <vt:lpstr>TAG RECOVERY</vt:lpstr>
      <vt:lpstr>TAG RECOVERIES</vt:lpstr>
      <vt:lpstr>Tag Data used for:</vt:lpstr>
      <vt:lpstr>Sablefish Move….</vt:lpstr>
      <vt:lpstr>REWARD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Sablefish Tag Program</dc:title>
  <dc:creator>Katy Echave</dc:creator>
  <cp:lastModifiedBy>Daniel.Goethel</cp:lastModifiedBy>
  <cp:revision>40</cp:revision>
  <dcterms:created xsi:type="dcterms:W3CDTF">2016-05-05T18:32:51Z</dcterms:created>
  <dcterms:modified xsi:type="dcterms:W3CDTF">2026-06-05T22:43:57Z</dcterms:modified>
</cp:coreProperties>
</file>