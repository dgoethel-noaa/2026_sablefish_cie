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82867cee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3e82867cee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c382d50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ec382d50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bbd62160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ebbd62160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82867cee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e82867cee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bbd6216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ebbd6216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bbd62160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ebbd62160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41c9ac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ea41c9ac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a41c9ac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ea41c9ac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a41c9ac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ea41c9ac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bbd62160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ebbd62160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a500d857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a500d857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ea500d857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500d857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a500d857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ea500d857a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500d857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500d857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ea500d857a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a500d857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a500d857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ea500d857a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a500d857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a500d857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ea500d857a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500d857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a500d857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a500d857a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a500d857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a500d857a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a500d857a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a500d857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a500d857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a500d857a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No photo">
  <p:cSld name="Title - No phot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Dark">
  <p:cSld name="Title -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-9190" y="4417160"/>
            <a:ext cx="9170673" cy="2457785"/>
          </a:xfrm>
          <a:custGeom>
            <a:avLst/>
            <a:gdLst/>
            <a:ahLst/>
            <a:cxnLst/>
            <a:rect l="l" t="t" r="r" b="b"/>
            <a:pathLst>
              <a:path w="9170673" h="2457785" extrusionOk="0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Boats">
  <p:cSld name="Title - Boa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urtle">
  <p:cSld name="Title - Tur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Seafood">
  <p:cSld name="Title - Seafoo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Fish">
  <p:cSld name="Title - Fish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01682" y="2631403"/>
            <a:ext cx="5485117" cy="127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-9190" y="4417160"/>
            <a:ext cx="9170673" cy="2457785"/>
          </a:xfrm>
          <a:custGeom>
            <a:avLst/>
            <a:gdLst/>
            <a:ahLst/>
            <a:cxnLst/>
            <a:rect l="l" t="t" r="r" b="b"/>
            <a:pathLst>
              <a:path w="9170673" h="2457785" extrusionOk="0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3313650" y="576775"/>
            <a:ext cx="5589300" cy="11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Overview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6040075" y="1981900"/>
            <a:ext cx="3103800" cy="46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Alaska mgmt regions</a:t>
            </a:r>
            <a:endParaRPr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Sablefish fishery History</a:t>
            </a:r>
            <a:endParaRPr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Sablefish fishery data</a:t>
            </a:r>
            <a:endParaRPr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Sablefish observer coverage</a:t>
            </a:r>
            <a:endParaRPr/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25700"/>
            <a:ext cx="3706527" cy="277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2025" y="1713175"/>
            <a:ext cx="3224175" cy="26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3313650" y="576775"/>
            <a:ext cx="5589300" cy="11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Management Regions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800" y="1908500"/>
            <a:ext cx="6186675" cy="43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3350825" y="577575"/>
            <a:ext cx="58611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history</a:t>
            </a:r>
            <a:endParaRPr sz="4400" b="1" i="0" u="none" strike="noStrike" cap="none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3350825" y="1319823"/>
            <a:ext cx="5484900" cy="4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1960s-1970s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Foreign unregulated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High catches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1970s - 1980s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1976 Magnuson-Stevens Conservation Act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Foreign, Joint Venture, Domestic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1980s - 1990s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Derby style open access fixed gear fishery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Domestic trawl allocations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High population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1995 - current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Indidividual Fishing Quota Program (IFQ)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3350825" y="577575"/>
            <a:ext cx="58611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history</a:t>
            </a:r>
            <a:endParaRPr sz="4400" b="1" i="0" u="none" strike="noStrike" cap="none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3350825" y="1319823"/>
            <a:ext cx="5484900" cy="4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1995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Individual Fishing Quota Program (IFQ)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Fixed gear (pot/hook) only for IFQ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Alaska-wide management</a:t>
            </a:r>
            <a:endParaRPr sz="2400"/>
          </a:p>
          <a:p>
            <a:pPr marL="1371600" marR="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apportioned across mgmt regions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Trawl/IFQ allocations fixed by Mgmt areas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2016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Pot gear legalized in GOA in 2016</a:t>
            </a:r>
            <a:endParaRPr sz="2400"/>
          </a:p>
          <a:p>
            <a:pPr marL="1371600" marR="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response to whale depredation</a:t>
            </a:r>
            <a:endParaRPr sz="24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3350825" y="577575"/>
            <a:ext cx="5861100" cy="1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history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endParaRPr sz="3000"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 sz="3000"/>
              <a:t>Catch by Area </a:t>
            </a:r>
            <a:endParaRPr sz="3000"/>
          </a:p>
        </p:txBody>
      </p:sp>
      <p:pic>
        <p:nvPicPr>
          <p:cNvPr id="75" name="Google Shape;75;p12" title="Fig. 3.1. Catch by are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600" y="2375698"/>
            <a:ext cx="6417300" cy="401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3350825" y="577575"/>
            <a:ext cx="5861100" cy="1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history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endParaRPr sz="3000"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 sz="3000"/>
              <a:t>Catch by Gear </a:t>
            </a:r>
            <a:endParaRPr sz="3000"/>
          </a:p>
        </p:txBody>
      </p:sp>
      <p:pic>
        <p:nvPicPr>
          <p:cNvPr id="81" name="Google Shape;81;p13" title="Fig. 3.2. Catch by g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450" y="2041823"/>
            <a:ext cx="6130273" cy="383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3350825" y="577575"/>
            <a:ext cx="58611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/>
              <a:t>Sablefish fishery data </a:t>
            </a:r>
            <a:endParaRPr sz="4400" b="1" i="0" u="none" strike="noStrike" cap="none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3350825" y="1319825"/>
            <a:ext cx="5484900" cy="5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1972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Foreign fleet observer program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1986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Domestic fishery observer program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1990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Formal groundfish plan for comprehensive fishery dependent data observer program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2013</a:t>
            </a:r>
            <a:endParaRPr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Restructuring plan - expanded to vessels &lt;60ft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2018</a:t>
            </a:r>
            <a:endParaRPr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Integration of Electronic Monitoring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146075" y="577575"/>
            <a:ext cx="60660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 sz="4000"/>
              <a:t>Sablefish Observer Coverage</a:t>
            </a:r>
            <a:r>
              <a:rPr lang="en-US"/>
              <a:t> </a:t>
            </a:r>
            <a:endParaRPr sz="4400" b="1" i="0" u="none" strike="noStrike" cap="none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350825" y="1319825"/>
            <a:ext cx="5484900" cy="5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Full coverage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Catcher/processor, mothership, transferable catch share programs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Few sablefish vessels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Partial coverage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Trawl catcher and fixed gear &gt;40ft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Random selection of trips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EM coverage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Vessels choose to opt in EM pool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Fixed gear vessels are subject to a selection rate (16.77% in GOA)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Zero coverage</a:t>
            </a:r>
            <a:endParaRPr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Vessels &lt; 40ft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3146075" y="577575"/>
            <a:ext cx="60660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 sz="4000"/>
              <a:t>Sablefish Observer Coverage</a:t>
            </a:r>
            <a:r>
              <a:rPr lang="en-US"/>
              <a:t> </a:t>
            </a:r>
            <a:endParaRPr sz="4400" b="1" i="0" u="none" strike="noStrike" cap="none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3350825" y="1319825"/>
            <a:ext cx="5484900" cy="5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Partial coverage rates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Determined by unified regional strata</a:t>
            </a:r>
            <a:endParaRPr sz="2400"/>
          </a:p>
          <a:p>
            <a:pPr marL="1371600" marR="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BSAI and GOA</a:t>
            </a:r>
            <a:endParaRPr sz="2400"/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GOA 16% selection rate</a:t>
            </a:r>
            <a:endParaRPr b="1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Overall good coverage</a:t>
            </a:r>
            <a:endParaRPr sz="2400"/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Many trips, many vessels, easy to have observers in ports, consistent sampling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BSAI 39% selection rate</a:t>
            </a:r>
            <a:endParaRPr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Overall poorer coverage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Fewer trips, fewer vessels, logistically challenging, </a:t>
            </a: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2370075" y="2423150"/>
            <a:ext cx="6490800" cy="12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</a:pPr>
            <a:r>
              <a:rPr lang="en-US" sz="4000"/>
              <a:t>Additional slides for reference purposes</a:t>
            </a:r>
            <a:r>
              <a:rPr lang="en-US"/>
              <a:t> </a:t>
            </a:r>
            <a:endParaRPr sz="4400" b="1" i="0" u="none" strike="noStrike" cap="none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"/>
          </p:nvPr>
        </p:nvSpPr>
        <p:spPr>
          <a:xfrm>
            <a:off x="6606318" y="2078275"/>
            <a:ext cx="2321700" cy="12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Number of unique vessels by year and region</a:t>
            </a:r>
            <a:endParaRPr/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18" title="Unique_Observed_Vessels_Targeting_Sablefis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75" y="571050"/>
            <a:ext cx="6077624" cy="607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6210100" y="2051075"/>
            <a:ext cx="28314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Observed hauls by management region in 2012 to show change in observer coverage by gear types and EM (Pot gear allowed in GOA in 2017: EM 2018)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9" title="Fishery_Observed_Hauls_Targeting_Sablefish_201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75" y="571050"/>
            <a:ext cx="6077624" cy="607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6337425" y="2014400"/>
            <a:ext cx="2602800" cy="31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Observed hauls by management region in 2024 to show change in observer coverage by gear types and EM (Pot gear allowed in GOA in 2017: EM 2018)</a:t>
            </a:r>
            <a:endParaRPr/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20" title="Fishery_Observed_Hauls_Targeting_Sablefish_202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75" y="571050"/>
            <a:ext cx="6077624" cy="607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6314800" y="1822000"/>
            <a:ext cx="2372100" cy="35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Observed hauls by management region in 2025 to show change in observer coverage by gear types and EM (Pot gear allowed in GOA in 2017: EM 2018)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1" title="Fishery_Observed_Hauls_Targeting_Sablefish_202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75" y="571050"/>
            <a:ext cx="6077624" cy="607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3371438" y="1720607"/>
            <a:ext cx="5484900" cy="12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Catch by gear/area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22" title="Fig. 3.3. Catch by area_g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2541"/>
            <a:ext cx="6591401" cy="411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371438" y="1720607"/>
            <a:ext cx="5484900" cy="12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Catch by assessment gear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23" title="Fig. 3.4. Catch by gear_1r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25" y="2231300"/>
            <a:ext cx="7114424" cy="444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71438" y="1720607"/>
            <a:ext cx="5484900" cy="12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Whale Depredation</a:t>
            </a: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4" title="Fig. 3.5. Fishery Whale Dep by are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00" y="3000367"/>
            <a:ext cx="6081050" cy="38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2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 figs</a:t>
            </a:r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3371438" y="1720607"/>
            <a:ext cx="5484900" cy="12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Comp Sample Sizes</a:t>
            </a:r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9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27475" cy="664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OAA Title Options">
  <a:themeElements>
    <a:clrScheme name="Custom 11">
      <a:dk1>
        <a:srgbClr val="000000"/>
      </a:dk1>
      <a:lt1>
        <a:srgbClr val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On-screen Show (4:3)</PresentationFormat>
  <Paragraphs>93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Arial Narrow</vt:lpstr>
      <vt:lpstr>Arial</vt:lpstr>
      <vt:lpstr>NOAA Title Options</vt:lpstr>
      <vt:lpstr>Sablefish Fishery Overview  </vt:lpstr>
      <vt:lpstr>Sablefish Fishery Management Regions </vt:lpstr>
      <vt:lpstr>Sablefish fishery history</vt:lpstr>
      <vt:lpstr>Sablefish fishery history</vt:lpstr>
      <vt:lpstr>Sablefish fishery history  Catch by Area </vt:lpstr>
      <vt:lpstr>Sablefish fishery history  Catch by Gear </vt:lpstr>
      <vt:lpstr>Sablefish fishery data </vt:lpstr>
      <vt:lpstr>Sablefish Observer Coverage </vt:lpstr>
      <vt:lpstr>Sablefish Observer Coverage </vt:lpstr>
      <vt:lpstr>Additional slides for reference purposes </vt:lpstr>
      <vt:lpstr>Extra figs</vt:lpstr>
      <vt:lpstr>Extra figs</vt:lpstr>
      <vt:lpstr>Extra figs</vt:lpstr>
      <vt:lpstr>Extra figs</vt:lpstr>
      <vt:lpstr>Extra figs</vt:lpstr>
      <vt:lpstr>Extra figs</vt:lpstr>
      <vt:lpstr>Extra figs</vt:lpstr>
      <vt:lpstr>Extra figs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Daniel.Goethel</cp:lastModifiedBy>
  <cp:revision>1</cp:revision>
  <dcterms:modified xsi:type="dcterms:W3CDTF">2026-06-16T00:01:47Z</dcterms:modified>
</cp:coreProperties>
</file>