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3" r:id="rId5"/>
    <p:sldId id="261" r:id="rId6"/>
    <p:sldId id="264" r:id="rId7"/>
    <p:sldId id="260" r:id="rId8"/>
    <p:sldId id="262" r:id="rId9"/>
    <p:sldId id="265" r:id="rId10"/>
    <p:sldId id="266" r:id="rId11"/>
    <p:sldId id="267" r:id="rId12"/>
    <p:sldId id="272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39"/>
  </p:normalViewPr>
  <p:slideViewPr>
    <p:cSldViewPr snapToGrid="0">
      <p:cViewPr>
        <p:scale>
          <a:sx n="120" d="100"/>
          <a:sy n="120" d="100"/>
        </p:scale>
        <p:origin x="14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3E7CB-C3C2-9045-A58D-4202FCCB75BC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A8745-C816-EC4A-B0CB-6A458035A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22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A8745-C816-EC4A-B0CB-6A458035A7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75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41F6-A857-5A47-F05D-ADF18B18B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C1821-38D9-23EC-491D-1DD96BCBE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FA3E8-AF5F-3D5F-F8F2-14FF9C5D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62BB-6834-141F-DB09-9BB96C9CF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ED92B-2B9E-DD2F-28B1-D8B64594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3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023F-091A-C074-6EC2-6C6FBF77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0CE50-6224-DCA7-23BD-9F7A645FB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A3107-FF35-9C98-E335-AB86998C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5E5DF-4223-2F8D-C611-ADAF649C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85178-14B9-5B10-D9CD-9E818B07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A105C-C972-5B66-0153-5706478E1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02C6D-4429-B933-692D-ED47D7857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9CDC1-B5EC-BA8D-A196-4BF65F269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AEE99-D347-2634-938E-6EFA7E33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EA367-1E88-534A-AC48-E8F75D07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8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53FA-9DF4-F3C6-2B4E-F4C62A64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8BD3-530F-D102-E649-FFDC853B5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EF893-475E-CFAC-FC35-73F1DE7F8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9CDC0-19B1-0BA2-6791-1576B232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691AD-2294-7DD3-0A09-5311300E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DF2B0-0494-B1D1-E7A2-09F131421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8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81528-96F7-20C9-F5B6-F86343940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FDFBF-5E07-5449-EB74-5E69B6A31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60EA6-19A7-DCF7-2307-8A39C506D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A99C0-E3F4-2267-B922-FEF896129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6D874-F920-BDFA-1B28-8C1CB9BEF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66487-7B57-88A1-9D54-1CA43853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4C6705-3AA5-268C-D5AA-B039A5B1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7C0DBA-01F2-CE91-0BC9-647F8ACA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5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D2F6-70E7-BAE1-18E2-6D9C1BC6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4480A-92B4-4E24-C64B-AE82F6DE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FBB0B-DC71-DDCB-1E16-A227DB8E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32F39-87A5-B1F6-920E-692766FB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4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9E59C-F008-B5AF-56A2-3E4187788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F2B59-9269-FE2A-ACA7-74F4D803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DE01C-7477-F446-6785-E63252BA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44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F32AA-1880-7EE7-3BA2-3EFCFAFB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F48B6-BCD4-7A3F-1A33-AA65B98A4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B278E-A7B9-5C0B-3A61-1233FBE01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9E8A2-944F-0FFA-57CE-EDE588088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B5823-FE33-1B50-8389-385DD9EB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9DE6B-3FE5-5F25-2420-0A0A44EE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4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BBC6-02FD-7BDD-AA85-93A4875BF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3B1F7-4B4E-2786-F6EA-A8155B509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F8CD8-9CDF-7263-90C5-4CB3AB3B7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2089C-A3FA-870C-260B-A8E8BBEF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B6AF1-AC34-17C4-DE0C-F9E2BB9D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B6F4A-6286-8A32-0D07-A1D4244F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4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3767-6E21-1240-57A7-10855D28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F8FB1-4920-024B-CF8E-0AA61028F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24715-1387-5407-EF4F-CE46A2AD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36684-ED42-76F4-5010-C62A17288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EE22-88C2-33FD-D8AB-0DA2D079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8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EFED28-9D92-D1F5-AA36-07DD91D36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DA6E9-8B80-00AE-A41F-224E56C65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59B18-E6BD-D84C-CAFF-22C4DC65F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CEF25-5C58-6FD4-3D44-0CAF910AC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5DF34-1C78-6B1A-A965-A722BDDB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E63EE-3A93-7920-9B72-EF8A0255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B7D38-A520-7E78-C4AC-0E3D2D895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B79DF-868E-89FB-D734-3C827B2BA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46150-1542-3748-BC21-1CB9E980BA5F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41AA3-7030-FFBA-A704-DC46A751B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B18EA-1896-8584-C9FC-E9CFBD676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EB77B-598B-E04A-8C75-9CFA73B9E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2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F77C-B166-27A2-8078-5A2973FC4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691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of a Spatial Stock Assessment for Alaska Sablefish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114B5-F1FB-364D-732B-868715776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46589"/>
            <a:ext cx="9144000" cy="1655762"/>
          </a:xfrm>
        </p:spPr>
        <p:txBody>
          <a:bodyPr/>
          <a:lstStyle/>
          <a:p>
            <a:r>
              <a:rPr lang="en-US" dirty="0"/>
              <a:t>Matt Cheng, Dan Goethel</a:t>
            </a:r>
          </a:p>
          <a:p>
            <a:r>
              <a:rPr lang="en-US" dirty="0"/>
              <a:t>CIE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5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F495-6618-6F83-CFE4-0960AF1A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and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04B4B-4D19-78AC-2A2B-F3F1056A8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849140" cy="4667250"/>
          </a:xfrm>
        </p:spPr>
        <p:txBody>
          <a:bodyPr/>
          <a:lstStyle/>
          <a:p>
            <a:r>
              <a:rPr lang="en-US" dirty="0"/>
              <a:t>Area: Alaska-wide stock</a:t>
            </a:r>
          </a:p>
          <a:p>
            <a:r>
              <a:rPr lang="en-US" dirty="0"/>
              <a:t>2 Models presented:</a:t>
            </a:r>
          </a:p>
          <a:p>
            <a:pPr lvl="1"/>
            <a:r>
              <a:rPr lang="en-US" dirty="0"/>
              <a:t>3-region model</a:t>
            </a:r>
          </a:p>
          <a:p>
            <a:pPr lvl="2"/>
            <a:r>
              <a:rPr lang="en-US" dirty="0"/>
              <a:t>BS, AI, WGOA + CGOA + EGOA</a:t>
            </a:r>
          </a:p>
          <a:p>
            <a:pPr lvl="1"/>
            <a:r>
              <a:rPr lang="en-US" dirty="0"/>
              <a:t>5-region model</a:t>
            </a:r>
          </a:p>
          <a:p>
            <a:pPr lvl="1"/>
            <a:r>
              <a:rPr lang="en-US" dirty="0"/>
              <a:t>BS, AI, WGOA, CGOA, and EGOA</a:t>
            </a:r>
          </a:p>
          <a:p>
            <a:r>
              <a:rPr lang="en-US" dirty="0"/>
              <a:t>Model parameterization generally follows Cheng et al. (2025) and the proposed single-region / fleets-as-areas configurations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FE04E3-8193-355D-0127-1A2CAC991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50" y="1485900"/>
            <a:ext cx="7772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80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D993-4AE4-5DBE-8058-F3D7C71DE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A0991-54C6-73DE-CC91-C73780C5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902"/>
            <a:ext cx="10515600" cy="1325563"/>
          </a:xfrm>
        </p:spPr>
        <p:txBody>
          <a:bodyPr/>
          <a:lstStyle/>
          <a:p>
            <a:r>
              <a:rPr lang="en-US" dirty="0"/>
              <a:t>Data Summary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0C0838-806D-34E8-8377-8A0F3D1F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7142"/>
            <a:ext cx="11982478" cy="41377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B63051-F38E-6E71-09E7-9EDD98034F7B}"/>
              </a:ext>
            </a:extLst>
          </p:cNvPr>
          <p:cNvSpPr txBox="1"/>
          <p:nvPr/>
        </p:nvSpPr>
        <p:spPr>
          <a:xfrm>
            <a:off x="0" y="6488668"/>
            <a:ext cx="8824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Longline Fishery and Domestic Survey are primary drivers of population dynamics</a:t>
            </a:r>
          </a:p>
        </p:txBody>
      </p:sp>
    </p:spTree>
    <p:extLst>
      <p:ext uri="{BB962C8B-B14F-4D97-AF65-F5344CB8AC3E}">
        <p14:creationId xmlns:p14="http://schemas.microsoft.com/office/powerpoint/2010/main" val="162559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B8F41-7865-281F-A7E0-501369C62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4006-5902-5723-E273-282184A71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9E83-DD04-6C1E-6BB5-4AE3C9634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2206943"/>
            <a:ext cx="3439887" cy="3970020"/>
          </a:xfrm>
        </p:spPr>
        <p:txBody>
          <a:bodyPr>
            <a:normAutofit/>
          </a:bodyPr>
          <a:lstStyle/>
          <a:p>
            <a:r>
              <a:rPr lang="en-US" dirty="0"/>
              <a:t>Higher removals from longline fleet in the GOA</a:t>
            </a:r>
          </a:p>
          <a:p>
            <a:r>
              <a:rPr lang="en-US" dirty="0"/>
              <a:t>Removals tend to be higher by trawl fleet in the BS, though still small in comparison to longline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5F2DD02-3162-4EEB-5F90-356162D267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FAC41-9045-085B-CCB6-7079B9593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030" y="2206943"/>
            <a:ext cx="8479970" cy="358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8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C3282-AC63-E252-6C23-FC6AAF6A9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A152-4E89-B3B3-2814-032AF14AD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0243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Historically, indices have been higher in GOA regions</a:t>
            </a:r>
          </a:p>
          <a:p>
            <a:r>
              <a:rPr lang="en-US" dirty="0"/>
              <a:t>GOA is likely the center of AK sablefish distribution</a:t>
            </a:r>
          </a:p>
          <a:p>
            <a:r>
              <a:rPr lang="en-US" dirty="0"/>
              <a:t>Recent increases in BS, AI due to recruitment events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110B5B-14C0-EAB0-4DF0-5AF697376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662" y="2188028"/>
            <a:ext cx="8378338" cy="335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02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ECA9-4747-F746-7C78-1CBB8D41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1F598-C899-C515-8F41-54DB8EF53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60371" cy="4351338"/>
          </a:xfrm>
        </p:spPr>
        <p:txBody>
          <a:bodyPr/>
          <a:lstStyle/>
          <a:p>
            <a:r>
              <a:rPr lang="en-US" dirty="0"/>
              <a:t>Generally younger fish in the BS and AI</a:t>
            </a:r>
          </a:p>
          <a:p>
            <a:r>
              <a:rPr lang="en-US" dirty="0"/>
              <a:t>AI Fishery ages occasionally observes a large number of old individuals</a:t>
            </a:r>
          </a:p>
          <a:p>
            <a:r>
              <a:rPr lang="en-US" dirty="0"/>
              <a:t>Older fish in the GOA</a:t>
            </a:r>
          </a:p>
          <a:p>
            <a:r>
              <a:rPr lang="en-US" dirty="0"/>
              <a:t>Likely due to ontogenetic movement dynamics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F14A3-2DEA-17C3-2584-7CBA4F536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735783"/>
            <a:ext cx="6047784" cy="3106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5E7E15-D341-5EE3-7031-D8FB1F5B6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3842657"/>
            <a:ext cx="5991184" cy="301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85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B526-3DEC-A161-BC29-AFFA2364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Model Structure (5-region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89692-0962-2C6E-F0DC-9C042A564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7242545" cy="553243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5-areas, sex-disaggregated, age-structured</a:t>
            </a:r>
          </a:p>
          <a:p>
            <a:pPr lvl="1"/>
            <a:r>
              <a:rPr lang="en-US" dirty="0"/>
              <a:t>BS, AI, WGOA, CGOA, EGOA</a:t>
            </a:r>
          </a:p>
          <a:p>
            <a:pPr lvl="1"/>
            <a:r>
              <a:rPr lang="en-US" dirty="0"/>
              <a:t>Statistical catch-at-age model in SPoRC</a:t>
            </a:r>
          </a:p>
          <a:p>
            <a:r>
              <a:rPr lang="en-US" dirty="0"/>
              <a:t>Biological parameters input (2 growth time blocks)</a:t>
            </a:r>
          </a:p>
          <a:p>
            <a:r>
              <a:rPr lang="en-US" dirty="0"/>
              <a:t>Natural mortality fixed at 0.092 for females, 0.096 for males (based on </a:t>
            </a:r>
            <a:r>
              <a:rPr lang="en-US" i="1" dirty="0"/>
              <a:t>FAA</a:t>
            </a:r>
            <a:r>
              <a:rPr lang="en-US" dirty="0"/>
              <a:t> model)</a:t>
            </a:r>
          </a:p>
          <a:p>
            <a:r>
              <a:rPr lang="en-US" dirty="0"/>
              <a:t>Movement estimated in 3 age blocks (2-7, 8 – 15, 16-31)</a:t>
            </a:r>
          </a:p>
          <a:p>
            <a:r>
              <a:rPr lang="en-US" dirty="0"/>
              <a:t>Spatially and annually varying independent deviations from average regional recruitment</a:t>
            </a:r>
          </a:p>
          <a:p>
            <a:r>
              <a:rPr lang="en-US" dirty="0"/>
              <a:t>Each fleet (fishery and survey) has sex-specific selectivity</a:t>
            </a:r>
          </a:p>
          <a:p>
            <a:pPr lvl="1"/>
            <a:r>
              <a:rPr lang="en-US" dirty="0"/>
              <a:t>Logistic selectivity for all fleets (no time variation)</a:t>
            </a:r>
          </a:p>
          <a:p>
            <a:r>
              <a:rPr lang="en-US" dirty="0"/>
              <a:t>Catchability parameters freely estimated (assumed spatially-invariant)</a:t>
            </a:r>
          </a:p>
          <a:p>
            <a:r>
              <a:rPr lang="en-US" dirty="0"/>
              <a:t>Fishing mortality estimated with yearly deviations for each region and fleet</a:t>
            </a:r>
          </a:p>
          <a:p>
            <a:r>
              <a:rPr lang="en-US" dirty="0"/>
              <a:t>Tagging data follows a Multinomial Release-conditioned likelihood </a:t>
            </a:r>
          </a:p>
          <a:p>
            <a:r>
              <a:rPr lang="en-US" dirty="0"/>
              <a:t>1208 parameters estimated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F74BD8-14AE-F4C5-09BE-F1098638A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005" y="1952367"/>
            <a:ext cx="6888892" cy="344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4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E866E-0A6D-9C49-59F6-5CE877D0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435D-0ADC-E11C-C440-37450E28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Model Structure (3-region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5D293-7849-8EE1-2583-5BC170AF3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971"/>
            <a:ext cx="6662058" cy="5617028"/>
          </a:xfrm>
        </p:spPr>
        <p:txBody>
          <a:bodyPr>
            <a:normAutofit/>
          </a:bodyPr>
          <a:lstStyle/>
          <a:p>
            <a:r>
              <a:rPr lang="en-US" dirty="0"/>
              <a:t>Same parameterization as 3-region model</a:t>
            </a:r>
          </a:p>
          <a:p>
            <a:r>
              <a:rPr lang="en-US" dirty="0"/>
              <a:t>3-areas, sex-disaggregated, age-structured</a:t>
            </a:r>
          </a:p>
          <a:p>
            <a:pPr lvl="1"/>
            <a:r>
              <a:rPr lang="en-US" dirty="0"/>
              <a:t>BS, AI, WGOA + CGOA + EGOA</a:t>
            </a:r>
          </a:p>
          <a:p>
            <a:pPr lvl="1"/>
            <a:r>
              <a:rPr lang="en-US" dirty="0"/>
              <a:t>Statistical catch-at-age model in SPoRC</a:t>
            </a:r>
          </a:p>
          <a:p>
            <a:r>
              <a:rPr lang="en-US" dirty="0"/>
              <a:t>723 parameters estimated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10ADE-E47E-8EDE-FC4D-6E47F8FC4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005" y="1952367"/>
            <a:ext cx="6888892" cy="344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95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A8D6-FE29-3E75-3812-0ACFE6C12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to indices (5-region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ACBC5-CDFC-EF30-B895-D7181EB8C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94314" cy="4351338"/>
          </a:xfrm>
        </p:spPr>
        <p:txBody>
          <a:bodyPr/>
          <a:lstStyle/>
          <a:p>
            <a:r>
              <a:rPr lang="en-US" dirty="0"/>
              <a:t>Adequate fits to all indices across regions</a:t>
            </a:r>
          </a:p>
          <a:p>
            <a:r>
              <a:rPr lang="en-US" dirty="0"/>
              <a:t>Slight over-prediction of index in EGOA in recent years</a:t>
            </a:r>
          </a:p>
          <a:p>
            <a:pPr lvl="1"/>
            <a:r>
              <a:rPr lang="en-US" dirty="0"/>
              <a:t>Potentially due to time-varying movement?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27421E-6D4D-A160-22F0-128AF338E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676400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2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FB9C-627D-0AB1-A779-95841511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37E88-0284-02A7-DD4F-37A0B3BD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to indices (3-region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A034D-3131-82D2-61EA-A6695D7A0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94314" cy="4351338"/>
          </a:xfrm>
        </p:spPr>
        <p:txBody>
          <a:bodyPr>
            <a:normAutofit/>
          </a:bodyPr>
          <a:lstStyle/>
          <a:p>
            <a:r>
              <a:rPr lang="en-US" dirty="0"/>
              <a:t>Similar results to 5-region model</a:t>
            </a:r>
          </a:p>
          <a:p>
            <a:r>
              <a:rPr lang="en-US" dirty="0"/>
              <a:t>Generally adequate fits to all indices and regions</a:t>
            </a:r>
          </a:p>
          <a:p>
            <a:r>
              <a:rPr lang="en-US" dirty="0"/>
              <a:t>Slight over-prediction of index in EGOA in recent years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0BC3C-AABD-4C4C-148D-58908D262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032" y="1690688"/>
            <a:ext cx="7750968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18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018C-7DF8-7675-F3C0-ED9620F1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Fit to compositions (5-region model)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C97BB-4832-9B13-E1ED-8C363AD52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777343" cy="45098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Generally acceptable fits to composition data for fishery and domestic longline fleets on aggregate</a:t>
            </a:r>
          </a:p>
          <a:p>
            <a:r>
              <a:rPr lang="en-US" dirty="0"/>
              <a:t>Sparser age compositions in the BS and AI</a:t>
            </a:r>
          </a:p>
          <a:p>
            <a:pPr lvl="1"/>
            <a:r>
              <a:rPr lang="en-US" dirty="0"/>
              <a:t>Trouble fitting fishery AI plus group</a:t>
            </a:r>
          </a:p>
          <a:p>
            <a:r>
              <a:rPr lang="en-US" dirty="0"/>
              <a:t>Underprediction of younger-intermediate-aged individuals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804B6-B5B8-3F83-6418-019C494D9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969" y="1542863"/>
            <a:ext cx="5823857" cy="2458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FBD44-7CE2-27F2-F5F7-9A0B5B13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969" y="3671849"/>
            <a:ext cx="5826804" cy="24584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D73C8C-A144-79E5-4D52-1AE8AEC45D1C}"/>
              </a:ext>
            </a:extLst>
          </p:cNvPr>
          <p:cNvSpPr txBox="1"/>
          <p:nvPr/>
        </p:nvSpPr>
        <p:spPr>
          <a:xfrm>
            <a:off x="7053944" y="1542862"/>
            <a:ext cx="10393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EA0762-7A3F-07EB-7B76-460B83BD902D}"/>
              </a:ext>
            </a:extLst>
          </p:cNvPr>
          <p:cNvSpPr txBox="1"/>
          <p:nvPr/>
        </p:nvSpPr>
        <p:spPr>
          <a:xfrm>
            <a:off x="7053944" y="3631962"/>
            <a:ext cx="10393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05AE9-BB4D-0DFC-7AA1-DEB497EF785B}"/>
              </a:ext>
            </a:extLst>
          </p:cNvPr>
          <p:cNvSpPr txBox="1"/>
          <p:nvPr/>
        </p:nvSpPr>
        <p:spPr>
          <a:xfrm>
            <a:off x="9851573" y="3671849"/>
            <a:ext cx="7841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6D148-54F2-C301-AF9F-77DC2D68A0F0}"/>
              </a:ext>
            </a:extLst>
          </p:cNvPr>
          <p:cNvSpPr txBox="1"/>
          <p:nvPr/>
        </p:nvSpPr>
        <p:spPr>
          <a:xfrm>
            <a:off x="9851572" y="1573491"/>
            <a:ext cx="7841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288C64-7631-F901-102C-4EDCB6208613}"/>
              </a:ext>
            </a:extLst>
          </p:cNvPr>
          <p:cNvSpPr txBox="1"/>
          <p:nvPr/>
        </p:nvSpPr>
        <p:spPr>
          <a:xfrm rot="5400000">
            <a:off x="11263379" y="2607356"/>
            <a:ext cx="5501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FC332F-AB5A-3A32-D39F-8E0641C08526}"/>
              </a:ext>
            </a:extLst>
          </p:cNvPr>
          <p:cNvSpPr txBox="1"/>
          <p:nvPr/>
        </p:nvSpPr>
        <p:spPr>
          <a:xfrm rot="5400000">
            <a:off x="11043889" y="4807156"/>
            <a:ext cx="9891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CGOA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BB3BE4-340D-4A81-3D93-D7DB22301D6F}"/>
              </a:ext>
            </a:extLst>
          </p:cNvPr>
          <p:cNvSpPr txBox="1"/>
          <p:nvPr/>
        </p:nvSpPr>
        <p:spPr>
          <a:xfrm>
            <a:off x="9419935" y="5942463"/>
            <a:ext cx="2261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Survey compositions</a:t>
            </a:r>
          </a:p>
        </p:txBody>
      </p:sp>
    </p:spTree>
    <p:extLst>
      <p:ext uri="{BB962C8B-B14F-4D97-AF65-F5344CB8AC3E}">
        <p14:creationId xmlns:p14="http://schemas.microsoft.com/office/powerpoint/2010/main" val="2853492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D120-3828-D047-C8BA-826166E0B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DB3A0B-E802-8851-FDE7-F24EA908E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486" y="2561993"/>
            <a:ext cx="7772400" cy="32879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C6298A-CBE7-8A79-EE2E-E9195250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Fit to compositions (5-region model)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5A474-3D91-5A9A-9E12-48E5508B9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417331" cy="450986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Generally acceptable fits to composition data for fishery and domestic longline fleets on aggregate</a:t>
            </a:r>
          </a:p>
          <a:p>
            <a:r>
              <a:rPr lang="en-US" dirty="0"/>
              <a:t>Sparser age compositions in the BS and AI</a:t>
            </a:r>
          </a:p>
          <a:p>
            <a:pPr lvl="1"/>
            <a:r>
              <a:rPr lang="en-US" dirty="0"/>
              <a:t>Trouble fitting fishery AI plus group</a:t>
            </a:r>
          </a:p>
          <a:p>
            <a:r>
              <a:rPr lang="en-US" dirty="0"/>
              <a:t>Underprediction of younger-intermediate-aged individuals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B9D34C-8218-71A6-BAF8-9E0E0EE7A67B}"/>
              </a:ext>
            </a:extLst>
          </p:cNvPr>
          <p:cNvSpPr txBox="1"/>
          <p:nvPr/>
        </p:nvSpPr>
        <p:spPr>
          <a:xfrm>
            <a:off x="6302830" y="2561993"/>
            <a:ext cx="10393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A2909A-0E06-A1BB-0127-0F2DAFBCBDBA}"/>
              </a:ext>
            </a:extLst>
          </p:cNvPr>
          <p:cNvSpPr txBox="1"/>
          <p:nvPr/>
        </p:nvSpPr>
        <p:spPr>
          <a:xfrm>
            <a:off x="9699173" y="2651178"/>
            <a:ext cx="7841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4F844B-3119-63E7-EEC5-88E4041C6CEC}"/>
              </a:ext>
            </a:extLst>
          </p:cNvPr>
          <p:cNvSpPr txBox="1"/>
          <p:nvPr/>
        </p:nvSpPr>
        <p:spPr>
          <a:xfrm rot="5400000">
            <a:off x="11348689" y="4121357"/>
            <a:ext cx="9891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95F77-0B62-1D26-4438-BC1A94A69510}"/>
              </a:ext>
            </a:extLst>
          </p:cNvPr>
          <p:cNvSpPr txBox="1"/>
          <p:nvPr/>
        </p:nvSpPr>
        <p:spPr>
          <a:xfrm>
            <a:off x="9766414" y="5524195"/>
            <a:ext cx="2313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Fishery compositions</a:t>
            </a:r>
          </a:p>
        </p:txBody>
      </p:sp>
    </p:spTree>
    <p:extLst>
      <p:ext uri="{BB962C8B-B14F-4D97-AF65-F5344CB8AC3E}">
        <p14:creationId xmlns:p14="http://schemas.microsoft.com/office/powerpoint/2010/main" val="3656408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45170-F69D-4CE7-F0E1-AD46AD42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9C4094-0E71-4B36-D8A1-DAA1DE14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3699223"/>
            <a:ext cx="7772400" cy="2171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F3369A-DBB6-C302-420E-AC7BC1FCC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Fit to compositions (5-region model)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B6298-E300-177B-7B23-B503026E6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287333" cy="485820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Generally acceptable fits to composition data for fishery and domestic longline fleets on aggregate</a:t>
            </a:r>
          </a:p>
          <a:p>
            <a:r>
              <a:rPr lang="en-US" dirty="0"/>
              <a:t>Sparser age compositions in the BS</a:t>
            </a:r>
          </a:p>
          <a:p>
            <a:r>
              <a:rPr lang="en-US" dirty="0"/>
              <a:t>Positive residuals for large recent recruitment events</a:t>
            </a:r>
          </a:p>
          <a:p>
            <a:pPr lvl="1"/>
            <a:r>
              <a:rPr lang="en-US" dirty="0"/>
              <a:t>Potentially underpredicting recruits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E5F5C-08D1-E1EB-6F03-D3E1091A7E59}"/>
              </a:ext>
            </a:extLst>
          </p:cNvPr>
          <p:cNvSpPr txBox="1"/>
          <p:nvPr/>
        </p:nvSpPr>
        <p:spPr>
          <a:xfrm>
            <a:off x="6008916" y="3612995"/>
            <a:ext cx="10393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73735-7428-8738-0F4E-FF591ED7D282}"/>
              </a:ext>
            </a:extLst>
          </p:cNvPr>
          <p:cNvSpPr txBox="1"/>
          <p:nvPr/>
        </p:nvSpPr>
        <p:spPr>
          <a:xfrm>
            <a:off x="9845450" y="3699223"/>
            <a:ext cx="7841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533476-9B3E-E4C9-4254-383F5020E6FF}"/>
              </a:ext>
            </a:extLst>
          </p:cNvPr>
          <p:cNvSpPr txBox="1"/>
          <p:nvPr/>
        </p:nvSpPr>
        <p:spPr>
          <a:xfrm rot="5400000">
            <a:off x="11512758" y="4682766"/>
            <a:ext cx="9891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CGOA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6EFE53-2E7C-3ACB-6648-16AD20D794C2}"/>
              </a:ext>
            </a:extLst>
          </p:cNvPr>
          <p:cNvSpPr/>
          <p:nvPr/>
        </p:nvSpPr>
        <p:spPr>
          <a:xfrm rot="19367691">
            <a:off x="11026705" y="5084127"/>
            <a:ext cx="827034" cy="42454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5A56CA-FE22-729F-F642-BEF4ECF34186}"/>
              </a:ext>
            </a:extLst>
          </p:cNvPr>
          <p:cNvSpPr/>
          <p:nvPr/>
        </p:nvSpPr>
        <p:spPr>
          <a:xfrm rot="19367691">
            <a:off x="7137602" y="5074452"/>
            <a:ext cx="1076044" cy="42454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2DF0A6-9F3F-9035-A409-F9999B367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460260"/>
            <a:ext cx="7772400" cy="206301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7DB78EB-EEC0-0F82-BFEF-984FF0A30912}"/>
              </a:ext>
            </a:extLst>
          </p:cNvPr>
          <p:cNvSpPr txBox="1"/>
          <p:nvPr/>
        </p:nvSpPr>
        <p:spPr>
          <a:xfrm>
            <a:off x="6120671" y="1362851"/>
            <a:ext cx="10393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75322F-2F32-47CF-0BD1-0DE47D757B55}"/>
              </a:ext>
            </a:extLst>
          </p:cNvPr>
          <p:cNvSpPr txBox="1"/>
          <p:nvPr/>
        </p:nvSpPr>
        <p:spPr>
          <a:xfrm>
            <a:off x="9957205" y="1449079"/>
            <a:ext cx="7841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06EA20-2751-2AA8-4B60-A15C4087E253}"/>
              </a:ext>
            </a:extLst>
          </p:cNvPr>
          <p:cNvSpPr/>
          <p:nvPr/>
        </p:nvSpPr>
        <p:spPr>
          <a:xfrm rot="19367691">
            <a:off x="7249357" y="2682792"/>
            <a:ext cx="1076044" cy="42454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0E3474-C25E-8C3C-B5C9-DD7687439D06}"/>
              </a:ext>
            </a:extLst>
          </p:cNvPr>
          <p:cNvSpPr txBox="1"/>
          <p:nvPr/>
        </p:nvSpPr>
        <p:spPr>
          <a:xfrm rot="5400000">
            <a:off x="11588023" y="2603755"/>
            <a:ext cx="9891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694037-D2ED-9700-E9B7-A33C72DB08CE}"/>
              </a:ext>
            </a:extLst>
          </p:cNvPr>
          <p:cNvSpPr txBox="1"/>
          <p:nvPr/>
        </p:nvSpPr>
        <p:spPr>
          <a:xfrm>
            <a:off x="9973060" y="6506513"/>
            <a:ext cx="2261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Survey compositions</a:t>
            </a:r>
          </a:p>
        </p:txBody>
      </p:sp>
    </p:spTree>
    <p:extLst>
      <p:ext uri="{BB962C8B-B14F-4D97-AF65-F5344CB8AC3E}">
        <p14:creationId xmlns:p14="http://schemas.microsoft.com/office/powerpoint/2010/main" val="1280285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A7D0-9862-2BCE-ACB4-F0AE0B7F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Fits to compositions (3-region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2F733-1FD9-A0C1-0D97-707B2CE1F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40088" cy="4351338"/>
          </a:xfrm>
        </p:spPr>
        <p:txBody>
          <a:bodyPr>
            <a:normAutofit/>
          </a:bodyPr>
          <a:lstStyle/>
          <a:p>
            <a:r>
              <a:rPr lang="en-US" sz="2300" dirty="0"/>
              <a:t>Similar patterns to 5-region model </a:t>
            </a:r>
          </a:p>
          <a:p>
            <a:r>
              <a:rPr lang="en-US" sz="2300" dirty="0"/>
              <a:t>Sparse data in BS and AI (trouble fitting AI plus group in fishery)</a:t>
            </a:r>
          </a:p>
          <a:p>
            <a:r>
              <a:rPr lang="en-US" sz="2300" dirty="0"/>
              <a:t>General overprediction of old individuals in GOA</a:t>
            </a:r>
          </a:p>
          <a:p>
            <a:r>
              <a:rPr lang="en-US" sz="2300" dirty="0"/>
              <a:t>Similar cohort patterns as in 5-region model</a:t>
            </a:r>
          </a:p>
          <a:p>
            <a:pPr marL="0" indent="0">
              <a:buNone/>
            </a:pPr>
            <a:endParaRPr lang="en-US" sz="2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44769-7F4C-1F20-8EF9-E1763C453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3" y="1334212"/>
            <a:ext cx="4909457" cy="2094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2D15BD-7AFF-8BC4-D522-64F49D017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753" y="3148726"/>
            <a:ext cx="5310047" cy="20947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8AA5AD-5F90-D665-2DF9-D0806128E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429" y="4587797"/>
            <a:ext cx="5257800" cy="22593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077D6D-611C-2B26-B661-3992A3FE1EA0}"/>
              </a:ext>
            </a:extLst>
          </p:cNvPr>
          <p:cNvSpPr txBox="1"/>
          <p:nvPr/>
        </p:nvSpPr>
        <p:spPr>
          <a:xfrm>
            <a:off x="7241899" y="1331730"/>
            <a:ext cx="10393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020C27-48C6-3CA9-71D1-5CF098CFEDB2}"/>
              </a:ext>
            </a:extLst>
          </p:cNvPr>
          <p:cNvSpPr txBox="1"/>
          <p:nvPr/>
        </p:nvSpPr>
        <p:spPr>
          <a:xfrm>
            <a:off x="9641519" y="1342104"/>
            <a:ext cx="7841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FE6BA-8D9F-BF51-B798-99464BAE5991}"/>
              </a:ext>
            </a:extLst>
          </p:cNvPr>
          <p:cNvSpPr txBox="1"/>
          <p:nvPr/>
        </p:nvSpPr>
        <p:spPr>
          <a:xfrm>
            <a:off x="7241899" y="3233960"/>
            <a:ext cx="10393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B1F077-BBEB-1290-90D3-05FFB67DCA1C}"/>
              </a:ext>
            </a:extLst>
          </p:cNvPr>
          <p:cNvSpPr txBox="1"/>
          <p:nvPr/>
        </p:nvSpPr>
        <p:spPr>
          <a:xfrm>
            <a:off x="9641519" y="3244334"/>
            <a:ext cx="7841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00744-6AED-0ABA-853B-32DB169AE6B8}"/>
              </a:ext>
            </a:extLst>
          </p:cNvPr>
          <p:cNvSpPr txBox="1"/>
          <p:nvPr/>
        </p:nvSpPr>
        <p:spPr>
          <a:xfrm>
            <a:off x="1657744" y="4584622"/>
            <a:ext cx="10393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4289AF-75FA-6E5A-1378-8BE823FA32ED}"/>
              </a:ext>
            </a:extLst>
          </p:cNvPr>
          <p:cNvSpPr txBox="1"/>
          <p:nvPr/>
        </p:nvSpPr>
        <p:spPr>
          <a:xfrm>
            <a:off x="4057364" y="4594996"/>
            <a:ext cx="7841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E3963B-14F9-5D30-35E0-4EE788226FFC}"/>
              </a:ext>
            </a:extLst>
          </p:cNvPr>
          <p:cNvSpPr txBox="1"/>
          <p:nvPr/>
        </p:nvSpPr>
        <p:spPr>
          <a:xfrm rot="5400000">
            <a:off x="10828732" y="2204430"/>
            <a:ext cx="5501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FBDC19-0D19-E3DF-3CE4-16759598774C}"/>
              </a:ext>
            </a:extLst>
          </p:cNvPr>
          <p:cNvSpPr txBox="1"/>
          <p:nvPr/>
        </p:nvSpPr>
        <p:spPr>
          <a:xfrm rot="5400000">
            <a:off x="10948083" y="4127003"/>
            <a:ext cx="5501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86BE67-60F4-4483-6183-AFC585F44E36}"/>
              </a:ext>
            </a:extLst>
          </p:cNvPr>
          <p:cNvSpPr txBox="1"/>
          <p:nvPr/>
        </p:nvSpPr>
        <p:spPr>
          <a:xfrm rot="5400000">
            <a:off x="5278974" y="5532791"/>
            <a:ext cx="7489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GOA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1FFDBB-7E5E-3143-D0D3-844DA3036C11}"/>
              </a:ext>
            </a:extLst>
          </p:cNvPr>
          <p:cNvSpPr txBox="1"/>
          <p:nvPr/>
        </p:nvSpPr>
        <p:spPr>
          <a:xfrm>
            <a:off x="9973060" y="6506513"/>
            <a:ext cx="2261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Survey compositions</a:t>
            </a:r>
          </a:p>
        </p:txBody>
      </p:sp>
    </p:spTree>
    <p:extLst>
      <p:ext uri="{BB962C8B-B14F-4D97-AF65-F5344CB8AC3E}">
        <p14:creationId xmlns:p14="http://schemas.microsoft.com/office/powerpoint/2010/main" val="1017229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5762-1811-C0B1-85D5-054B68DF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Fits to tagging data (5-region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DD4A-6DFF-DE66-E5F1-9A10B6D91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25625"/>
            <a:ext cx="3581400" cy="4351338"/>
          </a:xfrm>
        </p:spPr>
        <p:txBody>
          <a:bodyPr/>
          <a:lstStyle/>
          <a:p>
            <a:r>
              <a:rPr lang="en-US" dirty="0"/>
              <a:t>Fits in the early period are generally adequate, but worsens in later periods</a:t>
            </a:r>
          </a:p>
          <a:p>
            <a:r>
              <a:rPr lang="en-US" dirty="0"/>
              <a:t>Potentially need more flexibility in tag reporting rates or movement rates?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B1DA7-8D1B-97DD-FC7F-02BD3EA93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274094"/>
            <a:ext cx="77724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47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4CE94-C3D4-E990-39EC-3ECAF9CC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AE8C-2747-821D-B672-1EF253CC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Fits to tagging data (3-region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F7A7E-FD1A-A218-D33D-245530276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25625"/>
            <a:ext cx="3374571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Similar results to 5-region model</a:t>
            </a:r>
          </a:p>
          <a:p>
            <a:r>
              <a:rPr lang="en-US" dirty="0"/>
              <a:t>Fits in the early period are generally adequate, but worsens in later periods</a:t>
            </a:r>
          </a:p>
          <a:p>
            <a:r>
              <a:rPr lang="en-US" dirty="0"/>
              <a:t>Potentially need more flexibility in tag reporting rates or movement rates?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E1F8C-634F-AEF1-4D67-E2C9220F2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857" y="1534886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28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12BE-B3F2-92E8-E85F-CF4B3D89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Time-series (5-region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C6732-3252-171E-B1FA-7CE1AAA2A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382926" cy="45326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High recruitment in western regions (BS and AI), but lower SSB</a:t>
            </a:r>
          </a:p>
          <a:p>
            <a:r>
              <a:rPr lang="en-US" dirty="0"/>
              <a:t>Lower recruitment in eastern regions (GOA), but higher SSB</a:t>
            </a:r>
          </a:p>
          <a:p>
            <a:r>
              <a:rPr lang="en-US" dirty="0"/>
              <a:t>Disconnect between recruitment and SSB likely due to movement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075975-FFDF-9551-74CC-CE58B2789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470" y="1690688"/>
            <a:ext cx="7471144" cy="454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22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8C7F-A0E5-B1B7-CD4E-7B23EE599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DF98-90DE-76BC-3866-3B9233BB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Time-series (3-region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E8A17-CBB9-0926-56F2-0E6DAB6C0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382926" cy="45326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High recruitment in western regions (BS and AI), but lower SSB</a:t>
            </a:r>
          </a:p>
          <a:p>
            <a:r>
              <a:rPr lang="en-US" dirty="0"/>
              <a:t>Lower recruitment in eastern regions (GOA), but higher SSB</a:t>
            </a:r>
          </a:p>
          <a:p>
            <a:r>
              <a:rPr lang="en-US" dirty="0"/>
              <a:t>Disconnect between recruitment and SSB likely due to movement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02165B-BDAE-33D5-0ADB-19F552D0B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825624"/>
            <a:ext cx="7772400" cy="497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37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9C1CD-1483-2997-997C-F6197ACC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D9B1-B896-DE74-3DF8-52CA85288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Time-series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E12A6-E47F-9843-7B2F-FE0F7B26F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3723167" cy="485712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Similar patterns and scale</a:t>
            </a:r>
          </a:p>
          <a:p>
            <a:r>
              <a:rPr lang="en-US" dirty="0"/>
              <a:t>However, trends in recruitment show some subtle differences</a:t>
            </a:r>
          </a:p>
          <a:p>
            <a:r>
              <a:rPr lang="en-US" dirty="0"/>
              <a:t>5-region model tends to predict above avg recruitment in later period</a:t>
            </a:r>
          </a:p>
          <a:p>
            <a:r>
              <a:rPr lang="en-US" dirty="0"/>
              <a:t>Potentially due to more refined movement estimates, relative to three-region model? (higher resolution movement)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BC6945-C4EA-0728-E91D-748F42FF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287" y="1501146"/>
            <a:ext cx="7772400" cy="518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482A62C-3CE0-DC81-0651-CDE66B110688}"/>
              </a:ext>
            </a:extLst>
          </p:cNvPr>
          <p:cNvSpPr/>
          <p:nvPr/>
        </p:nvSpPr>
        <p:spPr>
          <a:xfrm rot="16200000">
            <a:off x="7470262" y="3589374"/>
            <a:ext cx="473149" cy="152399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7F46DD-4D99-4B94-E1F5-6D76D2AC541E}"/>
              </a:ext>
            </a:extLst>
          </p:cNvPr>
          <p:cNvSpPr/>
          <p:nvPr/>
        </p:nvSpPr>
        <p:spPr>
          <a:xfrm rot="16200000">
            <a:off x="10482826" y="3277485"/>
            <a:ext cx="586563" cy="152399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94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8DB4-8468-233F-7851-49A824C38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 performance (5-region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66762-8B68-CCCE-87E6-82B242B59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6572" cy="4351338"/>
          </a:xfrm>
        </p:spPr>
        <p:txBody>
          <a:bodyPr>
            <a:normAutofit/>
          </a:bodyPr>
          <a:lstStyle/>
          <a:p>
            <a:r>
              <a:rPr lang="en-US" dirty="0"/>
              <a:t>Moderate positive retrospective patterns in SSB across all regions</a:t>
            </a:r>
          </a:p>
          <a:p>
            <a:r>
              <a:rPr lang="en-US" dirty="0"/>
              <a:t>This could partly be attributed to annual revisioning of recruitment and movement estimates (model instability)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1362E-2147-04E7-3433-FA6156B6F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116" y="1432396"/>
            <a:ext cx="6928884" cy="53299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BA84B-146F-FCB1-EB99-75904FF18E5C}"/>
              </a:ext>
            </a:extLst>
          </p:cNvPr>
          <p:cNvSpPr txBox="1"/>
          <p:nvPr/>
        </p:nvSpPr>
        <p:spPr>
          <a:xfrm rot="5400000">
            <a:off x="11732247" y="2321389"/>
            <a:ext cx="5501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AF246-4156-F445-1F4C-D19894A358D2}"/>
              </a:ext>
            </a:extLst>
          </p:cNvPr>
          <p:cNvSpPr txBox="1"/>
          <p:nvPr/>
        </p:nvSpPr>
        <p:spPr>
          <a:xfrm rot="5400000">
            <a:off x="11794270" y="3244334"/>
            <a:ext cx="5501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8C19D-65C5-4DA8-0518-6E101DF44AC2}"/>
              </a:ext>
            </a:extLst>
          </p:cNvPr>
          <p:cNvSpPr txBox="1"/>
          <p:nvPr/>
        </p:nvSpPr>
        <p:spPr>
          <a:xfrm rot="5400000">
            <a:off x="11582872" y="4119221"/>
            <a:ext cx="9109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WGOA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3E8A1-5ED1-52E3-5E56-5F2BB5CA799F}"/>
              </a:ext>
            </a:extLst>
          </p:cNvPr>
          <p:cNvSpPr txBox="1"/>
          <p:nvPr/>
        </p:nvSpPr>
        <p:spPr>
          <a:xfrm rot="5400000">
            <a:off x="11613883" y="4952105"/>
            <a:ext cx="9109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CGOA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E561E6-E356-2840-C198-75EBEF0E3A51}"/>
              </a:ext>
            </a:extLst>
          </p:cNvPr>
          <p:cNvSpPr txBox="1"/>
          <p:nvPr/>
        </p:nvSpPr>
        <p:spPr>
          <a:xfrm rot="5400000">
            <a:off x="11613883" y="5819858"/>
            <a:ext cx="9109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EGOA</a:t>
            </a:r>
          </a:p>
        </p:txBody>
      </p:sp>
    </p:spTree>
    <p:extLst>
      <p:ext uri="{BB962C8B-B14F-4D97-AF65-F5344CB8AC3E}">
        <p14:creationId xmlns:p14="http://schemas.microsoft.com/office/powerpoint/2010/main" val="1134046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6FE6A-227A-5AE0-CBD9-A105232C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2D33C9-E242-9133-22E7-088FBCE43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101" y="1353256"/>
            <a:ext cx="6884899" cy="5296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CC3D53-E844-C96C-0F32-D43DF1EB9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668"/>
            <a:ext cx="10515600" cy="1325563"/>
          </a:xfrm>
        </p:spPr>
        <p:txBody>
          <a:bodyPr/>
          <a:lstStyle/>
          <a:p>
            <a:r>
              <a:rPr lang="en-US" dirty="0"/>
              <a:t>Retrospective performance (3-region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B342D-6728-F73A-5FB1-DE0446073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116572" cy="4958643"/>
          </a:xfrm>
        </p:spPr>
        <p:txBody>
          <a:bodyPr>
            <a:normAutofit fontScale="92500"/>
          </a:bodyPr>
          <a:lstStyle/>
          <a:p>
            <a:r>
              <a:rPr lang="en-US" dirty="0"/>
              <a:t>Similar performance to the 5-region model</a:t>
            </a:r>
          </a:p>
          <a:p>
            <a:r>
              <a:rPr lang="en-US" dirty="0"/>
              <a:t>However …</a:t>
            </a:r>
          </a:p>
          <a:p>
            <a:pPr lvl="1"/>
            <a:r>
              <a:rPr lang="en-US" dirty="0"/>
              <a:t>Certain peels lead to very low recruitment estimates in the AI</a:t>
            </a:r>
          </a:p>
          <a:p>
            <a:pPr lvl="1"/>
            <a:r>
              <a:rPr lang="en-US" dirty="0"/>
              <a:t>Similar issue encountered in the closed-loop simulation</a:t>
            </a:r>
          </a:p>
          <a:p>
            <a:r>
              <a:rPr lang="en-US" dirty="0"/>
              <a:t>Likely because of annual revisioning of recruitment and movement estimates (model instability)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8793A-5DFD-AC93-A3AC-87E49EAD3B07}"/>
              </a:ext>
            </a:extLst>
          </p:cNvPr>
          <p:cNvSpPr txBox="1"/>
          <p:nvPr/>
        </p:nvSpPr>
        <p:spPr>
          <a:xfrm rot="5400000">
            <a:off x="11732247" y="2504826"/>
            <a:ext cx="5501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A906C-1429-8ACF-6032-5B2D45CD4BBC}"/>
              </a:ext>
            </a:extLst>
          </p:cNvPr>
          <p:cNvSpPr txBox="1"/>
          <p:nvPr/>
        </p:nvSpPr>
        <p:spPr>
          <a:xfrm rot="5400000">
            <a:off x="11763259" y="3983843"/>
            <a:ext cx="5501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F1EDE2-FC4B-E247-9BF9-5C5004659E18}"/>
              </a:ext>
            </a:extLst>
          </p:cNvPr>
          <p:cNvSpPr txBox="1"/>
          <p:nvPr/>
        </p:nvSpPr>
        <p:spPr>
          <a:xfrm rot="5400000">
            <a:off x="11582872" y="5504372"/>
            <a:ext cx="9109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GOA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2F33F-C823-EF8C-D6C0-05780577E88F}"/>
              </a:ext>
            </a:extLst>
          </p:cNvPr>
          <p:cNvSpPr/>
          <p:nvPr/>
        </p:nvSpPr>
        <p:spPr>
          <a:xfrm rot="16200000">
            <a:off x="7187859" y="3365685"/>
            <a:ext cx="291582" cy="28318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13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CCC7-B4B8-B931-92A7-DE283E78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summary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B50ACEF-F222-3521-DB1C-562AAE0CE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0214"/>
            <a:ext cx="11080898" cy="523520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ptos" panose="020B00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ptos" panose="020B0004020202020204" pitchFamily="34" charset="0"/>
              </a:rPr>
              <a:t> Both 5- and 3-region models fit indices well; compositions underpredict young-to-intermediate age classes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ptos" panose="020B0004020202020204" pitchFamily="34" charset="0"/>
              </a:rPr>
              <a:t> Fishery AI plus group cannot be adequately fit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ptos" panose="020B0004020202020204" pitchFamily="34" charset="0"/>
              </a:rPr>
              <a:t> Cohort signals apparent in recent composition data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ptos" panose="020B0004020202020204" pitchFamily="34" charset="0"/>
              </a:rPr>
              <a:t> Inverse SSB–recruitment relationship across space: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ptos" panose="020B0004020202020204" pitchFamily="34" charset="0"/>
              </a:rPr>
              <a:t> high SSB in the east with low recruitment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ptos" panose="020B0004020202020204" pitchFamily="34" charset="0"/>
              </a:rPr>
              <a:t> low SSB in the west with high recruitment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ptos" panose="020B0004020202020204" pitchFamily="34" charset="0"/>
              </a:rPr>
              <a:t> Retrospective performance is moderate, but some peels show instability (AI recruitment drops to low numbers)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ptos" panose="020B0004020202020204" pitchFamily="34" charset="0"/>
              </a:rPr>
              <a:t> Annual tuning may be necessary rather than running the model on autopilot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ptos" panose="020B00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0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C71BD-AE4D-BF4F-B5DA-B5B83316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811C2-AEB4-0E07-A6E6-E3FD03C8A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3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950</Words>
  <Application>Microsoft Macintosh PowerPoint</Application>
  <PresentationFormat>Widescreen</PresentationFormat>
  <Paragraphs>150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Results of a Spatial Stock Assessment for Alaska Sablefish</vt:lpstr>
      <vt:lpstr>Overview and Notes</vt:lpstr>
      <vt:lpstr>Data Summary</vt:lpstr>
      <vt:lpstr>Catch</vt:lpstr>
      <vt:lpstr>Indices</vt:lpstr>
      <vt:lpstr>Compositions</vt:lpstr>
      <vt:lpstr>Model Structure (5-region model)</vt:lpstr>
      <vt:lpstr>Model Structure (3-region model)</vt:lpstr>
      <vt:lpstr>Fit to indices (5-region model)</vt:lpstr>
      <vt:lpstr>Fit to indices (3-region model)</vt:lpstr>
      <vt:lpstr>Fit to compositions (5-region model)</vt:lpstr>
      <vt:lpstr>Fit to compositions (5-region model)</vt:lpstr>
      <vt:lpstr>Fit to compositions (5-region model)</vt:lpstr>
      <vt:lpstr>Fits to compositions (3-region model)</vt:lpstr>
      <vt:lpstr>Fits to tagging data (5-region model)</vt:lpstr>
      <vt:lpstr>Fits to tagging data (3-region model)</vt:lpstr>
      <vt:lpstr>Time-series (5-region model)</vt:lpstr>
      <vt:lpstr>Time-series (3-region model)</vt:lpstr>
      <vt:lpstr>Time-series comparison</vt:lpstr>
      <vt:lpstr>Retrospective performance (5-region model)</vt:lpstr>
      <vt:lpstr>Retrospective performance (3-region model)</vt:lpstr>
      <vt:lpstr>Assessment summary</vt:lpstr>
      <vt:lpstr>Extra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Cheng</dc:creator>
  <cp:lastModifiedBy>Matt Cheng</cp:lastModifiedBy>
  <cp:revision>64</cp:revision>
  <dcterms:created xsi:type="dcterms:W3CDTF">2026-06-08T17:49:01Z</dcterms:created>
  <dcterms:modified xsi:type="dcterms:W3CDTF">2026-06-08T21:58:59Z</dcterms:modified>
</cp:coreProperties>
</file>