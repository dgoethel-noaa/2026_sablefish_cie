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63" r:id="rId5"/>
    <p:sldId id="261" r:id="rId6"/>
    <p:sldId id="264" r:id="rId7"/>
    <p:sldId id="260" r:id="rId8"/>
    <p:sldId id="262" r:id="rId9"/>
    <p:sldId id="281" r:id="rId10"/>
    <p:sldId id="265" r:id="rId11"/>
    <p:sldId id="267" r:id="rId12"/>
    <p:sldId id="272" r:id="rId13"/>
    <p:sldId id="270" r:id="rId14"/>
    <p:sldId id="274" r:id="rId15"/>
    <p:sldId id="275" r:id="rId16"/>
    <p:sldId id="276" r:id="rId17"/>
    <p:sldId id="277" r:id="rId18"/>
    <p:sldId id="278" r:id="rId19"/>
    <p:sldId id="279" r:id="rId20"/>
    <p:sldId id="282" r:id="rId21"/>
    <p:sldId id="280" r:id="rId22"/>
    <p:sldId id="268" r:id="rId23"/>
    <p:sldId id="266" r:id="rId24"/>
    <p:sldId id="269" r:id="rId25"/>
    <p:sldId id="273" r:id="rId26"/>
    <p:sldId id="28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15"/>
    <p:restoredTop sz="94639"/>
  </p:normalViewPr>
  <p:slideViewPr>
    <p:cSldViewPr snapToGrid="0">
      <p:cViewPr>
        <p:scale>
          <a:sx n="114" d="100"/>
          <a:sy n="114" d="100"/>
        </p:scale>
        <p:origin x="392" y="10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33E7CB-C3C2-9045-A58D-4202FCCB75BC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0A8745-C816-EC4A-B0CB-6A458035A7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02228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0A8745-C816-EC4A-B0CB-6A458035A7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7512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041F6-A857-5A47-F05D-ADF18B18B1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8C1821-38D9-23EC-491D-1DD96BCBE8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EFA3E8-AF5F-3D5F-F8F2-14FF9C5D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9262BB-6834-141F-DB09-9BB96C9CF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CED92B-2B9E-DD2F-28B1-D8B64594B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334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B4023F-091A-C074-6EC2-6C6FBF7774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0CE50-6224-DCA7-23BD-9F7A645FB0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5A3107-FF35-9C98-E335-AB86998C7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A5E5DF-4223-2F8D-C611-ADAF649CE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585178-14B9-5B10-D9CD-9E818B073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921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A105C-C972-5B66-0153-5706478E10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402C6D-4429-B933-692D-ED47D7857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9CDC1-B5EC-BA8D-A196-4BF65F269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AEE99-D347-2634-938E-6EFA7E33F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FEA367-1E88-534A-AC48-E8F75D076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180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F53FA-9DF4-F3C6-2B4E-F4C62A648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D8BD3-530F-D102-E649-FFDC853B5D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6EF893-475E-CFAC-FC35-73F1DE7F8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9CDC0-19B1-0BA2-6791-1576B2320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8691AD-2294-7DD3-0A09-5311300EF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F2B0-0494-B1D1-E7A2-09F131421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7181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81528-96F7-20C9-F5B6-F86343940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0FDFBF-5E07-5449-EB74-5E69B6A31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F560EA6-19A7-DCF7-2307-8A39C506DEF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0A99C0-E3F4-2267-B922-FEF8961293D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E6D874-F920-BDFA-1B28-8C1CB9BEF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66487-7B57-88A1-9D54-1CA438538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C6705-3AA5-268C-D5AA-B039A5B114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7C0DBA-01F2-CE91-0BC9-647F8ACA0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4564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1D2F6-70E7-BAE1-18E2-6D9C1BC6D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D4480A-92B4-4E24-C64B-AE82F6DE7C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FBB0B-DC71-DDCB-1E16-A227DB8E41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132F39-87A5-B1F6-920E-692766FBC1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33460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CD9E59C-F008-B5AF-56A2-3E4187788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F2B59-9269-FE2A-ACA7-74F4D803E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DE01C-7477-F446-6785-E63252BA4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6441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AF32AA-1880-7EE7-3BA2-3EFCFAFB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F48B6-BCD4-7A3F-1A33-AA65B98A4B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3B278E-A7B9-5C0B-3A61-1233FBE012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B9E8A2-944F-0FFA-57CE-EDE5880888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08B5823-FE33-1B50-8389-385DD9EB8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39DE6B-3FE5-5F25-2420-0A0A44EE6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9749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05BBC6-02FD-7BDD-AA85-93A4875BF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63B1F7-4B4E-2786-F6EA-A8155B509C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BF8CD8-9CDF-7263-90C5-4CB3AB3B7D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E2089C-A3FA-870C-260B-A8E8BBEF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9B6AF1-AC34-17C4-DE0C-F9E2BB9D56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EB6F4A-6286-8A32-0D07-A1D4244F2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2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A3767-6E21-1240-57A7-10855D282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5F8FB1-4920-024B-CF8E-0AA61028FB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024715-1387-5407-EF4F-CE46A2AD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536684-ED42-76F4-5010-C62A17288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C0EE22-88C2-33FD-D8AB-0DA2D079A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484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EFED28-9D92-D1F5-AA36-07DD91D36C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DEDA6E9-8B80-00AE-A41F-224E56C654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459B18-E6BD-D84C-CAFF-22C4DC65F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CEF25-5C58-6FD4-3D44-0CAF910AC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65DF34-1C78-6B1A-A965-A722BDDB8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1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CBE63EE-3A93-7920-9B72-EF8A02556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DB7D38-A520-7E78-C4AC-0E3D2D8951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B79DF-868E-89FB-D734-3C827B2BAC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946150-1542-3748-BC21-1CB9E980BA5F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41AA3-7030-FFBA-A704-DC46A751B8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AB18EA-1896-8584-C9FC-E9CFBD6767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DEB77B-598B-E04A-8C75-9CFA73B9EE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44288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emf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BF77C-B166-27A2-8078-5A2973FC4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66914"/>
            <a:ext cx="9144000" cy="2387600"/>
          </a:xfrm>
        </p:spPr>
        <p:txBody>
          <a:bodyPr>
            <a:normAutofit fontScale="90000"/>
          </a:bodyPr>
          <a:lstStyle/>
          <a:p>
            <a:r>
              <a:rPr lang="en-US" dirty="0"/>
              <a:t>Results of a Spatial Stock Assessment for Alaska Sablefish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3114B5-F1FB-364D-732B-8687157767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846589"/>
            <a:ext cx="9144000" cy="1655762"/>
          </a:xfrm>
        </p:spPr>
        <p:txBody>
          <a:bodyPr/>
          <a:lstStyle/>
          <a:p>
            <a:r>
              <a:rPr lang="en-US" dirty="0"/>
              <a:t>Matt Cheng, Dan Goethel</a:t>
            </a:r>
          </a:p>
          <a:p>
            <a:r>
              <a:rPr lang="en-US" dirty="0"/>
              <a:t>CIE 2026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350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6BF495-6618-6F83-CFE4-0960AF1A7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and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104B4B-4D19-78AC-2A2B-F3F1056A87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849140" cy="4667250"/>
          </a:xfrm>
        </p:spPr>
        <p:txBody>
          <a:bodyPr/>
          <a:lstStyle/>
          <a:p>
            <a:r>
              <a:rPr lang="en-US" dirty="0"/>
              <a:t>Area: Alaska-wide stock</a:t>
            </a:r>
          </a:p>
          <a:p>
            <a:r>
              <a:rPr lang="en-US" dirty="0"/>
              <a:t>2 Models presented:</a:t>
            </a:r>
          </a:p>
          <a:p>
            <a:pPr lvl="1"/>
            <a:r>
              <a:rPr lang="en-US" dirty="0"/>
              <a:t>3-region model</a:t>
            </a:r>
          </a:p>
          <a:p>
            <a:pPr lvl="2"/>
            <a:r>
              <a:rPr lang="en-US" dirty="0"/>
              <a:t>BS, AI, WGOA + CGOA + EGOA</a:t>
            </a:r>
          </a:p>
          <a:p>
            <a:pPr lvl="1"/>
            <a:r>
              <a:rPr lang="en-US" dirty="0"/>
              <a:t>5-region model</a:t>
            </a:r>
          </a:p>
          <a:p>
            <a:pPr lvl="1"/>
            <a:r>
              <a:rPr lang="en-US" dirty="0"/>
              <a:t>BS, AI, WGOA, CGOA, and EGOA</a:t>
            </a:r>
          </a:p>
          <a:p>
            <a:r>
              <a:rPr lang="en-US" dirty="0"/>
              <a:t>Model parameterization generally follows Cheng et al. (2025) and the proposed single-region / fleets-as-areas configurations 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FE04E3-8193-355D-0127-1A2CAC9910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150" y="1485900"/>
            <a:ext cx="77724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980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FFD993-4AE4-5DBE-8058-F3D7C71DE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A0991-54C6-73DE-CC91-C73780C54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902"/>
            <a:ext cx="10515600" cy="1325563"/>
          </a:xfrm>
        </p:spPr>
        <p:txBody>
          <a:bodyPr/>
          <a:lstStyle/>
          <a:p>
            <a:r>
              <a:rPr lang="en-US" dirty="0"/>
              <a:t>Data Summary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B63051-F38E-6E71-09E7-9EDD98034F7B}"/>
              </a:ext>
            </a:extLst>
          </p:cNvPr>
          <p:cNvSpPr txBox="1"/>
          <p:nvPr/>
        </p:nvSpPr>
        <p:spPr>
          <a:xfrm>
            <a:off x="0" y="6488668"/>
            <a:ext cx="8824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Longline Fishery and Domestic Survey are primary drivers of population dynamics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E1167C-358B-8BEC-CFE9-5E0CF14EAD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67" y="1975763"/>
            <a:ext cx="12175433" cy="3325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91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B8F41-7865-281F-A7E0-501369C62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974006-5902-5723-E273-282184A71F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6A9E83-DD04-6C1E-6BB5-4AE3C9634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2143" y="1837426"/>
            <a:ext cx="3439887" cy="433953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Higher removals from longline fleet in the GOA</a:t>
            </a:r>
          </a:p>
          <a:p>
            <a:r>
              <a:rPr lang="en-US" dirty="0"/>
              <a:t>Removals tend to be higher by trawl fleet in the BS, though still small in comparison to longline</a:t>
            </a:r>
          </a:p>
          <a:p>
            <a:r>
              <a:rPr lang="en-US" dirty="0"/>
              <a:t>Note BS trawl removals were historically high</a:t>
            </a:r>
          </a:p>
          <a:p>
            <a:pPr lvl="1"/>
            <a:r>
              <a:rPr lang="en-US" dirty="0"/>
              <a:t>Potentially suggests high historical BS abundance</a:t>
            </a:r>
          </a:p>
        </p:txBody>
      </p:sp>
      <p:sp>
        <p:nvSpPr>
          <p:cNvPr id="4" name="AutoShape 2">
            <a:extLst>
              <a:ext uri="{FF2B5EF4-FFF2-40B4-BE49-F238E27FC236}">
                <a16:creationId xmlns:a16="http://schemas.microsoft.com/office/drawing/2014/main" id="{C5F2DD02-3162-4EEB-5F90-356162D2678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7FFAC41-9045-085B-CCB6-7079B9593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030" y="2206943"/>
            <a:ext cx="8479970" cy="3588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389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7C3282-AC63-E252-6C23-FC6AAF6A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E5A152-4E89-B3B3-2814-032AF14AD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10243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Historically, indices have been higher in GOA regions</a:t>
            </a:r>
          </a:p>
          <a:p>
            <a:r>
              <a:rPr lang="en-US" dirty="0"/>
              <a:t>GOA is likely the center of AK sablefish distribution</a:t>
            </a:r>
          </a:p>
          <a:p>
            <a:r>
              <a:rPr lang="en-US" dirty="0"/>
              <a:t>Recent increases in BS, AI due to recruitment events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E110B5B-14C0-EAB0-4DF0-5AF697376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3662" y="2188028"/>
            <a:ext cx="8378338" cy="3353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6802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6ECA9-4747-F746-7C78-1CBB8D416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Compositions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41F598-C899-C515-8F41-54DB8EF53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060371" cy="4351338"/>
          </a:xfrm>
        </p:spPr>
        <p:txBody>
          <a:bodyPr/>
          <a:lstStyle/>
          <a:p>
            <a:r>
              <a:rPr lang="en-US" dirty="0"/>
              <a:t>Generally younger fish in the BS and AI</a:t>
            </a:r>
          </a:p>
          <a:p>
            <a:r>
              <a:rPr lang="en-US" dirty="0"/>
              <a:t>AI Fishery ages occasionally observes a large number of old individuals</a:t>
            </a:r>
          </a:p>
          <a:p>
            <a:r>
              <a:rPr lang="en-US" dirty="0"/>
              <a:t>Older fish in the GOA</a:t>
            </a:r>
          </a:p>
          <a:p>
            <a:r>
              <a:rPr lang="en-US" dirty="0"/>
              <a:t>Likely due to ontogenetic movement dynamics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DF14A3-2DEA-17C3-2584-7CBA4F5363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2" y="735783"/>
            <a:ext cx="6047784" cy="310687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05E7E15-D341-5EE3-7031-D8FB1F5B66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2" y="3842657"/>
            <a:ext cx="5991184" cy="30153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885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5B526-3DEC-A161-BC29-AFFA2364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Model Structure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9692-0962-2C6E-F0DC-9C042A5648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82029"/>
            <a:ext cx="7242545" cy="575403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Model parameterization follows Cheng et al. (2025) and the proposed single-region / fleets-as-areas configurations </a:t>
            </a:r>
          </a:p>
          <a:p>
            <a:r>
              <a:rPr lang="en-US" dirty="0"/>
              <a:t>5-areas, sex-specific, age-structured</a:t>
            </a:r>
          </a:p>
          <a:p>
            <a:r>
              <a:rPr lang="en-US" dirty="0"/>
              <a:t>Movement estimated in 3 age blocks</a:t>
            </a:r>
          </a:p>
          <a:p>
            <a:r>
              <a:rPr lang="en-US" dirty="0"/>
              <a:t>Spatially-varying recruitment</a:t>
            </a:r>
          </a:p>
          <a:p>
            <a:r>
              <a:rPr lang="en-US" dirty="0"/>
              <a:t>Sex-specific time-invariant logistic selectivity</a:t>
            </a:r>
          </a:p>
          <a:p>
            <a:r>
              <a:rPr lang="en-US" dirty="0"/>
              <a:t>Spatially-invariant catchability</a:t>
            </a:r>
          </a:p>
          <a:p>
            <a:r>
              <a:rPr lang="en-US" dirty="0"/>
              <a:t>Tagging data follows a Multinomial Release-conditioned likelihood </a:t>
            </a:r>
          </a:p>
          <a:p>
            <a:pPr lvl="1"/>
            <a:r>
              <a:rPr lang="en-US" dirty="0"/>
              <a:t>3 spatially-invariant time-blocks to account for fishery changes</a:t>
            </a:r>
          </a:p>
          <a:p>
            <a:r>
              <a:rPr lang="en-US" dirty="0"/>
              <a:t>1208 parameters estimated</a:t>
            </a:r>
          </a:p>
          <a:p>
            <a:pPr lvl="1"/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F74BD8-14AE-F4C5-09BE-F1098638A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5" y="1952367"/>
            <a:ext cx="6888892" cy="344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24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E866E-0A6D-9C49-59F6-5CE877D097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1435D-0ADC-E11C-C440-37450E285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Model Structure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85D293-7849-8EE1-2583-5BC170AF3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0971"/>
            <a:ext cx="6662058" cy="5617028"/>
          </a:xfrm>
        </p:spPr>
        <p:txBody>
          <a:bodyPr>
            <a:normAutofit/>
          </a:bodyPr>
          <a:lstStyle/>
          <a:p>
            <a:r>
              <a:rPr lang="en-US" dirty="0"/>
              <a:t>Same parameterization as 3-region model</a:t>
            </a:r>
          </a:p>
          <a:p>
            <a:r>
              <a:rPr lang="en-US" dirty="0"/>
              <a:t>3-areas, sex-specific, age-structured</a:t>
            </a:r>
          </a:p>
          <a:p>
            <a:pPr lvl="1"/>
            <a:r>
              <a:rPr lang="en-US" dirty="0"/>
              <a:t>BS, AI, WGOA + CGOA + EGOA</a:t>
            </a:r>
          </a:p>
          <a:p>
            <a:r>
              <a:rPr lang="en-US" dirty="0"/>
              <a:t>723 parameters estimated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410ADE-E47E-8EDE-FC4D-6E47F8FC4D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005" y="1952367"/>
            <a:ext cx="6888892" cy="3444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09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A6210-707A-215C-721A-717746563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388694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Subsequent results generally focus on 5-region model for brevity; 3-region model model results are relatively similar</a:t>
            </a:r>
          </a:p>
        </p:txBody>
      </p:sp>
    </p:spTree>
    <p:extLst>
      <p:ext uri="{BB962C8B-B14F-4D97-AF65-F5344CB8AC3E}">
        <p14:creationId xmlns:p14="http://schemas.microsoft.com/office/powerpoint/2010/main" val="35001007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AA8D6-FE29-3E75-3812-0ACFE6C12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to indices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CACBC5-CDFC-EF30-B895-D7181EB8CD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94314" cy="4351338"/>
          </a:xfrm>
        </p:spPr>
        <p:txBody>
          <a:bodyPr/>
          <a:lstStyle/>
          <a:p>
            <a:r>
              <a:rPr lang="en-US" dirty="0"/>
              <a:t>Adequate fits to all indices across regions</a:t>
            </a:r>
          </a:p>
          <a:p>
            <a:r>
              <a:rPr lang="en-US" dirty="0"/>
              <a:t>Slight over-prediction of index in EGOA in recent years</a:t>
            </a:r>
          </a:p>
          <a:p>
            <a:pPr lvl="1"/>
            <a:r>
              <a:rPr lang="en-US" dirty="0"/>
              <a:t>Potentially due to time-varying movement?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27421E-6D4D-A160-22F0-128AF338E5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676400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30268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F018C-7DF8-7675-F3C0-ED9620F1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C97BB-4832-9B13-E1ED-8C363AD52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777343" cy="450986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 and AI</a:t>
            </a:r>
          </a:p>
          <a:p>
            <a:pPr lvl="1"/>
            <a:r>
              <a:rPr lang="en-US" dirty="0"/>
              <a:t>Trouble fitting fishery AI plus group</a:t>
            </a:r>
          </a:p>
          <a:p>
            <a:r>
              <a:rPr lang="en-US" dirty="0"/>
              <a:t>Underprediction of younger-intermediate-aged individuals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62804B6-B5B8-3F83-6418-019C494D93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2969" y="1542863"/>
            <a:ext cx="5823857" cy="24584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BFBD44-7CE2-27F2-F5F7-9A0B5B13B6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2969" y="3671849"/>
            <a:ext cx="5826804" cy="245843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D73C8C-A144-79E5-4D52-1AE8AEC45D1C}"/>
              </a:ext>
            </a:extLst>
          </p:cNvPr>
          <p:cNvSpPr txBox="1"/>
          <p:nvPr/>
        </p:nvSpPr>
        <p:spPr>
          <a:xfrm>
            <a:off x="7053944" y="154286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EA0762-7A3F-07EB-7B76-460B83BD902D}"/>
              </a:ext>
            </a:extLst>
          </p:cNvPr>
          <p:cNvSpPr txBox="1"/>
          <p:nvPr/>
        </p:nvSpPr>
        <p:spPr>
          <a:xfrm>
            <a:off x="7053944" y="363196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8D05AE9-BB4D-0DFC-7AA1-DEB497EF785B}"/>
              </a:ext>
            </a:extLst>
          </p:cNvPr>
          <p:cNvSpPr txBox="1"/>
          <p:nvPr/>
        </p:nvSpPr>
        <p:spPr>
          <a:xfrm>
            <a:off x="9851573" y="3671849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5B6D148-54F2-C301-AF9F-77DC2D68A0F0}"/>
              </a:ext>
            </a:extLst>
          </p:cNvPr>
          <p:cNvSpPr txBox="1"/>
          <p:nvPr/>
        </p:nvSpPr>
        <p:spPr>
          <a:xfrm>
            <a:off x="9851572" y="1573491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288C64-7631-F901-102C-4EDCB6208613}"/>
              </a:ext>
            </a:extLst>
          </p:cNvPr>
          <p:cNvSpPr txBox="1"/>
          <p:nvPr/>
        </p:nvSpPr>
        <p:spPr>
          <a:xfrm rot="5400000">
            <a:off x="11263379" y="2607356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C332F-AB5A-3A32-D39F-8E0641C08526}"/>
              </a:ext>
            </a:extLst>
          </p:cNvPr>
          <p:cNvSpPr txBox="1"/>
          <p:nvPr/>
        </p:nvSpPr>
        <p:spPr>
          <a:xfrm rot="5400000">
            <a:off x="11043889" y="4807156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9BB3BE4-340D-4A81-3D93-D7DB22301D6F}"/>
              </a:ext>
            </a:extLst>
          </p:cNvPr>
          <p:cNvSpPr txBox="1"/>
          <p:nvPr/>
        </p:nvSpPr>
        <p:spPr>
          <a:xfrm>
            <a:off x="9419935" y="594246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2853492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5D120-3828-D047-C8BA-826166E0B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54DB3A0B-E802-8851-FDE7-F24EA908E0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0486" y="2561993"/>
            <a:ext cx="7772400" cy="32879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5C6298A-CBE7-8A79-EE2E-E91952509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65A474-3D91-5A9A-9E12-48E5508B9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417331" cy="450986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 and AI</a:t>
            </a:r>
          </a:p>
          <a:p>
            <a:pPr lvl="1"/>
            <a:r>
              <a:rPr lang="en-US" dirty="0"/>
              <a:t>Trouble fitting fishery AI plus group</a:t>
            </a:r>
          </a:p>
          <a:p>
            <a:r>
              <a:rPr lang="en-US" dirty="0"/>
              <a:t>Underprediction of younger-intermediate-aged individuals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B9D34C-8218-71A6-BAF8-9E0E0EE7A67B}"/>
              </a:ext>
            </a:extLst>
          </p:cNvPr>
          <p:cNvSpPr txBox="1"/>
          <p:nvPr/>
        </p:nvSpPr>
        <p:spPr>
          <a:xfrm>
            <a:off x="6302830" y="2561993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2909A-0E06-A1BB-0127-0F2DAFBCBDBA}"/>
              </a:ext>
            </a:extLst>
          </p:cNvPr>
          <p:cNvSpPr txBox="1"/>
          <p:nvPr/>
        </p:nvSpPr>
        <p:spPr>
          <a:xfrm>
            <a:off x="9699173" y="2651178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C4F844B-3119-63E7-EEC5-88E4041C6CEC}"/>
              </a:ext>
            </a:extLst>
          </p:cNvPr>
          <p:cNvSpPr txBox="1"/>
          <p:nvPr/>
        </p:nvSpPr>
        <p:spPr>
          <a:xfrm rot="5400000">
            <a:off x="11348689" y="4121357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B95F77-0B62-1D26-4438-BC1A94A69510}"/>
              </a:ext>
            </a:extLst>
          </p:cNvPr>
          <p:cNvSpPr txBox="1"/>
          <p:nvPr/>
        </p:nvSpPr>
        <p:spPr>
          <a:xfrm>
            <a:off x="9766414" y="5524195"/>
            <a:ext cx="2313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Fishery compositions</a:t>
            </a:r>
          </a:p>
        </p:txBody>
      </p:sp>
    </p:spTree>
    <p:extLst>
      <p:ext uri="{BB962C8B-B14F-4D97-AF65-F5344CB8AC3E}">
        <p14:creationId xmlns:p14="http://schemas.microsoft.com/office/powerpoint/2010/main" val="365640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55762-1811-C0B1-85D5-054B68DF0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tagging data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2DD4A-6DFF-DE66-E5F1-9A10B6D91F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25625"/>
            <a:ext cx="35814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Fits in the early period are generally adequate, but worsens in later periods</a:t>
            </a:r>
          </a:p>
          <a:p>
            <a:pPr lvl="1"/>
            <a:r>
              <a:rPr lang="en-US" dirty="0"/>
              <a:t>Misfits in later periods might be due to switch towards pot gear?</a:t>
            </a:r>
          </a:p>
          <a:p>
            <a:r>
              <a:rPr lang="en-US" dirty="0"/>
              <a:t>Potentially need more flexibility in tag reporting rates or movement rates?</a:t>
            </a:r>
          </a:p>
          <a:p>
            <a:pPr lvl="1"/>
            <a:r>
              <a:rPr lang="en-US" dirty="0"/>
              <a:t>i.e., spatially-varying?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B9B1DA7-8D1B-97DD-FC7F-02BD3EA93E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2274094"/>
            <a:ext cx="7772400" cy="345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534749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612BE-B3F2-92E8-E85F-CF4B3D89E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1C6732-3252-171E-B1FA-7CE1AAA2AF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382926" cy="453264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High recruitment in western regions (BS and AI), but lower SSB</a:t>
            </a:r>
          </a:p>
          <a:p>
            <a:r>
              <a:rPr lang="en-US" dirty="0"/>
              <a:t>Lower recruitment in eastern regions (GOA), but higher SSB</a:t>
            </a:r>
          </a:p>
          <a:p>
            <a:r>
              <a:rPr lang="en-US" dirty="0"/>
              <a:t>Disconnect between recruitment and SSB likely due to movement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075975-FFDF-9551-74CC-CE58B2789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470" y="1690688"/>
            <a:ext cx="7471144" cy="4548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2222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E8C7F-A0E5-B1B7-CD4E-7B23EE599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ADF98-90DE-76BC-3866-3B9233BB2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7E8A17-CBB9-0926-56F2-0E6DAB6C03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382926" cy="453264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High recruitment in western regions (BS and AI), but lower SSB</a:t>
            </a:r>
          </a:p>
          <a:p>
            <a:r>
              <a:rPr lang="en-US" dirty="0"/>
              <a:t>Lower recruitment in eastern regions (GOA), but higher SSB</a:t>
            </a:r>
          </a:p>
          <a:p>
            <a:r>
              <a:rPr lang="en-US" dirty="0"/>
              <a:t>Disconnect between recruitment and SSB likely due to movement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02165B-BDAE-33D5-0ADB-19F552D0B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1825624"/>
            <a:ext cx="7772400" cy="4978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1379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29C1CD-1483-2997-997C-F6197ACC5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CD9B1-B896-DE74-3DF8-52CA85288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Time-series 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E12A6-E47F-9843-7B2F-FE0F7B26F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1015" y="1583473"/>
            <a:ext cx="3970351" cy="509927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Similar patterns and scale</a:t>
            </a:r>
          </a:p>
          <a:p>
            <a:r>
              <a:rPr lang="en-US" dirty="0"/>
              <a:t>However, trends in recruitment show some subtle differences</a:t>
            </a:r>
          </a:p>
          <a:p>
            <a:r>
              <a:rPr lang="en-US" dirty="0"/>
              <a:t>5-region model tends to predict above avg recruitment in later period</a:t>
            </a:r>
          </a:p>
          <a:p>
            <a:r>
              <a:rPr lang="en-US" dirty="0"/>
              <a:t>Potentially due to more refined movement estimates, relative to three-region model? (higher resolution movement)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6BC6945-C4EA-0728-E91D-748F42FF3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4287" y="1501146"/>
            <a:ext cx="7772400" cy="51816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8482A62C-3CE0-DC81-0651-CDE66B110688}"/>
              </a:ext>
            </a:extLst>
          </p:cNvPr>
          <p:cNvSpPr/>
          <p:nvPr/>
        </p:nvSpPr>
        <p:spPr>
          <a:xfrm rot="16200000">
            <a:off x="7470262" y="3589374"/>
            <a:ext cx="473149" cy="152399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97F46DD-4D99-4B94-E1F5-6D76D2AC541E}"/>
              </a:ext>
            </a:extLst>
          </p:cNvPr>
          <p:cNvSpPr/>
          <p:nvPr/>
        </p:nvSpPr>
        <p:spPr>
          <a:xfrm rot="16200000">
            <a:off x="10482826" y="3277485"/>
            <a:ext cx="586563" cy="152399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694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88DB4-8468-233F-7851-49A824C38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Retrospective performance (5-region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66762-8B68-CCCE-87E6-82B242B59D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116572" cy="4351338"/>
          </a:xfrm>
        </p:spPr>
        <p:txBody>
          <a:bodyPr>
            <a:normAutofit/>
          </a:bodyPr>
          <a:lstStyle/>
          <a:p>
            <a:r>
              <a:rPr lang="en-US" dirty="0"/>
              <a:t>Moderate positive retrospective patterns in SSB across all regions</a:t>
            </a:r>
          </a:p>
          <a:p>
            <a:r>
              <a:rPr lang="en-US" dirty="0"/>
              <a:t>This could partly be attributed to annual revisioning of recruitment and movement estimates (model instability)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1362E-2147-04E7-3433-FA6156B6F6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3116" y="1432396"/>
            <a:ext cx="6928884" cy="53299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16BA84B-146F-FCB1-EB99-75904FF18E5C}"/>
              </a:ext>
            </a:extLst>
          </p:cNvPr>
          <p:cNvSpPr txBox="1"/>
          <p:nvPr/>
        </p:nvSpPr>
        <p:spPr>
          <a:xfrm rot="5400000">
            <a:off x="11732247" y="2321389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4AF246-4156-F445-1F4C-D19894A358D2}"/>
              </a:ext>
            </a:extLst>
          </p:cNvPr>
          <p:cNvSpPr txBox="1"/>
          <p:nvPr/>
        </p:nvSpPr>
        <p:spPr>
          <a:xfrm rot="5400000">
            <a:off x="11794270" y="3244334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58C19D-65C5-4DA8-0518-6E101DF44AC2}"/>
              </a:ext>
            </a:extLst>
          </p:cNvPr>
          <p:cNvSpPr txBox="1"/>
          <p:nvPr/>
        </p:nvSpPr>
        <p:spPr>
          <a:xfrm rot="5400000">
            <a:off x="11582872" y="4119221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WGOA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43E8A1-5ED1-52E3-5E56-5F2BB5CA799F}"/>
              </a:ext>
            </a:extLst>
          </p:cNvPr>
          <p:cNvSpPr txBox="1"/>
          <p:nvPr/>
        </p:nvSpPr>
        <p:spPr>
          <a:xfrm rot="5400000">
            <a:off x="11613883" y="4952105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E561E6-E356-2840-C198-75EBEF0E3A51}"/>
              </a:ext>
            </a:extLst>
          </p:cNvPr>
          <p:cNvSpPr txBox="1"/>
          <p:nvPr/>
        </p:nvSpPr>
        <p:spPr>
          <a:xfrm rot="5400000">
            <a:off x="11613883" y="5819858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EGOA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C9F401-8BB6-082E-1595-856D1421F960}"/>
              </a:ext>
            </a:extLst>
          </p:cNvPr>
          <p:cNvSpPr txBox="1"/>
          <p:nvPr/>
        </p:nvSpPr>
        <p:spPr>
          <a:xfrm>
            <a:off x="6035894" y="2125196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18FD7ED-3DAA-3553-9ADF-612ABC9BE75F}"/>
              </a:ext>
            </a:extLst>
          </p:cNvPr>
          <p:cNvSpPr txBox="1"/>
          <p:nvPr/>
        </p:nvSpPr>
        <p:spPr>
          <a:xfrm>
            <a:off x="6035894" y="3036464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FF2275-98FE-621D-BB02-BE09E5FB88F8}"/>
              </a:ext>
            </a:extLst>
          </p:cNvPr>
          <p:cNvSpPr txBox="1"/>
          <p:nvPr/>
        </p:nvSpPr>
        <p:spPr>
          <a:xfrm>
            <a:off x="6035894" y="4759361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6A14D6-B740-DC8A-8243-690A70ABBB21}"/>
              </a:ext>
            </a:extLst>
          </p:cNvPr>
          <p:cNvSpPr txBox="1"/>
          <p:nvPr/>
        </p:nvSpPr>
        <p:spPr>
          <a:xfrm>
            <a:off x="6035894" y="5484259"/>
            <a:ext cx="104822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FCDADB-B978-520E-CCF2-E643A0E70F38}"/>
              </a:ext>
            </a:extLst>
          </p:cNvPr>
          <p:cNvSpPr txBox="1"/>
          <p:nvPr/>
        </p:nvSpPr>
        <p:spPr>
          <a:xfrm>
            <a:off x="5985789" y="3848093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340466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6FE6A-227A-5AE0-CBD9-A105232C3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22D33C9-E242-9133-22E7-088FBCE430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101" y="1353256"/>
            <a:ext cx="6884899" cy="5296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CC3D53-E844-C96C-0F32-D43DF1EB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668"/>
            <a:ext cx="10515600" cy="1325563"/>
          </a:xfrm>
        </p:spPr>
        <p:txBody>
          <a:bodyPr/>
          <a:lstStyle/>
          <a:p>
            <a:r>
              <a:rPr lang="en-US" dirty="0"/>
              <a:t>Retrospective performance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B342D-6728-F73A-5FB1-DE0446073A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4116572" cy="4958643"/>
          </a:xfrm>
        </p:spPr>
        <p:txBody>
          <a:bodyPr>
            <a:normAutofit fontScale="92500"/>
          </a:bodyPr>
          <a:lstStyle/>
          <a:p>
            <a:r>
              <a:rPr lang="en-US" dirty="0"/>
              <a:t>Similar performance to the 5-region model</a:t>
            </a:r>
          </a:p>
          <a:p>
            <a:r>
              <a:rPr lang="en-US" dirty="0"/>
              <a:t>However …</a:t>
            </a:r>
          </a:p>
          <a:p>
            <a:pPr lvl="1"/>
            <a:r>
              <a:rPr lang="en-US" dirty="0"/>
              <a:t>Certain peels lead to very low recruitment estimates in the AI</a:t>
            </a:r>
          </a:p>
          <a:p>
            <a:pPr lvl="1"/>
            <a:r>
              <a:rPr lang="en-US" dirty="0"/>
              <a:t>Similar issue encountered in the closed-loop simulation</a:t>
            </a:r>
          </a:p>
          <a:p>
            <a:r>
              <a:rPr lang="en-US" dirty="0"/>
              <a:t>Likely because of annual revisioning of recruitment and movement estimates (model instability)</a:t>
            </a:r>
          </a:p>
          <a:p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18793A-5DFD-AC93-A3AC-87E49EAD3B07}"/>
              </a:ext>
            </a:extLst>
          </p:cNvPr>
          <p:cNvSpPr txBox="1"/>
          <p:nvPr/>
        </p:nvSpPr>
        <p:spPr>
          <a:xfrm rot="5400000">
            <a:off x="11732247" y="2504826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BA906C-1429-8ACF-6032-5B2D45CD4BBC}"/>
              </a:ext>
            </a:extLst>
          </p:cNvPr>
          <p:cNvSpPr txBox="1"/>
          <p:nvPr/>
        </p:nvSpPr>
        <p:spPr>
          <a:xfrm rot="5400000">
            <a:off x="11763259" y="3983843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F1EDE2-FC4B-E247-9BF9-5C5004659E18}"/>
              </a:ext>
            </a:extLst>
          </p:cNvPr>
          <p:cNvSpPr txBox="1"/>
          <p:nvPr/>
        </p:nvSpPr>
        <p:spPr>
          <a:xfrm rot="5400000">
            <a:off x="11582872" y="5504372"/>
            <a:ext cx="910948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32F33F-C823-EF8C-D6C0-05780577E88F}"/>
              </a:ext>
            </a:extLst>
          </p:cNvPr>
          <p:cNvSpPr/>
          <p:nvPr/>
        </p:nvSpPr>
        <p:spPr>
          <a:xfrm rot="16200000">
            <a:off x="7187859" y="3365685"/>
            <a:ext cx="291582" cy="2831800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9C2536-6065-379C-0793-C8AF3DC066C2}"/>
              </a:ext>
            </a:extLst>
          </p:cNvPr>
          <p:cNvSpPr txBox="1"/>
          <p:nvPr/>
        </p:nvSpPr>
        <p:spPr>
          <a:xfrm>
            <a:off x="5917750" y="3584826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B23D47-C08A-3B0F-2EFB-24EC10AA4A39}"/>
              </a:ext>
            </a:extLst>
          </p:cNvPr>
          <p:cNvSpPr txBox="1"/>
          <p:nvPr/>
        </p:nvSpPr>
        <p:spPr>
          <a:xfrm>
            <a:off x="5847767" y="2137406"/>
            <a:ext cx="1118210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54894AD-1079-16ED-0EF8-93F9186A3368}"/>
              </a:ext>
            </a:extLst>
          </p:cNvPr>
          <p:cNvSpPr txBox="1"/>
          <p:nvPr/>
        </p:nvSpPr>
        <p:spPr>
          <a:xfrm>
            <a:off x="6003042" y="5006413"/>
            <a:ext cx="1048227" cy="276999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91131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9CCC7-B4B8-B931-92A7-DE283E78FD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6333"/>
            <a:ext cx="10515600" cy="1325563"/>
          </a:xfrm>
        </p:spPr>
        <p:txBody>
          <a:bodyPr/>
          <a:lstStyle/>
          <a:p>
            <a:r>
              <a:rPr lang="en-US" dirty="0"/>
              <a:t>Assessment summary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B50ACEF-F222-3521-DB1C-562AAE0CEB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0356"/>
            <a:ext cx="11080898" cy="5426104"/>
          </a:xfrm>
        </p:spPr>
        <p:txBody>
          <a:bodyPr>
            <a:normAutofit lnSpcReduction="10000"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Both 5- and 3-region models fit indices well; compositions fits are adequate, though underpredict young-to-intermediate age classes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Fishery AI plus group cannot be adequately fit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Inverse SSB–recruitment relationship across space: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High SSB in the east with low recruitment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Low SSB in the west with high recruitment 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Increase in model run times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1-region / FAA models: ~ order of seconds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3-region: ~ 5 minutes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5-region: ~ 25 minutes 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Reduced ability to explore a large number of model alternatives within a given assessment cycle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Retrospective performance is moderate, but some peels show instability (AI recruitment drops to low numbers)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Aptos" panose="020B0004020202020204" pitchFamily="34" charset="0"/>
              </a:rPr>
              <a:t> Annual tuning may be necessary rather than running the model on autopilot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30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564F9-E22A-3BC8-9AB3-2DFEF4A70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directions and outstanding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A1B8D-5E6A-311D-BA33-AC0A64EFE0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514790"/>
          </a:xfrm>
        </p:spPr>
        <p:txBody>
          <a:bodyPr/>
          <a:lstStyle/>
          <a:p>
            <a:r>
              <a:rPr lang="en-US" dirty="0"/>
              <a:t>May need to model time-varying movement to account for potential changes in movement dynamics </a:t>
            </a:r>
          </a:p>
          <a:p>
            <a:pPr lvl="1"/>
            <a:r>
              <a:rPr lang="en-US" dirty="0"/>
              <a:t>Difficult to estimate despite long time-series of tagging data</a:t>
            </a:r>
          </a:p>
          <a:p>
            <a:r>
              <a:rPr lang="en-US" dirty="0"/>
              <a:t>Dealing with tagging nuisance parameters and data-weighting</a:t>
            </a:r>
          </a:p>
          <a:p>
            <a:pPr lvl="1"/>
            <a:r>
              <a:rPr lang="en-US" dirty="0"/>
              <a:t>May need to estimate time-and spatially-varying tag reporting rates</a:t>
            </a:r>
          </a:p>
          <a:p>
            <a:pPr lvl="1"/>
            <a:r>
              <a:rPr lang="en-US" dirty="0"/>
              <a:t>Develop improved diagnostics for assessing tagging data fits</a:t>
            </a:r>
          </a:p>
          <a:p>
            <a:pPr lvl="1"/>
            <a:r>
              <a:rPr lang="en-US" dirty="0"/>
              <a:t>Understand implications of weighting tagging data in conjunction w/ other data sources</a:t>
            </a:r>
          </a:p>
          <a:p>
            <a:r>
              <a:rPr lang="en-US" dirty="0"/>
              <a:t>Explore spatially-and time-varying fishery selectivity</a:t>
            </a:r>
          </a:p>
          <a:p>
            <a:pPr lvl="1"/>
            <a:r>
              <a:rPr lang="en-US" dirty="0"/>
              <a:t>Potentially difficult given sparse data and increase in the # of parameters</a:t>
            </a:r>
          </a:p>
        </p:txBody>
      </p:sp>
    </p:spTree>
    <p:extLst>
      <p:ext uri="{BB962C8B-B14F-4D97-AF65-F5344CB8AC3E}">
        <p14:creationId xmlns:p14="http://schemas.microsoft.com/office/powerpoint/2010/main" val="33578507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CC71BD-AE4D-BF4F-B5DA-B5B833167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 slides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811C2-AEB4-0E07-A6E6-E3FD03C8A5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68375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B45170-F69D-4CE7-F0E1-AD46AD420A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9C4094-0E71-4B36-D8A1-DAA1DE145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0" y="3699223"/>
            <a:ext cx="7772400" cy="21713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6F3369A-DBB6-C302-420E-AC7BC1FCC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Fit to compositions (5-region model)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EB6298-E300-177B-7B23-B503026E61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3287333" cy="485820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Generally acceptable fits to composition data for fishery and domestic longline fleets on aggregate</a:t>
            </a:r>
          </a:p>
          <a:p>
            <a:r>
              <a:rPr lang="en-US" dirty="0"/>
              <a:t>Sparser age compositions in the BS</a:t>
            </a:r>
          </a:p>
          <a:p>
            <a:r>
              <a:rPr lang="en-US" dirty="0"/>
              <a:t>Positive residuals for large recent recruitment events</a:t>
            </a:r>
          </a:p>
          <a:p>
            <a:pPr lvl="1"/>
            <a:r>
              <a:rPr lang="en-US" dirty="0"/>
              <a:t>Potentially underpredicting recruits</a:t>
            </a:r>
          </a:p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E5F5C-08D1-E1EB-6F03-D3E1091A7E59}"/>
              </a:ext>
            </a:extLst>
          </p:cNvPr>
          <p:cNvSpPr txBox="1"/>
          <p:nvPr/>
        </p:nvSpPr>
        <p:spPr>
          <a:xfrm>
            <a:off x="6008916" y="3612995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473735-7428-8738-0F4E-FF591ED7D282}"/>
              </a:ext>
            </a:extLst>
          </p:cNvPr>
          <p:cNvSpPr txBox="1"/>
          <p:nvPr/>
        </p:nvSpPr>
        <p:spPr>
          <a:xfrm>
            <a:off x="9845450" y="3699223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533476-9B3E-E4C9-4254-383F5020E6FF}"/>
              </a:ext>
            </a:extLst>
          </p:cNvPr>
          <p:cNvSpPr txBox="1"/>
          <p:nvPr/>
        </p:nvSpPr>
        <p:spPr>
          <a:xfrm rot="5400000">
            <a:off x="11512758" y="4682766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CGOA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6EFE53-2E7C-3ACB-6648-16AD20D794C2}"/>
              </a:ext>
            </a:extLst>
          </p:cNvPr>
          <p:cNvSpPr/>
          <p:nvPr/>
        </p:nvSpPr>
        <p:spPr>
          <a:xfrm rot="19367691">
            <a:off x="11026705" y="5084127"/>
            <a:ext cx="82703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05A56CA-FE22-729F-F642-BEF4ECF34186}"/>
              </a:ext>
            </a:extLst>
          </p:cNvPr>
          <p:cNvSpPr/>
          <p:nvPr/>
        </p:nvSpPr>
        <p:spPr>
          <a:xfrm rot="19367691">
            <a:off x="7137602" y="5074452"/>
            <a:ext cx="107604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2DF0A6-9F3F-9035-A409-F9999B367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1460260"/>
            <a:ext cx="7772400" cy="2063012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7DB78EB-EEC0-0F82-BFEF-984FF0A30912}"/>
              </a:ext>
            </a:extLst>
          </p:cNvPr>
          <p:cNvSpPr txBox="1"/>
          <p:nvPr/>
        </p:nvSpPr>
        <p:spPr>
          <a:xfrm>
            <a:off x="6120671" y="1362851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75322F-2F32-47CF-0BD1-0DE47D757B55}"/>
              </a:ext>
            </a:extLst>
          </p:cNvPr>
          <p:cNvSpPr txBox="1"/>
          <p:nvPr/>
        </p:nvSpPr>
        <p:spPr>
          <a:xfrm>
            <a:off x="9957205" y="1449079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006EA20-2751-2AA8-4B60-A15C4087E253}"/>
              </a:ext>
            </a:extLst>
          </p:cNvPr>
          <p:cNvSpPr/>
          <p:nvPr/>
        </p:nvSpPr>
        <p:spPr>
          <a:xfrm rot="19367691">
            <a:off x="7249357" y="2682792"/>
            <a:ext cx="1076044" cy="424542"/>
          </a:xfrm>
          <a:prstGeom prst="rect">
            <a:avLst/>
          </a:prstGeom>
          <a:solidFill>
            <a:schemeClr val="bg1">
              <a:alpha val="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10E3474-C25E-8C3C-B5C9-DD7687439D06}"/>
              </a:ext>
            </a:extLst>
          </p:cNvPr>
          <p:cNvSpPr txBox="1"/>
          <p:nvPr/>
        </p:nvSpPr>
        <p:spPr>
          <a:xfrm rot="5400000">
            <a:off x="11588023" y="2603755"/>
            <a:ext cx="989152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694037-D2ED-9700-E9B7-A33C72DB08CE}"/>
              </a:ext>
            </a:extLst>
          </p:cNvPr>
          <p:cNvSpPr txBox="1"/>
          <p:nvPr/>
        </p:nvSpPr>
        <p:spPr>
          <a:xfrm>
            <a:off x="9973060" y="650651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12802850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39F9B5-45D7-CE64-C79B-8898E837B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83AF-A47C-666E-72E7-459EC03EA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 to indices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46CA52-665B-9386-4A9B-D8A776F75E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494314" cy="4351338"/>
          </a:xfrm>
        </p:spPr>
        <p:txBody>
          <a:bodyPr>
            <a:normAutofit/>
          </a:bodyPr>
          <a:lstStyle/>
          <a:p>
            <a:r>
              <a:rPr lang="en-US" dirty="0"/>
              <a:t>Similar results to 5-region model</a:t>
            </a:r>
          </a:p>
          <a:p>
            <a:r>
              <a:rPr lang="en-US" dirty="0"/>
              <a:t>Generally adequate fits to all indices and regions</a:t>
            </a:r>
          </a:p>
          <a:p>
            <a:r>
              <a:rPr lang="en-US" dirty="0"/>
              <a:t>Slight over-prediction of index in EGOA in recent years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AABC41-C63C-4F59-CDDD-CE812A499D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032" y="1690688"/>
            <a:ext cx="7750968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84613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ECC05-29C3-8E12-1478-DF90A2D29B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7079C0-E2C9-87C2-76BC-002076BBD2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compositions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957D7E-941C-414D-298D-BB6BDB6A18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5040088" cy="4351338"/>
          </a:xfrm>
        </p:spPr>
        <p:txBody>
          <a:bodyPr>
            <a:normAutofit/>
          </a:bodyPr>
          <a:lstStyle/>
          <a:p>
            <a:r>
              <a:rPr lang="en-US" sz="2300" dirty="0"/>
              <a:t>Similar patterns to 5-region model </a:t>
            </a:r>
          </a:p>
          <a:p>
            <a:r>
              <a:rPr lang="en-US" sz="2300" dirty="0"/>
              <a:t>Sparse data in BS and AI (trouble fitting AI plus group in fishery)</a:t>
            </a:r>
          </a:p>
          <a:p>
            <a:r>
              <a:rPr lang="en-US" sz="2300" dirty="0"/>
              <a:t>General overprediction of old individuals in GOA</a:t>
            </a:r>
          </a:p>
          <a:p>
            <a:r>
              <a:rPr lang="en-US" sz="2300" dirty="0"/>
              <a:t>Similar cohort patterns as in 5-region model</a:t>
            </a:r>
          </a:p>
          <a:p>
            <a:pPr marL="0" indent="0">
              <a:buNone/>
            </a:pPr>
            <a:endParaRPr lang="en-US" sz="23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EF8D87-246C-071F-13B9-74B99BAF12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713" y="1334212"/>
            <a:ext cx="4909457" cy="209478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841B10-3AE0-8184-921C-558AD4433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3753" y="3148726"/>
            <a:ext cx="5310047" cy="20947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88C4CEA-10D2-D0A1-56A2-9BD8DD4FF7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429" y="4587797"/>
            <a:ext cx="5257800" cy="225932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4807D59-706C-FFBB-F2C7-082161DF4016}"/>
              </a:ext>
            </a:extLst>
          </p:cNvPr>
          <p:cNvSpPr txBox="1"/>
          <p:nvPr/>
        </p:nvSpPr>
        <p:spPr>
          <a:xfrm>
            <a:off x="7241899" y="1331730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CC6312-0199-9A93-C980-5DA1C08C8240}"/>
              </a:ext>
            </a:extLst>
          </p:cNvPr>
          <p:cNvSpPr txBox="1"/>
          <p:nvPr/>
        </p:nvSpPr>
        <p:spPr>
          <a:xfrm>
            <a:off x="9641519" y="1342104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B49B28-5784-849E-0180-BF4BBD44FD05}"/>
              </a:ext>
            </a:extLst>
          </p:cNvPr>
          <p:cNvSpPr txBox="1"/>
          <p:nvPr/>
        </p:nvSpPr>
        <p:spPr>
          <a:xfrm>
            <a:off x="7241899" y="3233960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707042-BFA8-BB1A-7BD7-D2E7C0F87931}"/>
              </a:ext>
            </a:extLst>
          </p:cNvPr>
          <p:cNvSpPr txBox="1"/>
          <p:nvPr/>
        </p:nvSpPr>
        <p:spPr>
          <a:xfrm>
            <a:off x="9641519" y="3244334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CFA02E-4453-17F4-9C98-501048F17302}"/>
              </a:ext>
            </a:extLst>
          </p:cNvPr>
          <p:cNvSpPr txBox="1"/>
          <p:nvPr/>
        </p:nvSpPr>
        <p:spPr>
          <a:xfrm>
            <a:off x="1657744" y="4584622"/>
            <a:ext cx="1039323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Females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B6F595-0B18-8C38-9741-649424649C39}"/>
              </a:ext>
            </a:extLst>
          </p:cNvPr>
          <p:cNvSpPr txBox="1"/>
          <p:nvPr/>
        </p:nvSpPr>
        <p:spPr>
          <a:xfrm>
            <a:off x="4057364" y="4594996"/>
            <a:ext cx="784189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US" dirty="0"/>
              <a:t>Males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0A2CA0-D3DE-5C28-DBC6-E54E5E7CF543}"/>
              </a:ext>
            </a:extLst>
          </p:cNvPr>
          <p:cNvSpPr txBox="1"/>
          <p:nvPr/>
        </p:nvSpPr>
        <p:spPr>
          <a:xfrm rot="5400000">
            <a:off x="10828732" y="2204430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BS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ABEAED6-7DD8-8970-0698-8B2754E51D9B}"/>
              </a:ext>
            </a:extLst>
          </p:cNvPr>
          <p:cNvSpPr txBox="1"/>
          <p:nvPr/>
        </p:nvSpPr>
        <p:spPr>
          <a:xfrm rot="5400000">
            <a:off x="10948083" y="4127003"/>
            <a:ext cx="550174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AI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4C48AB6-C69C-464A-E24F-F74635947AAD}"/>
              </a:ext>
            </a:extLst>
          </p:cNvPr>
          <p:cNvSpPr txBox="1"/>
          <p:nvPr/>
        </p:nvSpPr>
        <p:spPr>
          <a:xfrm rot="5400000">
            <a:off x="5278974" y="5532791"/>
            <a:ext cx="748936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GOA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6FCB50F-BE59-5FB0-1D48-E71F7697A390}"/>
              </a:ext>
            </a:extLst>
          </p:cNvPr>
          <p:cNvSpPr txBox="1"/>
          <p:nvPr/>
        </p:nvSpPr>
        <p:spPr>
          <a:xfrm>
            <a:off x="9973060" y="6506513"/>
            <a:ext cx="22615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Survey compositions</a:t>
            </a:r>
          </a:p>
        </p:txBody>
      </p:sp>
    </p:spTree>
    <p:extLst>
      <p:ext uri="{BB962C8B-B14F-4D97-AF65-F5344CB8AC3E}">
        <p14:creationId xmlns:p14="http://schemas.microsoft.com/office/powerpoint/2010/main" val="427163291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9B6435-831C-8B7F-67FC-1CC97BD988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8A917-7CEF-C211-E719-031BEC8218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Fits to tagging data (3-region model)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01E9B-DFF3-D93B-A8A4-07FA3A1B35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2000" y="1825625"/>
            <a:ext cx="3374571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Similar results to 5-region model</a:t>
            </a:r>
          </a:p>
          <a:p>
            <a:r>
              <a:rPr lang="en-US" dirty="0"/>
              <a:t>Fits in the early period are generally adequate, but worsens in later periods</a:t>
            </a:r>
          </a:p>
          <a:p>
            <a:r>
              <a:rPr lang="en-US" dirty="0"/>
              <a:t>Potentially need more flexibility in tag reporting rates or movement rates?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9BDA4-4F31-D459-6E5C-6B85B8CC8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9857" y="1534886"/>
            <a:ext cx="7772400" cy="518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5668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F4B15D8-CFB0-7AD1-AE01-41033C5A71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083" y="532315"/>
            <a:ext cx="11396184" cy="61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05199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523</TotalTime>
  <Words>1045</Words>
  <Application>Microsoft Macintosh PowerPoint</Application>
  <PresentationFormat>Widescreen</PresentationFormat>
  <Paragraphs>162</Paragraphs>
  <Slides>26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Results of a Spatial Stock Assessment for Alaska Sablefish</vt:lpstr>
      <vt:lpstr>Overview and Notes</vt:lpstr>
      <vt:lpstr>Data Summary</vt:lpstr>
      <vt:lpstr>Catch</vt:lpstr>
      <vt:lpstr>Indices</vt:lpstr>
      <vt:lpstr>Compositions</vt:lpstr>
      <vt:lpstr>Model Structure (5-region model)</vt:lpstr>
      <vt:lpstr>Model Structure (3-region model)</vt:lpstr>
      <vt:lpstr>Subsequent results generally focus on 5-region model for brevity; 3-region model model results are relatively similar</vt:lpstr>
      <vt:lpstr>Fit to indices (5-region model)</vt:lpstr>
      <vt:lpstr>Fit to compositions (5-region model)</vt:lpstr>
      <vt:lpstr>Fit to compositions (5-region model)</vt:lpstr>
      <vt:lpstr>Fits to tagging data (5-region model)</vt:lpstr>
      <vt:lpstr>Time-series (5-region model)</vt:lpstr>
      <vt:lpstr>Time-series (3-region model)</vt:lpstr>
      <vt:lpstr>Time-series comparison</vt:lpstr>
      <vt:lpstr>Retrospective performance (5-region model)</vt:lpstr>
      <vt:lpstr>Retrospective performance (3-region model)</vt:lpstr>
      <vt:lpstr>Assessment summary</vt:lpstr>
      <vt:lpstr>Future directions and outstanding challenges</vt:lpstr>
      <vt:lpstr>Extra slides</vt:lpstr>
      <vt:lpstr>Fit to compositions (5-region model)</vt:lpstr>
      <vt:lpstr>Fit to indices (3-region model)</vt:lpstr>
      <vt:lpstr>Fits to compositions (3-region model)</vt:lpstr>
      <vt:lpstr>Fits to tagging data (3-region model)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Matt Cheng</dc:creator>
  <cp:lastModifiedBy>Matt Cheng</cp:lastModifiedBy>
  <cp:revision>86</cp:revision>
  <dcterms:created xsi:type="dcterms:W3CDTF">2026-06-08T17:49:01Z</dcterms:created>
  <dcterms:modified xsi:type="dcterms:W3CDTF">2026-06-11T22:48:35Z</dcterms:modified>
</cp:coreProperties>
</file>